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verdict: 7 of 12 sub-streams on track, 4 amber, 1 red. Gate 3 on 11 September is at risk.</a:t>
            </a:r>
          </a:p>
          <a:p/>
          <a:p>
            <a:r>
              <a:t>The exposure sits in Purchase to Pay, Organisation &amp; Role Design, Master Data &amp; Controls. Take the decisions in order - the first two are the ones that move Gate 3 if they are taken this month.</a:t>
            </a:r>
          </a:p>
          <a:p/>
          <a:p>
            <a:r>
              <a:t>Expect to be challenged on whether the gate can hold with a conditional pass. The answer is in the appendix: the high-severity items and their owners are listed there with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 package is rated by its worst sub-stream, not by an average - Process Standardisation is red on that basis even though it is 63% complete overall.</a:t>
            </a:r>
          </a:p>
          <a:p/>
          <a:p>
            <a:r>
              <a:t>Walk the red and amber cards only. The green ones are on the slide so the committee can see they were looked at, not so they can be talked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high-severity items are open across 6 owners: Anneke de Vries, Chiara Bellandi, Daniel Okonkwo, Marcus Adeyemi, Tobias Lindqvist, Yusuf Demirci.</a:t>
            </a:r>
          </a:p>
          <a:p/>
          <a:p>
            <a:r>
              <a:t>This slide shows the worst three of each type. The full log is in the appendix; do not read it out,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reconciles: 42 EUR m less the levers gives 33.5 EUR m exactly.</a:t>
            </a:r>
          </a:p>
          <a:p/>
          <a:p>
            <a:r>
              <a:t>Say the axis is truncated before anyone asks - drawn from zero the levers would be slivers.</a:t>
            </a:r>
          </a:p>
          <a:p/>
          <a:p>
            <a:r>
              <a:t>Expect the challenge on confidence. 0.9 EUR m sits on low-confidence levers; that is the number to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marker on each bar is the delivery progress of the stream producing that benefit. A bar short of its marker means the work has been done and the benefit has not followed.</a:t>
            </a:r>
          </a:p>
          <a:p/>
          <a:p>
            <a:r>
              <a:t>Behind their delivery: Touchless invoice rate, Vendor master validation pass rate, Automation benefit realised.</a:t>
            </a:r>
          </a:p>
          <a:p/>
          <a:p>
            <a:r>
              <a:t>If asked why this is not measured against the calendar: benefits back-load, so a calendar yardstick marks every measure late until the build lands, and tells you nothing you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total: the programme forecasts on budget. Then the gauges, which are the reason that is not the whole story.</a:t>
            </a:r>
          </a:p>
          <a:p/>
          <a:p>
            <a:r>
              <a:t>Contingency is 60% drawn at 57% elapsed, funding overruns on external advisory, transition, travel and training.</a:t>
            </a:r>
          </a:p>
          <a:p/>
          <a:p>
            <a:r>
              <a:t>The question to expect is what happens if the gate slips: the remaining contingency is the answer, and it is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vertical line is the reporting date, 28 August. Everything left of it has happened.</a:t>
            </a:r>
          </a:p>
          <a:p/>
          <a:p>
            <a:r>
              <a:t>Red bars are the ones to talk to. Where a row shows two stacked bars the phases genuinely overlap - that is the constraint, not a drawing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is a gate and the criteria it has to meet. Green columns are passed and closed.</a:t>
            </a:r>
          </a:p>
          <a:p/>
          <a:p>
            <a:r>
              <a:t>Spend the time on Gate 3: it is the only one at risk, and the criteria listed under it are what a conditional pass would have to waive.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Operating Model &amp; Service Design is led by Ines Vogelsang. The column to spend time on is Organisation &amp; Role Design, rated amber.</a:t>
            </a:r>
          </a:p>
          <a:p/>
          <a:p>
            <a:r>
              <a:t>Decisions this work package is asking for: Approve the retention framework for 34 critical knowledge holders before selection opens; Confirm whether the German consultation timetable may run in parallel with Dutch selection.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 Standardisation is led by Marcus Adeyemi. The column to spend time on is Purchase to Pay, rated red.</a:t>
            </a:r>
          </a:p>
          <a:p/>
          <a:p>
            <a:r>
              <a:t>Decisions this work package is asking for: Release two additional Group Tax analysts to P2P through October; Accept a Gate 3 conditional pass for P2P, or move the gate for all of WP2; Fund three additional data stewards through the cleansing window to protect the migration cut-off.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&amp; Automation is led by Rahul Menon. The column to spend time on is Workflow &amp; Intelligent Automation, rated amber.</a:t>
            </a:r>
          </a:p>
          <a:p/>
          <a:p>
            <a:r>
              <a:t>Decisions this work package is asking for: Confirm whether the four re-scoped P2P automations move to wave 2 or drop from scope.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committee meets monthly, third thursday; the programme board runs weekly programme board, tuesday.</a:t>
            </a:r>
          </a:p>
          <a:p/>
          <a:p>
            <a:r>
              <a:t>Use this slide only if the escalation path is questioned. Work package leads hold delegated authority; anything above that comes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1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2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Purchase to Pay is red and holds Gate 3; the other 11 sub-streams clear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Executive summary | Week 2026-W35</a:t>
            </a:r>
          </a:p>
        </p:txBody>
      </p:sp>
      <p:sp>
        <p:nvSpPr>
          <p:cNvPr id="4" name="verdict:box"/>
          <p:cNvSpPr/>
          <p:nvPr/>
        </p:nvSpPr>
        <p:spPr>
          <a:xfrm>
            <a:off x="365760" y="1133856"/>
            <a:ext cx="1146048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verdict:rag"/>
          <p:cNvSpPr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verdict:ragtext"/>
          <p:cNvSpPr txBox="1"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7" name="verdict:text"/>
          <p:cNvSpPr txBox="1"/>
          <p:nvPr/>
        </p:nvSpPr>
        <p:spPr>
          <a:xfrm>
            <a:off x="1664208" y="1133856"/>
            <a:ext cx="10052304" cy="9601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on track, 4 amber, 1 red. Gate 3 on 11 September is at risk.</a:t>
            </a:r>
          </a:p>
        </p:txBody>
      </p:sp>
      <p:sp>
        <p:nvSpPr>
          <p:cNvPr id="8" name="msg0:box"/>
          <p:cNvSpPr/>
          <p:nvPr/>
        </p:nvSpPr>
        <p:spPr>
          <a:xfrm>
            <a:off x="36576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msg0:head"/>
          <p:cNvSpPr/>
          <p:nvPr/>
        </p:nvSpPr>
        <p:spPr>
          <a:xfrm>
            <a:off x="365760" y="2221992"/>
            <a:ext cx="3728720" cy="237744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sg0:heading"/>
          <p:cNvSpPr txBox="1"/>
          <p:nvPr/>
        </p:nvSpPr>
        <p:spPr>
          <a:xfrm>
            <a:off x="47548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1" name="msg0:detail"/>
          <p:cNvSpPr txBox="1"/>
          <p:nvPr/>
        </p:nvSpPr>
        <p:spPr>
          <a:xfrm>
            <a:off x="47548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capacity. 52% complete.</a:t>
            </a:r>
          </a:p>
        </p:txBody>
      </p:sp>
      <p:sp>
        <p:nvSpPr>
          <p:cNvPr id="12" name="msg1:box"/>
          <p:cNvSpPr/>
          <p:nvPr/>
        </p:nvSpPr>
        <p:spPr>
          <a:xfrm>
            <a:off x="423164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msg1:head"/>
          <p:cNvSpPr/>
          <p:nvPr/>
        </p:nvSpPr>
        <p:spPr>
          <a:xfrm>
            <a:off x="423164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msg1:heading"/>
          <p:cNvSpPr txBox="1"/>
          <p:nvPr/>
        </p:nvSpPr>
        <p:spPr>
          <a:xfrm>
            <a:off x="434136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15" name="msg1:detail"/>
          <p:cNvSpPr txBox="1"/>
          <p:nvPr/>
        </p:nvSpPr>
        <p:spPr>
          <a:xfrm>
            <a:off x="434136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constraint. 44% complete.</a:t>
            </a:r>
          </a:p>
        </p:txBody>
      </p:sp>
      <p:sp>
        <p:nvSpPr>
          <p:cNvPr id="16" name="msg2:box"/>
          <p:cNvSpPr/>
          <p:nvPr/>
        </p:nvSpPr>
        <p:spPr>
          <a:xfrm>
            <a:off x="809752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msg2:head"/>
          <p:cNvSpPr/>
          <p:nvPr/>
        </p:nvSpPr>
        <p:spPr>
          <a:xfrm>
            <a:off x="809752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sg2:heading"/>
          <p:cNvSpPr txBox="1"/>
          <p:nvPr/>
        </p:nvSpPr>
        <p:spPr>
          <a:xfrm>
            <a:off x="820724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9" name="msg2:detail"/>
          <p:cNvSpPr txBox="1"/>
          <p:nvPr/>
        </p:nvSpPr>
        <p:spPr>
          <a:xfrm>
            <a:off x="820724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protected. 55% complete.</a:t>
            </a:r>
          </a:p>
        </p:txBody>
      </p:sp>
      <p:sp>
        <p:nvSpPr>
          <p:cNvPr id="20" name="decisions:box"/>
          <p:cNvSpPr/>
          <p:nvPr/>
        </p:nvSpPr>
        <p:spPr>
          <a:xfrm>
            <a:off x="365760" y="3362858"/>
            <a:ext cx="11460480" cy="1161491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isions:label"/>
          <p:cNvSpPr txBox="1"/>
          <p:nvPr/>
        </p:nvSpPr>
        <p:spPr>
          <a:xfrm>
            <a:off x="475488" y="3417722"/>
            <a:ext cx="11241024" cy="20116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DECISIONS NEEDED</a:t>
            </a:r>
          </a:p>
        </p:txBody>
      </p:sp>
      <p:sp>
        <p:nvSpPr>
          <p:cNvPr id="22" name="decisions:body"/>
          <p:cNvSpPr txBox="1"/>
          <p:nvPr/>
        </p:nvSpPr>
        <p:spPr>
          <a:xfrm>
            <a:off x="475488" y="3618890"/>
            <a:ext cx="11241024" cy="850595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Approve the retention framework for 34 critical knowledge holders before selection opens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Confirm whether the German consultation timetable may run in parallel with Dutch selection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Release two additional Group Tax analysts to P2P through October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Accept a Gate 3 conditional pass for P2P, or move the gate for all of WP2</a:t>
            </a:r>
          </a:p>
        </p:txBody>
      </p:sp>
      <p:sp>
        <p:nvSpPr>
          <p:cNvPr id="23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4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Contents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Week 2026-W35 | 21 slides</a:t>
            </a:r>
          </a:p>
        </p:txBody>
      </p:sp>
      <p:sp>
        <p:nvSpPr>
          <p:cNvPr id="4" name="surface:agenda0"/>
          <p:cNvSpPr/>
          <p:nvPr/>
        </p:nvSpPr>
        <p:spPr>
          <a:xfrm>
            <a:off x="365760" y="1133856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entry0:number"/>
          <p:cNvSpPr txBox="1"/>
          <p:nvPr/>
        </p:nvSpPr>
        <p:spPr>
          <a:xfrm>
            <a:off x="493776" y="113385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1</a:t>
            </a:r>
          </a:p>
        </p:txBody>
      </p:sp>
      <p:sp>
        <p:nvSpPr>
          <p:cNvPr id="6" name="entry0:title"/>
          <p:cNvSpPr txBox="1"/>
          <p:nvPr/>
        </p:nvSpPr>
        <p:spPr>
          <a:xfrm>
            <a:off x="1060704" y="129844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Where we stand</a:t>
            </a:r>
          </a:p>
        </p:txBody>
      </p:sp>
      <p:sp>
        <p:nvSpPr>
          <p:cNvPr id="7" name="entry0:caption"/>
          <p:cNvSpPr txBox="1"/>
          <p:nvPr/>
        </p:nvSpPr>
        <p:spPr>
          <a:xfrm>
            <a:off x="1060704" y="157276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and the open RAID position</a:t>
            </a:r>
          </a:p>
        </p:txBody>
      </p:sp>
      <p:sp>
        <p:nvSpPr>
          <p:cNvPr id="8" name="entry0:page"/>
          <p:cNvSpPr txBox="1"/>
          <p:nvPr/>
        </p:nvSpPr>
        <p:spPr>
          <a:xfrm>
            <a:off x="11058144" y="113385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9" name="entry1:number"/>
          <p:cNvSpPr txBox="1"/>
          <p:nvPr/>
        </p:nvSpPr>
        <p:spPr>
          <a:xfrm>
            <a:off x="493776" y="1920240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2</a:t>
            </a:r>
          </a:p>
        </p:txBody>
      </p:sp>
      <p:sp>
        <p:nvSpPr>
          <p:cNvPr id="10" name="entry1:title"/>
          <p:cNvSpPr txBox="1"/>
          <p:nvPr/>
        </p:nvSpPr>
        <p:spPr>
          <a:xfrm>
            <a:off x="1060704" y="2084832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The case and the cost</a:t>
            </a:r>
          </a:p>
        </p:txBody>
      </p:sp>
      <p:sp>
        <p:nvSpPr>
          <p:cNvPr id="11" name="entry1:caption"/>
          <p:cNvSpPr txBox="1"/>
          <p:nvPr/>
        </p:nvSpPr>
        <p:spPr>
          <a:xfrm>
            <a:off x="1060704" y="2359152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What the programme is worth and what it is spending</a:t>
            </a:r>
          </a:p>
        </p:txBody>
      </p:sp>
      <p:sp>
        <p:nvSpPr>
          <p:cNvPr id="12" name="entry1:page"/>
          <p:cNvSpPr txBox="1"/>
          <p:nvPr/>
        </p:nvSpPr>
        <p:spPr>
          <a:xfrm>
            <a:off x="11058144" y="1920240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6</a:t>
            </a:r>
          </a:p>
        </p:txBody>
      </p:sp>
      <p:sp>
        <p:nvSpPr>
          <p:cNvPr id="13" name="surface:agenda2"/>
          <p:cNvSpPr/>
          <p:nvPr/>
        </p:nvSpPr>
        <p:spPr>
          <a:xfrm>
            <a:off x="365760" y="2706624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entry2:number"/>
          <p:cNvSpPr txBox="1"/>
          <p:nvPr/>
        </p:nvSpPr>
        <p:spPr>
          <a:xfrm>
            <a:off x="493776" y="2706624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3</a:t>
            </a:r>
          </a:p>
        </p:txBody>
      </p:sp>
      <p:sp>
        <p:nvSpPr>
          <p:cNvPr id="15" name="entry2:title"/>
          <p:cNvSpPr txBox="1"/>
          <p:nvPr/>
        </p:nvSpPr>
        <p:spPr>
          <a:xfrm>
            <a:off x="1060704" y="2871216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Delivery plan</a:t>
            </a:r>
          </a:p>
        </p:txBody>
      </p:sp>
      <p:sp>
        <p:nvSpPr>
          <p:cNvPr id="16" name="entry2:caption"/>
          <p:cNvSpPr txBox="1"/>
          <p:nvPr/>
        </p:nvSpPr>
        <p:spPr>
          <a:xfrm>
            <a:off x="1060704" y="3145536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roadmap and the gates it has to clear</a:t>
            </a:r>
          </a:p>
        </p:txBody>
      </p:sp>
      <p:sp>
        <p:nvSpPr>
          <p:cNvPr id="17" name="entry2:page"/>
          <p:cNvSpPr txBox="1"/>
          <p:nvPr/>
        </p:nvSpPr>
        <p:spPr>
          <a:xfrm>
            <a:off x="11058144" y="2706624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10</a:t>
            </a:r>
          </a:p>
        </p:txBody>
      </p:sp>
      <p:sp>
        <p:nvSpPr>
          <p:cNvPr id="18" name="entry3:number"/>
          <p:cNvSpPr txBox="1"/>
          <p:nvPr/>
        </p:nvSpPr>
        <p:spPr>
          <a:xfrm>
            <a:off x="493776" y="3493008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4</a:t>
            </a:r>
          </a:p>
        </p:txBody>
      </p:sp>
      <p:sp>
        <p:nvSpPr>
          <p:cNvPr id="19" name="entry3:title"/>
          <p:cNvSpPr txBox="1"/>
          <p:nvPr/>
        </p:nvSpPr>
        <p:spPr>
          <a:xfrm>
            <a:off x="1060704" y="3657600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Work packages</a:t>
            </a:r>
          </a:p>
        </p:txBody>
      </p:sp>
      <p:sp>
        <p:nvSpPr>
          <p:cNvPr id="20" name="entry3:caption"/>
          <p:cNvSpPr txBox="1"/>
          <p:nvPr/>
        </p:nvSpPr>
        <p:spPr>
          <a:xfrm>
            <a:off x="1060704" y="3931920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Charter and current position for each work package</a:t>
            </a:r>
          </a:p>
        </p:txBody>
      </p:sp>
      <p:sp>
        <p:nvSpPr>
          <p:cNvPr id="21" name="entry3:page"/>
          <p:cNvSpPr txBox="1"/>
          <p:nvPr/>
        </p:nvSpPr>
        <p:spPr>
          <a:xfrm>
            <a:off x="11058144" y="3493008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13</a:t>
            </a:r>
          </a:p>
        </p:txBody>
      </p:sp>
      <p:sp>
        <p:nvSpPr>
          <p:cNvPr id="22" name="surface:agenda4"/>
          <p:cNvSpPr/>
          <p:nvPr/>
        </p:nvSpPr>
        <p:spPr>
          <a:xfrm>
            <a:off x="365760" y="4279392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entry4:number"/>
          <p:cNvSpPr txBox="1"/>
          <p:nvPr/>
        </p:nvSpPr>
        <p:spPr>
          <a:xfrm>
            <a:off x="493776" y="4279392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5</a:t>
            </a:r>
          </a:p>
        </p:txBody>
      </p:sp>
      <p:sp>
        <p:nvSpPr>
          <p:cNvPr id="24" name="entry4:title"/>
          <p:cNvSpPr txBox="1"/>
          <p:nvPr/>
        </p:nvSpPr>
        <p:spPr>
          <a:xfrm>
            <a:off x="1060704" y="4443984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Governance</a:t>
            </a:r>
          </a:p>
        </p:txBody>
      </p:sp>
      <p:sp>
        <p:nvSpPr>
          <p:cNvPr id="25" name="entry4:caption"/>
          <p:cNvSpPr txBox="1"/>
          <p:nvPr/>
        </p:nvSpPr>
        <p:spPr>
          <a:xfrm>
            <a:off x="1060704" y="4718304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Who decides, who delivers, and who has to be consulted</a:t>
            </a:r>
          </a:p>
        </p:txBody>
      </p:sp>
      <p:sp>
        <p:nvSpPr>
          <p:cNvPr id="26" name="entry4:page"/>
          <p:cNvSpPr txBox="1"/>
          <p:nvPr/>
        </p:nvSpPr>
        <p:spPr>
          <a:xfrm>
            <a:off x="11058144" y="4279392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17</a:t>
            </a:r>
          </a:p>
        </p:txBody>
      </p:sp>
      <p:sp>
        <p:nvSpPr>
          <p:cNvPr id="27" name="entry5:number"/>
          <p:cNvSpPr txBox="1"/>
          <p:nvPr/>
        </p:nvSpPr>
        <p:spPr>
          <a:xfrm>
            <a:off x="493776" y="506577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6</a:t>
            </a:r>
          </a:p>
        </p:txBody>
      </p:sp>
      <p:sp>
        <p:nvSpPr>
          <p:cNvPr id="28" name="entry5:title"/>
          <p:cNvSpPr txBox="1"/>
          <p:nvPr/>
        </p:nvSpPr>
        <p:spPr>
          <a:xfrm>
            <a:off x="1060704" y="523036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Appendix</a:t>
            </a:r>
          </a:p>
        </p:txBody>
      </p:sp>
      <p:sp>
        <p:nvSpPr>
          <p:cNvPr id="29" name="entry5:caption"/>
          <p:cNvSpPr txBox="1"/>
          <p:nvPr/>
        </p:nvSpPr>
        <p:spPr>
          <a:xfrm>
            <a:off x="1060704" y="550468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full RAID log, in support of the position above</a:t>
            </a:r>
          </a:p>
        </p:txBody>
      </p:sp>
      <p:sp>
        <p:nvSpPr>
          <p:cNvPr id="30" name="entry5:page"/>
          <p:cNvSpPr txBox="1"/>
          <p:nvPr/>
        </p:nvSpPr>
        <p:spPr>
          <a:xfrm>
            <a:off x="11058144" y="506577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19</a:t>
            </a:r>
          </a:p>
        </p:txBody>
      </p:sp>
      <p:sp>
        <p:nvSpPr>
          <p:cNvPr id="31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2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1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Where we stand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Work package status and the open RAID position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 of 4 work packages is red; the rest hold their gate dates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| Week 2026-W35 | Rated by worst sub-stream</a:t>
            </a:r>
          </a:p>
        </p:txBody>
      </p:sp>
      <p:sp>
        <p:nvSpPr>
          <p:cNvPr id="4" name="card0:box"/>
          <p:cNvSpPr/>
          <p:nvPr/>
        </p:nvSpPr>
        <p:spPr>
          <a:xfrm>
            <a:off x="36576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ard0:head"/>
          <p:cNvSpPr/>
          <p:nvPr/>
        </p:nvSpPr>
        <p:spPr>
          <a:xfrm>
            <a:off x="36576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ard0:badge"/>
          <p:cNvSpPr/>
          <p:nvPr/>
        </p:nvSpPr>
        <p:spPr>
          <a:xfrm>
            <a:off x="47548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7" name="card0:rag"/>
          <p:cNvSpPr/>
          <p:nvPr/>
        </p:nvSpPr>
        <p:spPr>
          <a:xfrm>
            <a:off x="403250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8" name="card0:name"/>
          <p:cNvSpPr txBox="1"/>
          <p:nvPr/>
        </p:nvSpPr>
        <p:spPr>
          <a:xfrm>
            <a:off x="77724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9" name="card0:track"/>
          <p:cNvSpPr/>
          <p:nvPr/>
        </p:nvSpPr>
        <p:spPr>
          <a:xfrm>
            <a:off x="47548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arker:card0fill"/>
          <p:cNvSpPr/>
          <p:nvPr/>
        </p:nvSpPr>
        <p:spPr>
          <a:xfrm>
            <a:off x="475488" y="1554480"/>
            <a:ext cx="2425903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ard0:pct"/>
          <p:cNvSpPr txBox="1"/>
          <p:nvPr/>
        </p:nvSpPr>
        <p:spPr>
          <a:xfrm>
            <a:off x="399592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70%</a:t>
            </a:r>
          </a:p>
        </p:txBody>
      </p:sp>
      <p:sp>
        <p:nvSpPr>
          <p:cNvPr id="12" name="card0:activities"/>
          <p:cNvSpPr txBox="1"/>
          <p:nvPr/>
        </p:nvSpPr>
        <p:spPr>
          <a:xfrm>
            <a:off x="47548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Works council consultation started two weeks late; selection window is now the binding constraint on Gate 4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Catalogue signed off in all five regions; focus moves to embedding SLAs in the service review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Both hubs contracted on plan; Krakow fit-out is the only remaining critical path item</a:t>
            </a:r>
          </a:p>
        </p:txBody>
      </p:sp>
      <p:sp>
        <p:nvSpPr>
          <p:cNvPr id="13" name="card0:next"/>
          <p:cNvSpPr txBox="1"/>
          <p:nvPr/>
        </p:nvSpPr>
        <p:spPr>
          <a:xfrm>
            <a:off x="47548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Krakow fit-out handover on 16 Oct</a:t>
            </a:r>
          </a:p>
        </p:txBody>
      </p:sp>
      <p:sp>
        <p:nvSpPr>
          <p:cNvPr id="14" name="card1:box"/>
          <p:cNvSpPr/>
          <p:nvPr/>
        </p:nvSpPr>
        <p:spPr>
          <a:xfrm>
            <a:off x="466344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card1:head"/>
          <p:cNvSpPr/>
          <p:nvPr/>
        </p:nvSpPr>
        <p:spPr>
          <a:xfrm>
            <a:off x="466344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card1:badge"/>
          <p:cNvSpPr/>
          <p:nvPr/>
        </p:nvSpPr>
        <p:spPr>
          <a:xfrm>
            <a:off x="477316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17" name="card1:rag"/>
          <p:cNvSpPr/>
          <p:nvPr/>
        </p:nvSpPr>
        <p:spPr>
          <a:xfrm>
            <a:off x="833018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8" name="card1:name"/>
          <p:cNvSpPr txBox="1"/>
          <p:nvPr/>
        </p:nvSpPr>
        <p:spPr>
          <a:xfrm>
            <a:off x="507492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19" name="card1:track"/>
          <p:cNvSpPr/>
          <p:nvPr/>
        </p:nvSpPr>
        <p:spPr>
          <a:xfrm>
            <a:off x="477316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marker:card1fill"/>
          <p:cNvSpPr/>
          <p:nvPr/>
        </p:nvSpPr>
        <p:spPr>
          <a:xfrm>
            <a:off x="4773168" y="1554480"/>
            <a:ext cx="2183312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card1:pct"/>
          <p:cNvSpPr txBox="1"/>
          <p:nvPr/>
        </p:nvSpPr>
        <p:spPr>
          <a:xfrm>
            <a:off x="829360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63%</a:t>
            </a:r>
          </a:p>
        </p:txBody>
      </p:sp>
      <p:sp>
        <p:nvSpPr>
          <p:cNvPr id="22" name="card1:activities"/>
          <p:cNvSpPr txBox="1"/>
          <p:nvPr/>
        </p:nvSpPr>
        <p:spPr>
          <a:xfrm>
            <a:off x="477316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Legacy data quality is worse than assumed at design; cleansing needs three more stewards to hold the WP4 cut-off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on track for Gate 3; pilot close scheduled for the October cycle</a:t>
            </a:r>
          </a:p>
        </p:txBody>
      </p:sp>
      <p:sp>
        <p:nvSpPr>
          <p:cNvPr id="23" name="card1:next"/>
          <p:cNvSpPr txBox="1"/>
          <p:nvPr/>
        </p:nvSpPr>
        <p:spPr>
          <a:xfrm>
            <a:off x="477316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Control framework complete on 11 Sep</a:t>
            </a:r>
          </a:p>
        </p:txBody>
      </p:sp>
      <p:sp>
        <p:nvSpPr>
          <p:cNvPr id="24" name="card2:box"/>
          <p:cNvSpPr/>
          <p:nvPr/>
        </p:nvSpPr>
        <p:spPr>
          <a:xfrm>
            <a:off x="36576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ard2:head"/>
          <p:cNvSpPr/>
          <p:nvPr/>
        </p:nvSpPr>
        <p:spPr>
          <a:xfrm>
            <a:off x="36576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ard2:badge"/>
          <p:cNvSpPr/>
          <p:nvPr/>
        </p:nvSpPr>
        <p:spPr>
          <a:xfrm>
            <a:off x="47548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27" name="card2:rag"/>
          <p:cNvSpPr/>
          <p:nvPr/>
        </p:nvSpPr>
        <p:spPr>
          <a:xfrm>
            <a:off x="403250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28" name="card2:name"/>
          <p:cNvSpPr txBox="1"/>
          <p:nvPr/>
        </p:nvSpPr>
        <p:spPr>
          <a:xfrm>
            <a:off x="77724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29" name="card2:track"/>
          <p:cNvSpPr/>
          <p:nvPr/>
        </p:nvSpPr>
        <p:spPr>
          <a:xfrm>
            <a:off x="47548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marker:card2fill"/>
          <p:cNvSpPr/>
          <p:nvPr/>
        </p:nvSpPr>
        <p:spPr>
          <a:xfrm>
            <a:off x="475488" y="4155948"/>
            <a:ext cx="2010034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ard2:pct"/>
          <p:cNvSpPr txBox="1"/>
          <p:nvPr/>
        </p:nvSpPr>
        <p:spPr>
          <a:xfrm>
            <a:off x="399592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58%</a:t>
            </a:r>
          </a:p>
        </p:txBody>
      </p:sp>
      <p:sp>
        <p:nvSpPr>
          <p:cNvPr id="32" name="card2:activities"/>
          <p:cNvSpPr txBox="1"/>
          <p:nvPr/>
        </p:nvSpPr>
        <p:spPr>
          <a:xfrm>
            <a:off x="47548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Template build completes into Gate 3; integration test scope agreed with all five regions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signed off against the KPI baseline; data layer build started on plan</a:t>
            </a:r>
          </a:p>
        </p:txBody>
      </p:sp>
      <p:sp>
        <p:nvSpPr>
          <p:cNvPr id="33" name="card2:next"/>
          <p:cNvSpPr txBox="1"/>
          <p:nvPr/>
        </p:nvSpPr>
        <p:spPr>
          <a:xfrm>
            <a:off x="47548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ERP template build complete on 11 Sep</a:t>
            </a:r>
          </a:p>
        </p:txBody>
      </p:sp>
      <p:sp>
        <p:nvSpPr>
          <p:cNvPr id="34" name="card3:box"/>
          <p:cNvSpPr/>
          <p:nvPr/>
        </p:nvSpPr>
        <p:spPr>
          <a:xfrm>
            <a:off x="466344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card3:head"/>
          <p:cNvSpPr/>
          <p:nvPr/>
        </p:nvSpPr>
        <p:spPr>
          <a:xfrm>
            <a:off x="466344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ard3:badge"/>
          <p:cNvSpPr/>
          <p:nvPr/>
        </p:nvSpPr>
        <p:spPr>
          <a:xfrm>
            <a:off x="477316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37" name="card3:rag"/>
          <p:cNvSpPr/>
          <p:nvPr/>
        </p:nvSpPr>
        <p:spPr>
          <a:xfrm>
            <a:off x="833018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38" name="card3:name"/>
          <p:cNvSpPr txBox="1"/>
          <p:nvPr/>
        </p:nvSpPr>
        <p:spPr>
          <a:xfrm>
            <a:off x="507492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39" name="card3:track"/>
          <p:cNvSpPr/>
          <p:nvPr/>
        </p:nvSpPr>
        <p:spPr>
          <a:xfrm>
            <a:off x="477316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marker:card3fill"/>
          <p:cNvSpPr/>
          <p:nvPr/>
        </p:nvSpPr>
        <p:spPr>
          <a:xfrm>
            <a:off x="4773168" y="4155948"/>
            <a:ext cx="1663476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card3:pct"/>
          <p:cNvSpPr txBox="1"/>
          <p:nvPr/>
        </p:nvSpPr>
        <p:spPr>
          <a:xfrm>
            <a:off x="829360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48%</a:t>
            </a:r>
          </a:p>
        </p:txBody>
      </p:sp>
      <p:sp>
        <p:nvSpPr>
          <p:cNvPr id="42" name="card3:activities"/>
          <p:cNvSpPr txBox="1"/>
          <p:nvPr/>
        </p:nvSpPr>
        <p:spPr>
          <a:xfrm>
            <a:off x="477316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Curriculum build tracking to plan; readiness index improving ahead of the wave 1 go-live</a:t>
            </a:r>
          </a:p>
        </p:txBody>
      </p:sp>
      <p:sp>
        <p:nvSpPr>
          <p:cNvPr id="43" name="card3:next"/>
          <p:cNvSpPr txBox="1"/>
          <p:nvPr/>
        </p:nvSpPr>
        <p:spPr>
          <a:xfrm>
            <a:off x="477316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Curriculum build complete on 23 Oct</a:t>
            </a:r>
          </a:p>
        </p:txBody>
      </p:sp>
      <p:sp>
        <p:nvSpPr>
          <p:cNvPr id="4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4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high-severity items are open, none yet past due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RAID log | Week 2026-W35 | 12 of 18 open items shown, most severe of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44264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2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The case and the cost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What the programme is worth and what it is spending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A 20% reduction on a 42 EUR m base, with process standardisation carrying 40% of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case | FY26 finance cost base to Steady state FY28 | Value axis truncated so the levers are legible</a:t>
            </a:r>
          </a:p>
        </p:txBody>
      </p:sp>
      <p:sp>
        <p:nvSpPr>
          <p:cNvPr id="4" name="step0:bar"/>
          <p:cNvSpPr/>
          <p:nvPr/>
        </p:nvSpPr>
        <p:spPr>
          <a:xfrm>
            <a:off x="365760" y="1636328"/>
            <a:ext cx="1129937" cy="385007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p0:value"/>
          <p:cNvSpPr txBox="1"/>
          <p:nvPr/>
        </p:nvSpPr>
        <p:spPr>
          <a:xfrm>
            <a:off x="365760" y="132543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42 EUR m</a:t>
            </a:r>
          </a:p>
        </p:txBody>
      </p:sp>
      <p:sp>
        <p:nvSpPr>
          <p:cNvPr id="6" name="step0:label"/>
          <p:cNvSpPr txBox="1"/>
          <p:nvPr/>
        </p:nvSpPr>
        <p:spPr>
          <a:xfrm>
            <a:off x="365760" y="5486400"/>
            <a:ext cx="1129937" cy="71323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FY26 finance cost base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1636328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8" name="step1:bar"/>
          <p:cNvSpPr/>
          <p:nvPr/>
        </p:nvSpPr>
        <p:spPr>
          <a:xfrm>
            <a:off x="1587137" y="1636328"/>
            <a:ext cx="1129937" cy="1127497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step1:value"/>
          <p:cNvSpPr txBox="1"/>
          <p:nvPr/>
        </p:nvSpPr>
        <p:spPr>
          <a:xfrm>
            <a:off x="1587137" y="132543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-3.4 EUR m</a:t>
            </a:r>
          </a:p>
        </p:txBody>
      </p:sp>
      <p:sp>
        <p:nvSpPr>
          <p:cNvPr id="10" name="step1:label"/>
          <p:cNvSpPr txBox="1"/>
          <p:nvPr/>
        </p:nvSpPr>
        <p:spPr>
          <a:xfrm>
            <a:off x="1587137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Process standardisation and automation</a:t>
            </a:r>
          </a:p>
        </p:txBody>
      </p:sp>
      <p:sp>
        <p:nvSpPr>
          <p:cNvPr id="11" name="step1:caption"/>
          <p:cNvSpPr txBox="1"/>
          <p:nvPr/>
        </p:nvSpPr>
        <p:spPr>
          <a:xfrm>
            <a:off x="1587137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medium confidence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87137" y="2763825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3" name="step2:bar"/>
          <p:cNvSpPr/>
          <p:nvPr/>
        </p:nvSpPr>
        <p:spPr>
          <a:xfrm>
            <a:off x="2808514" y="2763825"/>
            <a:ext cx="1129937" cy="961689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step2:value"/>
          <p:cNvSpPr txBox="1"/>
          <p:nvPr/>
        </p:nvSpPr>
        <p:spPr>
          <a:xfrm>
            <a:off x="2808514" y="2452929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-2.9 EUR m</a:t>
            </a:r>
          </a:p>
        </p:txBody>
      </p:sp>
      <p:sp>
        <p:nvSpPr>
          <p:cNvPr id="15" name="step2:label"/>
          <p:cNvSpPr txBox="1"/>
          <p:nvPr/>
        </p:nvSpPr>
        <p:spPr>
          <a:xfrm>
            <a:off x="2808514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Location footprint and labour arbitrage</a:t>
            </a:r>
          </a:p>
        </p:txBody>
      </p:sp>
      <p:sp>
        <p:nvSpPr>
          <p:cNvPr id="16" name="step2:caption"/>
          <p:cNvSpPr txBox="1"/>
          <p:nvPr/>
        </p:nvSpPr>
        <p:spPr>
          <a:xfrm>
            <a:off x="2808514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high confidence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08514" y="3725514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8" name="step3:bar"/>
          <p:cNvSpPr/>
          <p:nvPr/>
        </p:nvSpPr>
        <p:spPr>
          <a:xfrm>
            <a:off x="4029891" y="3725514"/>
            <a:ext cx="1129937" cy="464264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step3:value"/>
          <p:cNvSpPr txBox="1"/>
          <p:nvPr/>
        </p:nvSpPr>
        <p:spPr>
          <a:xfrm>
            <a:off x="4029891" y="3414618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-1.4 EUR m</a:t>
            </a:r>
          </a:p>
        </p:txBody>
      </p:sp>
      <p:sp>
        <p:nvSpPr>
          <p:cNvPr id="20" name="step3:label"/>
          <p:cNvSpPr txBox="1"/>
          <p:nvPr/>
        </p:nvSpPr>
        <p:spPr>
          <a:xfrm>
            <a:off x="4029891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Span of control and organisation design</a:t>
            </a:r>
          </a:p>
        </p:txBody>
      </p:sp>
      <p:sp>
        <p:nvSpPr>
          <p:cNvPr id="21" name="step3:caption"/>
          <p:cNvSpPr txBox="1"/>
          <p:nvPr/>
        </p:nvSpPr>
        <p:spPr>
          <a:xfrm>
            <a:off x="4029891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medium confidence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29891" y="4189778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3" name="step4:bar"/>
          <p:cNvSpPr/>
          <p:nvPr/>
        </p:nvSpPr>
        <p:spPr>
          <a:xfrm>
            <a:off x="5251268" y="4189778"/>
            <a:ext cx="1129937" cy="298455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tep4:value"/>
          <p:cNvSpPr txBox="1"/>
          <p:nvPr/>
        </p:nvSpPr>
        <p:spPr>
          <a:xfrm>
            <a:off x="5251268" y="387888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-0.9 EUR m</a:t>
            </a:r>
          </a:p>
        </p:txBody>
      </p:sp>
      <p:sp>
        <p:nvSpPr>
          <p:cNvPr id="25" name="step4:label"/>
          <p:cNvSpPr txBox="1"/>
          <p:nvPr/>
        </p:nvSpPr>
        <p:spPr>
          <a:xfrm>
            <a:off x="5251268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Technology and licence consolidation</a:t>
            </a:r>
          </a:p>
        </p:txBody>
      </p:sp>
      <p:sp>
        <p:nvSpPr>
          <p:cNvPr id="26" name="step4:caption"/>
          <p:cNvSpPr txBox="1"/>
          <p:nvPr/>
        </p:nvSpPr>
        <p:spPr>
          <a:xfrm>
            <a:off x="5251268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low confidence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1268" y="4488233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8" name="step5:bar"/>
          <p:cNvSpPr/>
          <p:nvPr/>
        </p:nvSpPr>
        <p:spPr>
          <a:xfrm>
            <a:off x="6472645" y="4455071"/>
            <a:ext cx="1129937" cy="33162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step5:value"/>
          <p:cNvSpPr txBox="1"/>
          <p:nvPr/>
        </p:nvSpPr>
        <p:spPr>
          <a:xfrm>
            <a:off x="6472645" y="4144175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+0.1 EUR m</a:t>
            </a:r>
          </a:p>
        </p:txBody>
      </p:sp>
      <p:sp>
        <p:nvSpPr>
          <p:cNvPr id="30" name="step5:label"/>
          <p:cNvSpPr txBox="1"/>
          <p:nvPr/>
        </p:nvSpPr>
        <p:spPr>
          <a:xfrm>
            <a:off x="6472645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Hub run cost and retained coordination</a:t>
            </a:r>
          </a:p>
        </p:txBody>
      </p:sp>
      <p:sp>
        <p:nvSpPr>
          <p:cNvPr id="31" name="step5:caption"/>
          <p:cNvSpPr txBox="1"/>
          <p:nvPr/>
        </p:nvSpPr>
        <p:spPr>
          <a:xfrm>
            <a:off x="6472645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high confidence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72645" y="4455071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33" name="step6:bar"/>
          <p:cNvSpPr/>
          <p:nvPr/>
        </p:nvSpPr>
        <p:spPr>
          <a:xfrm>
            <a:off x="7694022" y="4455071"/>
            <a:ext cx="1129937" cy="1031329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step6:value"/>
          <p:cNvSpPr txBox="1"/>
          <p:nvPr/>
        </p:nvSpPr>
        <p:spPr>
          <a:xfrm>
            <a:off x="7694022" y="4144175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33.5 EUR m</a:t>
            </a:r>
          </a:p>
        </p:txBody>
      </p:sp>
      <p:sp>
        <p:nvSpPr>
          <p:cNvPr id="35" name="step6:label"/>
          <p:cNvSpPr txBox="1"/>
          <p:nvPr/>
        </p:nvSpPr>
        <p:spPr>
          <a:xfrm>
            <a:off x="7694022" y="5486400"/>
            <a:ext cx="1129937" cy="71323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Steady state FY28</a:t>
            </a:r>
          </a:p>
        </p:txBody>
      </p:sp>
      <p:sp>
        <p:nvSpPr>
          <p:cNvPr id="36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8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Process standardisation and automation is the largest single lever at 3.4 EUR m, owned by Marcus Adeyemi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0.9 EUR m of the case rests on low-confidence levers: technology and licence consolidation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The bridge includes the cost of running the new model: hub run cost and retained coordination at +0.1 EUR m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</p:txBody>
      </p:sp>
      <p:sp>
        <p:nvSpPr>
          <p:cNvPr id="39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0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 of 7 measures are ahead of their delivery; vendor master validation pass rate is the furthest adrift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realisation | Week 2026-W35 | Measured against delivery progress, not elapsed time, because benefits back-load</a:t>
            </a:r>
          </a:p>
        </p:txBody>
      </p:sp>
      <p:sp>
        <p:nvSpPr>
          <p:cNvPr id="4" name="kpi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kpi:head-name"/>
          <p:cNvSpPr txBox="1"/>
          <p:nvPr/>
        </p:nvSpPr>
        <p:spPr>
          <a:xfrm>
            <a:off x="429768" y="1133856"/>
            <a:ext cx="232486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6" name="kpi:head-owner"/>
          <p:cNvSpPr txBox="1"/>
          <p:nvPr/>
        </p:nvSpPr>
        <p:spPr>
          <a:xfrm>
            <a:off x="2882646" y="1133856"/>
            <a:ext cx="1140714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7" name="kpi:head-baseline"/>
          <p:cNvSpPr txBox="1"/>
          <p:nvPr/>
        </p:nvSpPr>
        <p:spPr>
          <a:xfrm>
            <a:off x="4151376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8" name="kpi:head-current"/>
          <p:cNvSpPr txBox="1"/>
          <p:nvPr/>
        </p:nvSpPr>
        <p:spPr>
          <a:xfrm>
            <a:off x="4675784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9" name="kpi:head-target"/>
          <p:cNvSpPr txBox="1"/>
          <p:nvPr/>
        </p:nvSpPr>
        <p:spPr>
          <a:xfrm>
            <a:off x="5200192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0" name="kpi:head-progress"/>
          <p:cNvSpPr txBox="1"/>
          <p:nvPr/>
        </p:nvSpPr>
        <p:spPr>
          <a:xfrm>
            <a:off x="5724600" y="1133856"/>
            <a:ext cx="3035350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Progress from baseline to target</a:t>
            </a:r>
          </a:p>
        </p:txBody>
      </p:sp>
      <p:sp>
        <p:nvSpPr>
          <p:cNvPr id="11" name="surface:kpi0"/>
          <p:cNvSpPr/>
          <p:nvPr/>
        </p:nvSpPr>
        <p:spPr>
          <a:xfrm>
            <a:off x="365760" y="138988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kpi0:name"/>
          <p:cNvSpPr txBox="1"/>
          <p:nvPr/>
        </p:nvSpPr>
        <p:spPr>
          <a:xfrm>
            <a:off x="429768" y="13898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Touchless invoice rate</a:t>
            </a:r>
          </a:p>
        </p:txBody>
      </p:sp>
      <p:sp>
        <p:nvSpPr>
          <p:cNvPr id="13" name="kpi0:owner"/>
          <p:cNvSpPr txBox="1"/>
          <p:nvPr/>
        </p:nvSpPr>
        <p:spPr>
          <a:xfrm>
            <a:off x="2882646" y="13898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Chiara Bellandi</a:t>
            </a:r>
          </a:p>
        </p:txBody>
      </p:sp>
      <p:sp>
        <p:nvSpPr>
          <p:cNvPr id="14" name="kpi0:baseline"/>
          <p:cNvSpPr txBox="1"/>
          <p:nvPr/>
        </p:nvSpPr>
        <p:spPr>
          <a:xfrm>
            <a:off x="4151376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41</a:t>
            </a:r>
          </a:p>
        </p:txBody>
      </p:sp>
      <p:sp>
        <p:nvSpPr>
          <p:cNvPr id="15" name="kpi0:current"/>
          <p:cNvSpPr txBox="1"/>
          <p:nvPr/>
        </p:nvSpPr>
        <p:spPr>
          <a:xfrm>
            <a:off x="4675784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51</a:t>
            </a:r>
          </a:p>
        </p:txBody>
      </p:sp>
      <p:sp>
        <p:nvSpPr>
          <p:cNvPr id="16" name="kpi0:target"/>
          <p:cNvSpPr txBox="1"/>
          <p:nvPr/>
        </p:nvSpPr>
        <p:spPr>
          <a:xfrm>
            <a:off x="5200192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75</a:t>
            </a:r>
          </a:p>
        </p:txBody>
      </p:sp>
      <p:sp>
        <p:nvSpPr>
          <p:cNvPr id="17" name="kpi0:track"/>
          <p:cNvSpPr/>
          <p:nvPr/>
        </p:nvSpPr>
        <p:spPr>
          <a:xfrm>
            <a:off x="5724600" y="15864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arker:kpi0fill"/>
          <p:cNvSpPr/>
          <p:nvPr/>
        </p:nvSpPr>
        <p:spPr>
          <a:xfrm>
            <a:off x="5724600" y="1586484"/>
            <a:ext cx="89275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marker:kpi0expected"/>
          <p:cNvSpPr/>
          <p:nvPr/>
        </p:nvSpPr>
        <p:spPr>
          <a:xfrm>
            <a:off x="7291095" y="15407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kpi1:name"/>
          <p:cNvSpPr txBox="1"/>
          <p:nvPr/>
        </p:nvSpPr>
        <p:spPr>
          <a:xfrm>
            <a:off x="429768" y="19385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Days sales outstanding</a:t>
            </a:r>
          </a:p>
        </p:txBody>
      </p:sp>
      <p:sp>
        <p:nvSpPr>
          <p:cNvPr id="21" name="kpi1:owner"/>
          <p:cNvSpPr txBox="1"/>
          <p:nvPr/>
        </p:nvSpPr>
        <p:spPr>
          <a:xfrm>
            <a:off x="2882646" y="19385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Daniel Okonkwo</a:t>
            </a:r>
          </a:p>
        </p:txBody>
      </p:sp>
      <p:sp>
        <p:nvSpPr>
          <p:cNvPr id="22" name="kpi1:baseline"/>
          <p:cNvSpPr txBox="1"/>
          <p:nvPr/>
        </p:nvSpPr>
        <p:spPr>
          <a:xfrm>
            <a:off x="4151376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23" name="kpi1:current"/>
          <p:cNvSpPr txBox="1"/>
          <p:nvPr/>
        </p:nvSpPr>
        <p:spPr>
          <a:xfrm>
            <a:off x="4675784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49</a:t>
            </a:r>
          </a:p>
        </p:txBody>
      </p:sp>
      <p:sp>
        <p:nvSpPr>
          <p:cNvPr id="24" name="kpi1:target"/>
          <p:cNvSpPr txBox="1"/>
          <p:nvPr/>
        </p:nvSpPr>
        <p:spPr>
          <a:xfrm>
            <a:off x="5200192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47</a:t>
            </a:r>
          </a:p>
        </p:txBody>
      </p:sp>
      <p:sp>
        <p:nvSpPr>
          <p:cNvPr id="25" name="kpi1:track"/>
          <p:cNvSpPr/>
          <p:nvPr/>
        </p:nvSpPr>
        <p:spPr>
          <a:xfrm>
            <a:off x="5724600" y="21351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marker:kpi1fill"/>
          <p:cNvSpPr/>
          <p:nvPr/>
        </p:nvSpPr>
        <p:spPr>
          <a:xfrm>
            <a:off x="5724600" y="2135124"/>
            <a:ext cx="2168107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marker:kpi1expected"/>
          <p:cNvSpPr/>
          <p:nvPr/>
        </p:nvSpPr>
        <p:spPr>
          <a:xfrm>
            <a:off x="7776751" y="20894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surface:kpi2"/>
          <p:cNvSpPr/>
          <p:nvPr/>
        </p:nvSpPr>
        <p:spPr>
          <a:xfrm>
            <a:off x="365760" y="248716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kpi2:name"/>
          <p:cNvSpPr txBox="1"/>
          <p:nvPr/>
        </p:nvSpPr>
        <p:spPr>
          <a:xfrm>
            <a:off x="429768" y="248716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Close cycle length (days)</a:t>
            </a:r>
          </a:p>
        </p:txBody>
      </p:sp>
      <p:sp>
        <p:nvSpPr>
          <p:cNvPr id="30" name="kpi2:owner"/>
          <p:cNvSpPr txBox="1"/>
          <p:nvPr/>
        </p:nvSpPr>
        <p:spPr>
          <a:xfrm>
            <a:off x="2882646" y="248716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Marcus Adeyemi</a:t>
            </a:r>
          </a:p>
        </p:txBody>
      </p:sp>
      <p:sp>
        <p:nvSpPr>
          <p:cNvPr id="31" name="kpi2:baseline"/>
          <p:cNvSpPr txBox="1"/>
          <p:nvPr/>
        </p:nvSpPr>
        <p:spPr>
          <a:xfrm>
            <a:off x="4151376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</a:t>
            </a:r>
          </a:p>
        </p:txBody>
      </p:sp>
      <p:sp>
        <p:nvSpPr>
          <p:cNvPr id="32" name="kpi2:current"/>
          <p:cNvSpPr txBox="1"/>
          <p:nvPr/>
        </p:nvSpPr>
        <p:spPr>
          <a:xfrm>
            <a:off x="4675784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7.5</a:t>
            </a:r>
          </a:p>
        </p:txBody>
      </p:sp>
      <p:sp>
        <p:nvSpPr>
          <p:cNvPr id="33" name="kpi2:target"/>
          <p:cNvSpPr txBox="1"/>
          <p:nvPr/>
        </p:nvSpPr>
        <p:spPr>
          <a:xfrm>
            <a:off x="5200192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</a:t>
            </a:r>
          </a:p>
        </p:txBody>
      </p:sp>
      <p:sp>
        <p:nvSpPr>
          <p:cNvPr id="34" name="kpi2:track"/>
          <p:cNvSpPr/>
          <p:nvPr/>
        </p:nvSpPr>
        <p:spPr>
          <a:xfrm>
            <a:off x="5724600" y="268376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marker:kpi2fill"/>
          <p:cNvSpPr/>
          <p:nvPr/>
        </p:nvSpPr>
        <p:spPr>
          <a:xfrm>
            <a:off x="5724600" y="2683764"/>
            <a:ext cx="2276512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marker:kpi2expected"/>
          <p:cNvSpPr/>
          <p:nvPr/>
        </p:nvSpPr>
        <p:spPr>
          <a:xfrm>
            <a:off x="7958872" y="263804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kpi3:name"/>
          <p:cNvSpPr txBox="1"/>
          <p:nvPr/>
        </p:nvSpPr>
        <p:spPr>
          <a:xfrm>
            <a:off x="429768" y="303580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Vendor master validation pass rate</a:t>
            </a:r>
          </a:p>
        </p:txBody>
      </p:sp>
      <p:sp>
        <p:nvSpPr>
          <p:cNvPr id="38" name="kpi3:owner"/>
          <p:cNvSpPr txBox="1"/>
          <p:nvPr/>
        </p:nvSpPr>
        <p:spPr>
          <a:xfrm>
            <a:off x="2882646" y="303580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Anneke de Vries</a:t>
            </a:r>
          </a:p>
        </p:txBody>
      </p:sp>
      <p:sp>
        <p:nvSpPr>
          <p:cNvPr id="39" name="kpi3:baseline"/>
          <p:cNvSpPr txBox="1"/>
          <p:nvPr/>
        </p:nvSpPr>
        <p:spPr>
          <a:xfrm>
            <a:off x="4151376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77</a:t>
            </a:r>
          </a:p>
        </p:txBody>
      </p:sp>
      <p:sp>
        <p:nvSpPr>
          <p:cNvPr id="40" name="kpi3:current"/>
          <p:cNvSpPr txBox="1"/>
          <p:nvPr/>
        </p:nvSpPr>
        <p:spPr>
          <a:xfrm>
            <a:off x="4675784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83</a:t>
            </a:r>
          </a:p>
        </p:txBody>
      </p:sp>
      <p:sp>
        <p:nvSpPr>
          <p:cNvPr id="41" name="kpi3:target"/>
          <p:cNvSpPr txBox="1"/>
          <p:nvPr/>
        </p:nvSpPr>
        <p:spPr>
          <a:xfrm>
            <a:off x="5200192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98</a:t>
            </a:r>
          </a:p>
        </p:txBody>
      </p:sp>
      <p:sp>
        <p:nvSpPr>
          <p:cNvPr id="42" name="kpi3:track"/>
          <p:cNvSpPr/>
          <p:nvPr/>
        </p:nvSpPr>
        <p:spPr>
          <a:xfrm>
            <a:off x="5724600" y="323240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marker:kpi3fill"/>
          <p:cNvSpPr/>
          <p:nvPr/>
        </p:nvSpPr>
        <p:spPr>
          <a:xfrm>
            <a:off x="5724600" y="3232404"/>
            <a:ext cx="867242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marker:kpi3expected"/>
          <p:cNvSpPr/>
          <p:nvPr/>
        </p:nvSpPr>
        <p:spPr>
          <a:xfrm>
            <a:off x="7442862" y="318668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surface:kpi4"/>
          <p:cNvSpPr/>
          <p:nvPr/>
        </p:nvSpPr>
        <p:spPr>
          <a:xfrm>
            <a:off x="365760" y="358444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kpi4:name"/>
          <p:cNvSpPr txBox="1"/>
          <p:nvPr/>
        </p:nvSpPr>
        <p:spPr>
          <a:xfrm>
            <a:off x="429768" y="358444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Automation benefit realised (FTE)</a:t>
            </a:r>
          </a:p>
        </p:txBody>
      </p:sp>
      <p:sp>
        <p:nvSpPr>
          <p:cNvPr id="47" name="kpi4:owner"/>
          <p:cNvSpPr txBox="1"/>
          <p:nvPr/>
        </p:nvSpPr>
        <p:spPr>
          <a:xfrm>
            <a:off x="2882646" y="358444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Sofia Marchetti</a:t>
            </a:r>
          </a:p>
        </p:txBody>
      </p:sp>
      <p:sp>
        <p:nvSpPr>
          <p:cNvPr id="48" name="kpi4:baseline"/>
          <p:cNvSpPr txBox="1"/>
          <p:nvPr/>
        </p:nvSpPr>
        <p:spPr>
          <a:xfrm>
            <a:off x="4151376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0</a:t>
            </a:r>
          </a:p>
        </p:txBody>
      </p:sp>
      <p:sp>
        <p:nvSpPr>
          <p:cNvPr id="49" name="kpi4:current"/>
          <p:cNvSpPr txBox="1"/>
          <p:nvPr/>
        </p:nvSpPr>
        <p:spPr>
          <a:xfrm>
            <a:off x="4675784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7.2</a:t>
            </a:r>
          </a:p>
        </p:txBody>
      </p:sp>
      <p:sp>
        <p:nvSpPr>
          <p:cNvPr id="50" name="kpi4:target"/>
          <p:cNvSpPr txBox="1"/>
          <p:nvPr/>
        </p:nvSpPr>
        <p:spPr>
          <a:xfrm>
            <a:off x="5200192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18</a:t>
            </a:r>
          </a:p>
        </p:txBody>
      </p:sp>
      <p:sp>
        <p:nvSpPr>
          <p:cNvPr id="51" name="kpi4:track"/>
          <p:cNvSpPr/>
          <p:nvPr/>
        </p:nvSpPr>
        <p:spPr>
          <a:xfrm>
            <a:off x="5724600" y="378104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marker:kpi4fill"/>
          <p:cNvSpPr/>
          <p:nvPr/>
        </p:nvSpPr>
        <p:spPr>
          <a:xfrm>
            <a:off x="5724600" y="3781044"/>
            <a:ext cx="1214140" cy="155448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marker:kpi4expected"/>
          <p:cNvSpPr/>
          <p:nvPr/>
        </p:nvSpPr>
        <p:spPr>
          <a:xfrm>
            <a:off x="7382155" y="373532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kpi5:name"/>
          <p:cNvSpPr txBox="1"/>
          <p:nvPr/>
        </p:nvSpPr>
        <p:spPr>
          <a:xfrm>
            <a:off x="429768" y="41330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Change readiness index</a:t>
            </a:r>
          </a:p>
        </p:txBody>
      </p:sp>
      <p:sp>
        <p:nvSpPr>
          <p:cNvPr id="55" name="kpi5:owner"/>
          <p:cNvSpPr txBox="1"/>
          <p:nvPr/>
        </p:nvSpPr>
        <p:spPr>
          <a:xfrm>
            <a:off x="2882646" y="41330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Laura Nkemelu</a:t>
            </a:r>
          </a:p>
        </p:txBody>
      </p:sp>
      <p:sp>
        <p:nvSpPr>
          <p:cNvPr id="56" name="kpi5:baseline"/>
          <p:cNvSpPr txBox="1"/>
          <p:nvPr/>
        </p:nvSpPr>
        <p:spPr>
          <a:xfrm>
            <a:off x="4151376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57" name="kpi5:current"/>
          <p:cNvSpPr txBox="1"/>
          <p:nvPr/>
        </p:nvSpPr>
        <p:spPr>
          <a:xfrm>
            <a:off x="4675784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71</a:t>
            </a:r>
          </a:p>
        </p:txBody>
      </p:sp>
      <p:sp>
        <p:nvSpPr>
          <p:cNvPr id="58" name="kpi5:target"/>
          <p:cNvSpPr txBox="1"/>
          <p:nvPr/>
        </p:nvSpPr>
        <p:spPr>
          <a:xfrm>
            <a:off x="5200192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80</a:t>
            </a:r>
          </a:p>
        </p:txBody>
      </p:sp>
      <p:sp>
        <p:nvSpPr>
          <p:cNvPr id="59" name="kpi5:track"/>
          <p:cNvSpPr/>
          <p:nvPr/>
        </p:nvSpPr>
        <p:spPr>
          <a:xfrm>
            <a:off x="5724600" y="43296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marker:kpi5fill"/>
          <p:cNvSpPr/>
          <p:nvPr/>
        </p:nvSpPr>
        <p:spPr>
          <a:xfrm>
            <a:off x="5724600" y="4329684"/>
            <a:ext cx="1984651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marker:kpi5expected"/>
          <p:cNvSpPr/>
          <p:nvPr/>
        </p:nvSpPr>
        <p:spPr>
          <a:xfrm>
            <a:off x="7321448" y="42839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surface:kpi6"/>
          <p:cNvSpPr/>
          <p:nvPr/>
        </p:nvSpPr>
        <p:spPr>
          <a:xfrm>
            <a:off x="365760" y="468172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kpi6:name"/>
          <p:cNvSpPr txBox="1"/>
          <p:nvPr/>
        </p:nvSpPr>
        <p:spPr>
          <a:xfrm>
            <a:off x="429768" y="46817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Finance cost to serve (EUR m)</a:t>
            </a:r>
          </a:p>
        </p:txBody>
      </p:sp>
      <p:sp>
        <p:nvSpPr>
          <p:cNvPr id="64" name="kpi6:owner"/>
          <p:cNvSpPr txBox="1"/>
          <p:nvPr/>
        </p:nvSpPr>
        <p:spPr>
          <a:xfrm>
            <a:off x="2882646" y="46817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Jonas Brenner</a:t>
            </a:r>
          </a:p>
        </p:txBody>
      </p:sp>
      <p:sp>
        <p:nvSpPr>
          <p:cNvPr id="65" name="kpi6:baseline"/>
          <p:cNvSpPr txBox="1"/>
          <p:nvPr/>
        </p:nvSpPr>
        <p:spPr>
          <a:xfrm>
            <a:off x="4151376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42</a:t>
            </a:r>
          </a:p>
        </p:txBody>
      </p:sp>
      <p:sp>
        <p:nvSpPr>
          <p:cNvPr id="66" name="kpi6:current"/>
          <p:cNvSpPr txBox="1"/>
          <p:nvPr/>
        </p:nvSpPr>
        <p:spPr>
          <a:xfrm>
            <a:off x="4675784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39.9</a:t>
            </a:r>
          </a:p>
        </p:txBody>
      </p:sp>
      <p:sp>
        <p:nvSpPr>
          <p:cNvPr id="67" name="kpi6:target"/>
          <p:cNvSpPr txBox="1"/>
          <p:nvPr/>
        </p:nvSpPr>
        <p:spPr>
          <a:xfrm>
            <a:off x="5200192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33.5</a:t>
            </a:r>
          </a:p>
        </p:txBody>
      </p:sp>
      <p:sp>
        <p:nvSpPr>
          <p:cNvPr id="68" name="kpi6:track"/>
          <p:cNvSpPr/>
          <p:nvPr/>
        </p:nvSpPr>
        <p:spPr>
          <a:xfrm>
            <a:off x="5724600" y="48783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kpi6fill"/>
          <p:cNvSpPr/>
          <p:nvPr/>
        </p:nvSpPr>
        <p:spPr>
          <a:xfrm>
            <a:off x="5724600" y="4878324"/>
            <a:ext cx="74991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marker:kpi6expected"/>
          <p:cNvSpPr/>
          <p:nvPr/>
        </p:nvSpPr>
        <p:spPr>
          <a:xfrm>
            <a:off x="7169681" y="48326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kpi:legend"/>
          <p:cNvSpPr txBox="1"/>
          <p:nvPr/>
        </p:nvSpPr>
        <p:spPr>
          <a:xfrm>
            <a:off x="365760" y="5303520"/>
            <a:ext cx="8458200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Marker shows delivery progress of the producing stream</a:t>
            </a:r>
          </a:p>
        </p:txBody>
      </p:sp>
      <p:sp>
        <p:nvSpPr>
          <p:cNvPr id="72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4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</p:txBody>
      </p:sp>
      <p:sp>
        <p:nvSpPr>
          <p:cNvPr id="7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The programme forecasts on budget, but contingency is 60% drawn at 57% elapsed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cost | Week 2026-W35 | Forecast at completion against approved budget, EUR m</a:t>
            </a:r>
          </a:p>
        </p:txBody>
      </p:sp>
      <p:sp>
        <p:nvSpPr>
          <p:cNvPr id="4" name="fin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fin:head-category"/>
          <p:cNvSpPr txBox="1"/>
          <p:nvPr/>
        </p:nvSpPr>
        <p:spPr>
          <a:xfrm>
            <a:off x="429768" y="1133856"/>
            <a:ext cx="2028825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Cost category</a:t>
            </a:r>
          </a:p>
        </p:txBody>
      </p:sp>
      <p:sp>
        <p:nvSpPr>
          <p:cNvPr id="6" name="fin:head-budget"/>
          <p:cNvSpPr txBox="1"/>
          <p:nvPr/>
        </p:nvSpPr>
        <p:spPr>
          <a:xfrm>
            <a:off x="2586609" y="1133856"/>
            <a:ext cx="63322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Budget</a:t>
            </a:r>
          </a:p>
        </p:txBody>
      </p:sp>
      <p:sp>
        <p:nvSpPr>
          <p:cNvPr id="7" name="fin:head-actual"/>
          <p:cNvSpPr txBox="1"/>
          <p:nvPr/>
        </p:nvSpPr>
        <p:spPr>
          <a:xfrm>
            <a:off x="3347847" y="1133856"/>
            <a:ext cx="802386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Actual to date</a:t>
            </a:r>
          </a:p>
        </p:txBody>
      </p:sp>
      <p:sp>
        <p:nvSpPr>
          <p:cNvPr id="8" name="fin:head-forecast"/>
          <p:cNvSpPr txBox="1"/>
          <p:nvPr/>
        </p:nvSpPr>
        <p:spPr>
          <a:xfrm>
            <a:off x="4278249" y="1133856"/>
            <a:ext cx="675513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Forecast at completion</a:t>
            </a:r>
          </a:p>
        </p:txBody>
      </p:sp>
      <p:sp>
        <p:nvSpPr>
          <p:cNvPr id="9" name="fin:head-variance"/>
          <p:cNvSpPr txBox="1"/>
          <p:nvPr/>
        </p:nvSpPr>
        <p:spPr>
          <a:xfrm>
            <a:off x="5081778" y="1133856"/>
            <a:ext cx="63322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Variance</a:t>
            </a:r>
          </a:p>
        </p:txBody>
      </p:sp>
      <p:sp>
        <p:nvSpPr>
          <p:cNvPr id="10" name="fin:head-bar"/>
          <p:cNvSpPr txBox="1"/>
          <p:nvPr/>
        </p:nvSpPr>
        <p:spPr>
          <a:xfrm>
            <a:off x="5843016" y="1133856"/>
            <a:ext cx="2916936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Forecast against budget</a:t>
            </a:r>
          </a:p>
        </p:txBody>
      </p:sp>
      <p:sp>
        <p:nvSpPr>
          <p:cNvPr id="11" name="surface:fin0"/>
          <p:cNvSpPr/>
          <p:nvPr/>
        </p:nvSpPr>
        <p:spPr>
          <a:xfrm>
            <a:off x="365760" y="1389888"/>
            <a:ext cx="8458200" cy="4754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fin0:category"/>
          <p:cNvSpPr txBox="1"/>
          <p:nvPr/>
        </p:nvSpPr>
        <p:spPr>
          <a:xfrm>
            <a:off x="429768" y="1389888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External advisory</a:t>
            </a:r>
          </a:p>
        </p:txBody>
      </p:sp>
      <p:sp>
        <p:nvSpPr>
          <p:cNvPr id="13" name="fin0:budget"/>
          <p:cNvSpPr txBox="1"/>
          <p:nvPr/>
        </p:nvSpPr>
        <p:spPr>
          <a:xfrm>
            <a:off x="2586609" y="138988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6.8</a:t>
            </a:r>
          </a:p>
        </p:txBody>
      </p:sp>
      <p:sp>
        <p:nvSpPr>
          <p:cNvPr id="14" name="fin0:actual"/>
          <p:cNvSpPr txBox="1"/>
          <p:nvPr/>
        </p:nvSpPr>
        <p:spPr>
          <a:xfrm>
            <a:off x="3347847" y="1389888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4.3</a:t>
            </a:r>
          </a:p>
        </p:txBody>
      </p:sp>
      <p:sp>
        <p:nvSpPr>
          <p:cNvPr id="15" name="fin0:forecast"/>
          <p:cNvSpPr txBox="1"/>
          <p:nvPr/>
        </p:nvSpPr>
        <p:spPr>
          <a:xfrm>
            <a:off x="4278249" y="1389888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7.5</a:t>
            </a:r>
          </a:p>
        </p:txBody>
      </p:sp>
      <p:sp>
        <p:nvSpPr>
          <p:cNvPr id="16" name="fin0:variance"/>
          <p:cNvSpPr txBox="1"/>
          <p:nvPr/>
        </p:nvSpPr>
        <p:spPr>
          <a:xfrm>
            <a:off x="5081778" y="138988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+0.7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01484" y="1559052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8" name="marker:fin0var"/>
          <p:cNvSpPr/>
          <p:nvPr/>
        </p:nvSpPr>
        <p:spPr>
          <a:xfrm>
            <a:off x="7301484" y="1559052"/>
            <a:ext cx="850773" cy="13716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fin1:category"/>
          <p:cNvSpPr txBox="1"/>
          <p:nvPr/>
        </p:nvSpPr>
        <p:spPr>
          <a:xfrm>
            <a:off x="429768" y="1865376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Technology and licences</a:t>
            </a:r>
          </a:p>
        </p:txBody>
      </p:sp>
      <p:sp>
        <p:nvSpPr>
          <p:cNvPr id="20" name="fin1:budget"/>
          <p:cNvSpPr txBox="1"/>
          <p:nvPr/>
        </p:nvSpPr>
        <p:spPr>
          <a:xfrm>
            <a:off x="2586609" y="186537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5.2</a:t>
            </a:r>
          </a:p>
        </p:txBody>
      </p:sp>
      <p:sp>
        <p:nvSpPr>
          <p:cNvPr id="21" name="fin1:actual"/>
          <p:cNvSpPr txBox="1"/>
          <p:nvPr/>
        </p:nvSpPr>
        <p:spPr>
          <a:xfrm>
            <a:off x="3347847" y="1865376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2.9</a:t>
            </a:r>
          </a:p>
        </p:txBody>
      </p:sp>
      <p:sp>
        <p:nvSpPr>
          <p:cNvPr id="22" name="fin1:forecast"/>
          <p:cNvSpPr txBox="1"/>
          <p:nvPr/>
        </p:nvSpPr>
        <p:spPr>
          <a:xfrm>
            <a:off x="4278249" y="1865376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5.1</a:t>
            </a:r>
          </a:p>
        </p:txBody>
      </p:sp>
      <p:sp>
        <p:nvSpPr>
          <p:cNvPr id="23" name="fin1:variance"/>
          <p:cNvSpPr txBox="1"/>
          <p:nvPr/>
        </p:nvSpPr>
        <p:spPr>
          <a:xfrm>
            <a:off x="5081778" y="186537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-0.1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01484" y="2034540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5" name="marker:fin1var"/>
          <p:cNvSpPr/>
          <p:nvPr/>
        </p:nvSpPr>
        <p:spPr>
          <a:xfrm>
            <a:off x="7179945" y="2034540"/>
            <a:ext cx="121539" cy="137160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surface:fin2"/>
          <p:cNvSpPr/>
          <p:nvPr/>
        </p:nvSpPr>
        <p:spPr>
          <a:xfrm>
            <a:off x="365760" y="2340864"/>
            <a:ext cx="8458200" cy="4754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fin2:category"/>
          <p:cNvSpPr txBox="1"/>
          <p:nvPr/>
        </p:nvSpPr>
        <p:spPr>
          <a:xfrm>
            <a:off x="429768" y="2340864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Internal programme team</a:t>
            </a:r>
          </a:p>
        </p:txBody>
      </p:sp>
      <p:sp>
        <p:nvSpPr>
          <p:cNvPr id="28" name="fin2:budget"/>
          <p:cNvSpPr txBox="1"/>
          <p:nvPr/>
        </p:nvSpPr>
        <p:spPr>
          <a:xfrm>
            <a:off x="2586609" y="2340864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4.6</a:t>
            </a:r>
          </a:p>
        </p:txBody>
      </p:sp>
      <p:sp>
        <p:nvSpPr>
          <p:cNvPr id="29" name="fin2:actual"/>
          <p:cNvSpPr txBox="1"/>
          <p:nvPr/>
        </p:nvSpPr>
        <p:spPr>
          <a:xfrm>
            <a:off x="3347847" y="2340864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2.7</a:t>
            </a:r>
          </a:p>
        </p:txBody>
      </p:sp>
      <p:sp>
        <p:nvSpPr>
          <p:cNvPr id="30" name="fin2:forecast"/>
          <p:cNvSpPr txBox="1"/>
          <p:nvPr/>
        </p:nvSpPr>
        <p:spPr>
          <a:xfrm>
            <a:off x="4278249" y="2340864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4.6</a:t>
            </a:r>
          </a:p>
        </p:txBody>
      </p:sp>
      <p:sp>
        <p:nvSpPr>
          <p:cNvPr id="31" name="fin2:variance"/>
          <p:cNvSpPr txBox="1"/>
          <p:nvPr/>
        </p:nvSpPr>
        <p:spPr>
          <a:xfrm>
            <a:off x="5081778" y="2340864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-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01484" y="2510028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33" name="fin3:category"/>
          <p:cNvSpPr txBox="1"/>
          <p:nvPr/>
        </p:nvSpPr>
        <p:spPr>
          <a:xfrm>
            <a:off x="429768" y="2816352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Transition, travel and training</a:t>
            </a:r>
          </a:p>
        </p:txBody>
      </p:sp>
      <p:sp>
        <p:nvSpPr>
          <p:cNvPr id="34" name="fin3:budget"/>
          <p:cNvSpPr txBox="1"/>
          <p:nvPr/>
        </p:nvSpPr>
        <p:spPr>
          <a:xfrm>
            <a:off x="2586609" y="2816352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2.4</a:t>
            </a:r>
          </a:p>
        </p:txBody>
      </p:sp>
      <p:sp>
        <p:nvSpPr>
          <p:cNvPr id="35" name="fin3:actual"/>
          <p:cNvSpPr txBox="1"/>
          <p:nvPr/>
        </p:nvSpPr>
        <p:spPr>
          <a:xfrm>
            <a:off x="3347847" y="2816352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1.2</a:t>
            </a:r>
          </a:p>
        </p:txBody>
      </p:sp>
      <p:sp>
        <p:nvSpPr>
          <p:cNvPr id="36" name="fin3:forecast"/>
          <p:cNvSpPr txBox="1"/>
          <p:nvPr/>
        </p:nvSpPr>
        <p:spPr>
          <a:xfrm>
            <a:off x="4278249" y="2816352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2.9</a:t>
            </a:r>
          </a:p>
        </p:txBody>
      </p:sp>
      <p:sp>
        <p:nvSpPr>
          <p:cNvPr id="37" name="fin3:variance"/>
          <p:cNvSpPr txBox="1"/>
          <p:nvPr/>
        </p:nvSpPr>
        <p:spPr>
          <a:xfrm>
            <a:off x="5081778" y="2816352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01484" y="2985516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39" name="marker:fin3var"/>
          <p:cNvSpPr/>
          <p:nvPr/>
        </p:nvSpPr>
        <p:spPr>
          <a:xfrm>
            <a:off x="7301484" y="2985516"/>
            <a:ext cx="607695" cy="13716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surface:fin4"/>
          <p:cNvSpPr/>
          <p:nvPr/>
        </p:nvSpPr>
        <p:spPr>
          <a:xfrm>
            <a:off x="365760" y="3291840"/>
            <a:ext cx="8458200" cy="4754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fin4:category"/>
          <p:cNvSpPr txBox="1"/>
          <p:nvPr/>
        </p:nvSpPr>
        <p:spPr>
          <a:xfrm>
            <a:off x="429768" y="3291840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Site fit-out</a:t>
            </a:r>
          </a:p>
        </p:txBody>
      </p:sp>
      <p:sp>
        <p:nvSpPr>
          <p:cNvPr id="42" name="fin4:budget"/>
          <p:cNvSpPr txBox="1"/>
          <p:nvPr/>
        </p:nvSpPr>
        <p:spPr>
          <a:xfrm>
            <a:off x="2586609" y="3291840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3.1</a:t>
            </a:r>
          </a:p>
        </p:txBody>
      </p:sp>
      <p:sp>
        <p:nvSpPr>
          <p:cNvPr id="43" name="fin4:actual"/>
          <p:cNvSpPr txBox="1"/>
          <p:nvPr/>
        </p:nvSpPr>
        <p:spPr>
          <a:xfrm>
            <a:off x="3347847" y="3291840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1.6</a:t>
            </a:r>
          </a:p>
        </p:txBody>
      </p:sp>
      <p:sp>
        <p:nvSpPr>
          <p:cNvPr id="44" name="fin4:forecast"/>
          <p:cNvSpPr txBox="1"/>
          <p:nvPr/>
        </p:nvSpPr>
        <p:spPr>
          <a:xfrm>
            <a:off x="4278249" y="3291840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3.2</a:t>
            </a:r>
          </a:p>
        </p:txBody>
      </p:sp>
      <p:sp>
        <p:nvSpPr>
          <p:cNvPr id="45" name="fin4:variance"/>
          <p:cNvSpPr txBox="1"/>
          <p:nvPr/>
        </p:nvSpPr>
        <p:spPr>
          <a:xfrm>
            <a:off x="5081778" y="3291840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+0.1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01484" y="3461004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47" name="marker:fin4var"/>
          <p:cNvSpPr/>
          <p:nvPr/>
        </p:nvSpPr>
        <p:spPr>
          <a:xfrm>
            <a:off x="7301484" y="3461004"/>
            <a:ext cx="121539" cy="13716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surface:fin5"/>
          <p:cNvSpPr/>
          <p:nvPr/>
        </p:nvSpPr>
        <p:spPr>
          <a:xfrm>
            <a:off x="365760" y="3767328"/>
            <a:ext cx="8458200" cy="47548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fin5:category"/>
          <p:cNvSpPr txBox="1"/>
          <p:nvPr/>
        </p:nvSpPr>
        <p:spPr>
          <a:xfrm>
            <a:off x="429768" y="3767328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Contingency</a:t>
            </a:r>
          </a:p>
        </p:txBody>
      </p:sp>
      <p:sp>
        <p:nvSpPr>
          <p:cNvPr id="50" name="fin5:budget"/>
          <p:cNvSpPr txBox="1"/>
          <p:nvPr/>
        </p:nvSpPr>
        <p:spPr>
          <a:xfrm>
            <a:off x="2586609" y="376732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2.0</a:t>
            </a:r>
          </a:p>
        </p:txBody>
      </p:sp>
      <p:sp>
        <p:nvSpPr>
          <p:cNvPr id="51" name="fin5:actual"/>
          <p:cNvSpPr txBox="1"/>
          <p:nvPr/>
        </p:nvSpPr>
        <p:spPr>
          <a:xfrm>
            <a:off x="3347847" y="3767328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0.0</a:t>
            </a:r>
          </a:p>
        </p:txBody>
      </p:sp>
      <p:sp>
        <p:nvSpPr>
          <p:cNvPr id="52" name="fin5:forecast"/>
          <p:cNvSpPr txBox="1"/>
          <p:nvPr/>
        </p:nvSpPr>
        <p:spPr>
          <a:xfrm>
            <a:off x="4278249" y="3767328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0.8</a:t>
            </a:r>
          </a:p>
        </p:txBody>
      </p:sp>
      <p:sp>
        <p:nvSpPr>
          <p:cNvPr id="53" name="fin5:variance"/>
          <p:cNvSpPr txBox="1"/>
          <p:nvPr/>
        </p:nvSpPr>
        <p:spPr>
          <a:xfrm>
            <a:off x="5081778" y="376732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-1.2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01484" y="3936492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55" name="marker:fin5var"/>
          <p:cNvSpPr/>
          <p:nvPr/>
        </p:nvSpPr>
        <p:spPr>
          <a:xfrm>
            <a:off x="5843016" y="3936492"/>
            <a:ext cx="1458468" cy="137160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surface:fin6"/>
          <p:cNvSpPr/>
          <p:nvPr/>
        </p:nvSpPr>
        <p:spPr>
          <a:xfrm>
            <a:off x="365760" y="4242816"/>
            <a:ext cx="8458200" cy="47548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fin6:category"/>
          <p:cNvSpPr txBox="1"/>
          <p:nvPr/>
        </p:nvSpPr>
        <p:spPr>
          <a:xfrm>
            <a:off x="429768" y="4242816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Total programme cost</a:t>
            </a:r>
          </a:p>
        </p:txBody>
      </p:sp>
      <p:sp>
        <p:nvSpPr>
          <p:cNvPr id="58" name="fin6:budget"/>
          <p:cNvSpPr txBox="1"/>
          <p:nvPr/>
        </p:nvSpPr>
        <p:spPr>
          <a:xfrm>
            <a:off x="2586609" y="424281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24.1</a:t>
            </a:r>
          </a:p>
        </p:txBody>
      </p:sp>
      <p:sp>
        <p:nvSpPr>
          <p:cNvPr id="59" name="fin6:actual"/>
          <p:cNvSpPr txBox="1"/>
          <p:nvPr/>
        </p:nvSpPr>
        <p:spPr>
          <a:xfrm>
            <a:off x="3347847" y="4242816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12.7</a:t>
            </a:r>
          </a:p>
        </p:txBody>
      </p:sp>
      <p:sp>
        <p:nvSpPr>
          <p:cNvPr id="60" name="fin6:forecast"/>
          <p:cNvSpPr txBox="1"/>
          <p:nvPr/>
        </p:nvSpPr>
        <p:spPr>
          <a:xfrm>
            <a:off x="4278249" y="4242816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24.1</a:t>
            </a:r>
          </a:p>
        </p:txBody>
      </p:sp>
      <p:sp>
        <p:nvSpPr>
          <p:cNvPr id="61" name="fin6:variance"/>
          <p:cNvSpPr txBox="1"/>
          <p:nvPr/>
        </p:nvSpPr>
        <p:spPr>
          <a:xfrm>
            <a:off x="5081778" y="424281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-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301484" y="4411980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63" name="gauge0:label"/>
          <p:cNvSpPr txBox="1"/>
          <p:nvPr/>
        </p:nvSpPr>
        <p:spPr>
          <a:xfrm>
            <a:off x="365760" y="4828032"/>
            <a:ext cx="160020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Contingency drawn</a:t>
            </a:r>
          </a:p>
        </p:txBody>
      </p:sp>
      <p:sp>
        <p:nvSpPr>
          <p:cNvPr id="64" name="gauge0:track"/>
          <p:cNvSpPr/>
          <p:nvPr/>
        </p:nvSpPr>
        <p:spPr>
          <a:xfrm>
            <a:off x="1965960" y="4828032"/>
            <a:ext cx="6382512" cy="146304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marker:gauge0fill"/>
          <p:cNvSpPr/>
          <p:nvPr/>
        </p:nvSpPr>
        <p:spPr>
          <a:xfrm>
            <a:off x="1965960" y="4828032"/>
            <a:ext cx="3829507" cy="14630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gauge0:value"/>
          <p:cNvSpPr txBox="1"/>
          <p:nvPr/>
        </p:nvSpPr>
        <p:spPr>
          <a:xfrm>
            <a:off x="8412480" y="4828032"/>
            <a:ext cx="41148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60%</a:t>
            </a:r>
          </a:p>
        </p:txBody>
      </p:sp>
      <p:sp>
        <p:nvSpPr>
          <p:cNvPr id="67" name="gauge1:label"/>
          <p:cNvSpPr txBox="1"/>
          <p:nvPr/>
        </p:nvSpPr>
        <p:spPr>
          <a:xfrm>
            <a:off x="365760" y="5084064"/>
            <a:ext cx="160020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Programme elapsed</a:t>
            </a:r>
          </a:p>
        </p:txBody>
      </p:sp>
      <p:sp>
        <p:nvSpPr>
          <p:cNvPr id="68" name="gauge1:track"/>
          <p:cNvSpPr/>
          <p:nvPr/>
        </p:nvSpPr>
        <p:spPr>
          <a:xfrm>
            <a:off x="1965960" y="5084064"/>
            <a:ext cx="6382512" cy="146304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gauge1fill"/>
          <p:cNvSpPr/>
          <p:nvPr/>
        </p:nvSpPr>
        <p:spPr>
          <a:xfrm>
            <a:off x="1965960" y="5084064"/>
            <a:ext cx="3659778" cy="146304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gauge1:value"/>
          <p:cNvSpPr txBox="1"/>
          <p:nvPr/>
        </p:nvSpPr>
        <p:spPr>
          <a:xfrm>
            <a:off x="8412480" y="5084064"/>
            <a:ext cx="41148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57%</a:t>
            </a:r>
          </a:p>
        </p:txBody>
      </p:sp>
      <p:sp>
        <p:nvSpPr>
          <p:cNvPr id="7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External advisory carries the largest overrun at +0.7 EUR m, owned by Felix Aumann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Transition, travel and training is the second at +0.5 EUR m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0.8 EUR m of contingency remains against 2.0 EUR m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</p:txBody>
      </p:sp>
      <p:sp>
        <p:nvSpPr>
          <p:cNvPr id="7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3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Delivery plan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roadmap and the gates it has to clear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complete into Gate 3; 5 do not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roadmap | February 2026 to January 2027 | Position as at week 2026-W35</a:t>
            </a:r>
          </a:p>
        </p:txBody>
      </p:sp>
      <p:sp>
        <p:nvSpPr>
          <p:cNvPr id="4" name="header:band"/>
          <p:cNvSpPr/>
          <p:nvPr/>
        </p:nvSpPr>
        <p:spPr>
          <a:xfrm>
            <a:off x="365760" y="1133856"/>
            <a:ext cx="8458200" cy="27432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header:Work package"/>
          <p:cNvSpPr txBox="1"/>
          <p:nvPr/>
        </p:nvSpPr>
        <p:spPr>
          <a:xfrm>
            <a:off x="365760" y="1133856"/>
            <a:ext cx="10241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Work package</a:t>
            </a:r>
          </a:p>
        </p:txBody>
      </p:sp>
      <p:sp>
        <p:nvSpPr>
          <p:cNvPr id="6" name="header:Sub-stream"/>
          <p:cNvSpPr txBox="1"/>
          <p:nvPr/>
        </p:nvSpPr>
        <p:spPr>
          <a:xfrm>
            <a:off x="1389888" y="1133856"/>
            <a:ext cx="14813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Sub-stream</a:t>
            </a:r>
          </a:p>
        </p:txBody>
      </p:sp>
      <p:sp>
        <p:nvSpPr>
          <p:cNvPr id="7" name="header:m0"/>
          <p:cNvSpPr txBox="1"/>
          <p:nvPr/>
        </p:nvSpPr>
        <p:spPr>
          <a:xfrm>
            <a:off x="287121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Feb 26</a:t>
            </a:r>
          </a:p>
        </p:txBody>
      </p:sp>
      <p:sp>
        <p:nvSpPr>
          <p:cNvPr id="8" name="header:m1"/>
          <p:cNvSpPr txBox="1"/>
          <p:nvPr/>
        </p:nvSpPr>
        <p:spPr>
          <a:xfrm>
            <a:off x="336727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Mar</a:t>
            </a:r>
          </a:p>
        </p:txBody>
      </p:sp>
      <p:sp>
        <p:nvSpPr>
          <p:cNvPr id="9" name="header:m2"/>
          <p:cNvSpPr txBox="1"/>
          <p:nvPr/>
        </p:nvSpPr>
        <p:spPr>
          <a:xfrm>
            <a:off x="386334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Apr</a:t>
            </a:r>
          </a:p>
        </p:txBody>
      </p:sp>
      <p:sp>
        <p:nvSpPr>
          <p:cNvPr id="10" name="header:m3"/>
          <p:cNvSpPr txBox="1"/>
          <p:nvPr/>
        </p:nvSpPr>
        <p:spPr>
          <a:xfrm>
            <a:off x="435940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May</a:t>
            </a:r>
          </a:p>
        </p:txBody>
      </p:sp>
      <p:sp>
        <p:nvSpPr>
          <p:cNvPr id="11" name="header:m4"/>
          <p:cNvSpPr txBox="1"/>
          <p:nvPr/>
        </p:nvSpPr>
        <p:spPr>
          <a:xfrm>
            <a:off x="485546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Jun</a:t>
            </a:r>
          </a:p>
        </p:txBody>
      </p:sp>
      <p:sp>
        <p:nvSpPr>
          <p:cNvPr id="12" name="header:m5"/>
          <p:cNvSpPr txBox="1"/>
          <p:nvPr/>
        </p:nvSpPr>
        <p:spPr>
          <a:xfrm>
            <a:off x="535152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13" name="header:m6"/>
          <p:cNvSpPr txBox="1"/>
          <p:nvPr/>
        </p:nvSpPr>
        <p:spPr>
          <a:xfrm>
            <a:off x="584758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Aug</a:t>
            </a:r>
          </a:p>
        </p:txBody>
      </p:sp>
      <p:sp>
        <p:nvSpPr>
          <p:cNvPr id="14" name="header:m7"/>
          <p:cNvSpPr txBox="1"/>
          <p:nvPr/>
        </p:nvSpPr>
        <p:spPr>
          <a:xfrm>
            <a:off x="634365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5" name="header:m8"/>
          <p:cNvSpPr txBox="1"/>
          <p:nvPr/>
        </p:nvSpPr>
        <p:spPr>
          <a:xfrm>
            <a:off x="683971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6" name="header:m9"/>
          <p:cNvSpPr txBox="1"/>
          <p:nvPr/>
        </p:nvSpPr>
        <p:spPr>
          <a:xfrm>
            <a:off x="733577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7" name="header:m10"/>
          <p:cNvSpPr txBox="1"/>
          <p:nvPr/>
        </p:nvSpPr>
        <p:spPr>
          <a:xfrm>
            <a:off x="783183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header:m11"/>
          <p:cNvSpPr txBox="1"/>
          <p:nvPr/>
        </p:nvSpPr>
        <p:spPr>
          <a:xfrm>
            <a:off x="832789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Jan 27</a:t>
            </a:r>
          </a:p>
        </p:txBody>
      </p:sp>
      <p:sp>
        <p:nvSpPr>
          <p:cNvPr id="19" name="surface:row1tint"/>
          <p:cNvSpPr/>
          <p:nvPr/>
        </p:nvSpPr>
        <p:spPr>
          <a:xfrm>
            <a:off x="1389888" y="177850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surface:row3tint"/>
          <p:cNvSpPr/>
          <p:nvPr/>
        </p:nvSpPr>
        <p:spPr>
          <a:xfrm>
            <a:off x="1389888" y="2519172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surface:row5tint"/>
          <p:cNvSpPr/>
          <p:nvPr/>
        </p:nvSpPr>
        <p:spPr>
          <a:xfrm>
            <a:off x="1389888" y="3259836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surface:row7tint"/>
          <p:cNvSpPr/>
          <p:nvPr/>
        </p:nvSpPr>
        <p:spPr>
          <a:xfrm>
            <a:off x="1389888" y="4000500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surface:row9tint"/>
          <p:cNvSpPr/>
          <p:nvPr/>
        </p:nvSpPr>
        <p:spPr>
          <a:xfrm>
            <a:off x="1389888" y="4741164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urface:row11tint"/>
          <p:cNvSpPr/>
          <p:nvPr/>
        </p:nvSpPr>
        <p:spPr>
          <a:xfrm>
            <a:off x="1389888" y="548182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wp0:block"/>
          <p:cNvSpPr/>
          <p:nvPr/>
        </p:nvSpPr>
        <p:spPr>
          <a:xfrm>
            <a:off x="365760" y="1408176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wp0:label"/>
          <p:cNvSpPr txBox="1"/>
          <p:nvPr/>
        </p:nvSpPr>
        <p:spPr>
          <a:xfrm>
            <a:off x="420624" y="1408176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7" name="wp3:block"/>
          <p:cNvSpPr/>
          <p:nvPr/>
        </p:nvSpPr>
        <p:spPr>
          <a:xfrm>
            <a:off x="365760" y="2519172"/>
            <a:ext cx="1024128" cy="148132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wp3:label"/>
          <p:cNvSpPr txBox="1"/>
          <p:nvPr/>
        </p:nvSpPr>
        <p:spPr>
          <a:xfrm>
            <a:off x="420624" y="2519172"/>
            <a:ext cx="914400" cy="148132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Process Standardisation</a:t>
            </a:r>
          </a:p>
        </p:txBody>
      </p:sp>
      <p:sp>
        <p:nvSpPr>
          <p:cNvPr id="29" name="wp7:block"/>
          <p:cNvSpPr/>
          <p:nvPr/>
        </p:nvSpPr>
        <p:spPr>
          <a:xfrm>
            <a:off x="365760" y="4000500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wp7:label"/>
          <p:cNvSpPr txBox="1"/>
          <p:nvPr/>
        </p:nvSpPr>
        <p:spPr>
          <a:xfrm>
            <a:off x="420624" y="4000500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1" name="wp10:block"/>
          <p:cNvSpPr/>
          <p:nvPr/>
        </p:nvSpPr>
        <p:spPr>
          <a:xfrm>
            <a:off x="365760" y="5111496"/>
            <a:ext cx="1024128" cy="740664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wp10:label"/>
          <p:cNvSpPr txBox="1"/>
          <p:nvPr/>
        </p:nvSpPr>
        <p:spPr>
          <a:xfrm>
            <a:off x="420624" y="5111496"/>
            <a:ext cx="914400" cy="74066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Transition &amp; Change</a:t>
            </a:r>
          </a:p>
        </p:txBody>
      </p:sp>
      <p:sp>
        <p:nvSpPr>
          <p:cNvPr id="33" name="row0:sublabel"/>
          <p:cNvSpPr txBox="1"/>
          <p:nvPr/>
        </p:nvSpPr>
        <p:spPr>
          <a:xfrm>
            <a:off x="1444752" y="140817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34" name="row1:sublabel"/>
          <p:cNvSpPr txBox="1"/>
          <p:nvPr/>
        </p:nvSpPr>
        <p:spPr>
          <a:xfrm>
            <a:off x="1444752" y="177850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35" name="row2:sublabel"/>
          <p:cNvSpPr txBox="1"/>
          <p:nvPr/>
        </p:nvSpPr>
        <p:spPr>
          <a:xfrm>
            <a:off x="1444752" y="214884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36" name="row3:sublabel"/>
          <p:cNvSpPr txBox="1"/>
          <p:nvPr/>
        </p:nvSpPr>
        <p:spPr>
          <a:xfrm>
            <a:off x="1444752" y="251917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Record to Report</a:t>
            </a:r>
          </a:p>
        </p:txBody>
      </p:sp>
      <p:sp>
        <p:nvSpPr>
          <p:cNvPr id="37" name="row4:sublabel"/>
          <p:cNvSpPr txBox="1"/>
          <p:nvPr/>
        </p:nvSpPr>
        <p:spPr>
          <a:xfrm>
            <a:off x="1444752" y="288950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Purchase to Pay</a:t>
            </a:r>
          </a:p>
        </p:txBody>
      </p:sp>
      <p:sp>
        <p:nvSpPr>
          <p:cNvPr id="38" name="row5:sublabel"/>
          <p:cNvSpPr txBox="1"/>
          <p:nvPr/>
        </p:nvSpPr>
        <p:spPr>
          <a:xfrm>
            <a:off x="1444752" y="325983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Order to Cash</a:t>
            </a:r>
          </a:p>
        </p:txBody>
      </p:sp>
      <p:sp>
        <p:nvSpPr>
          <p:cNvPr id="39" name="row6:sublabel"/>
          <p:cNvSpPr txBox="1"/>
          <p:nvPr/>
        </p:nvSpPr>
        <p:spPr>
          <a:xfrm>
            <a:off x="1444752" y="363016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40" name="row7:sublabel"/>
          <p:cNvSpPr txBox="1"/>
          <p:nvPr/>
        </p:nvSpPr>
        <p:spPr>
          <a:xfrm>
            <a:off x="1444752" y="400050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ERP Template Alignment</a:t>
            </a:r>
          </a:p>
        </p:txBody>
      </p:sp>
      <p:sp>
        <p:nvSpPr>
          <p:cNvPr id="41" name="row8:sublabel"/>
          <p:cNvSpPr txBox="1"/>
          <p:nvPr/>
        </p:nvSpPr>
        <p:spPr>
          <a:xfrm>
            <a:off x="1444752" y="437083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42" name="row9:sublabel"/>
          <p:cNvSpPr txBox="1"/>
          <p:nvPr/>
        </p:nvSpPr>
        <p:spPr>
          <a:xfrm>
            <a:off x="1444752" y="474116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43" name="row10:sublabel"/>
          <p:cNvSpPr txBox="1"/>
          <p:nvPr/>
        </p:nvSpPr>
        <p:spPr>
          <a:xfrm>
            <a:off x="1444752" y="511149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44" name="row11:sublabel"/>
          <p:cNvSpPr txBox="1"/>
          <p:nvPr/>
        </p:nvSpPr>
        <p:spPr>
          <a:xfrm>
            <a:off x="1444752" y="548182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Change, Comms &amp; Training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36727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6334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35940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85546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535152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84758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34365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683971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733577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3183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832789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882396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sp>
        <p:nvSpPr>
          <p:cNvPr id="57" name="row0:bar0"/>
          <p:cNvSpPr/>
          <p:nvPr/>
        </p:nvSpPr>
        <p:spPr>
          <a:xfrm>
            <a:off x="3012948" y="1508166"/>
            <a:ext cx="124724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Service definition</a:t>
            </a:r>
          </a:p>
        </p:txBody>
      </p:sp>
      <p:sp>
        <p:nvSpPr>
          <p:cNvPr id="58" name="row0:bar1"/>
          <p:cNvSpPr/>
          <p:nvPr/>
        </p:nvSpPr>
        <p:spPr>
          <a:xfrm>
            <a:off x="4293260" y="1508166"/>
            <a:ext cx="1554328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SLA negotiation</a:t>
            </a:r>
          </a:p>
        </p:txBody>
      </p:sp>
      <p:sp>
        <p:nvSpPr>
          <p:cNvPr id="59" name="row0:bar2"/>
          <p:cNvSpPr/>
          <p:nvPr/>
        </p:nvSpPr>
        <p:spPr>
          <a:xfrm>
            <a:off x="5879592" y="1508166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Catalogue publication</a:t>
            </a:r>
          </a:p>
        </p:txBody>
      </p:sp>
      <p:sp>
        <p:nvSpPr>
          <p:cNvPr id="60" name="row0:bar3"/>
          <p:cNvSpPr/>
          <p:nvPr/>
        </p:nvSpPr>
        <p:spPr>
          <a:xfrm>
            <a:off x="7127748" y="1508166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184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Embed in service reviews</a:t>
            </a:r>
          </a:p>
        </p:txBody>
      </p:sp>
      <p:sp>
        <p:nvSpPr>
          <p:cNvPr id="61" name="row1:bar0"/>
          <p:cNvSpPr/>
          <p:nvPr/>
        </p:nvSpPr>
        <p:spPr>
          <a:xfrm>
            <a:off x="3012948" y="1878498"/>
            <a:ext cx="1474470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Role architecture</a:t>
            </a:r>
          </a:p>
        </p:txBody>
      </p:sp>
      <p:sp>
        <p:nvSpPr>
          <p:cNvPr id="62" name="row1:bar1"/>
          <p:cNvSpPr/>
          <p:nvPr/>
        </p:nvSpPr>
        <p:spPr>
          <a:xfrm>
            <a:off x="4519422" y="187849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Structure &amp; spans</a:t>
            </a:r>
          </a:p>
        </p:txBody>
      </p:sp>
      <p:sp>
        <p:nvSpPr>
          <p:cNvPr id="63" name="row1:bar2"/>
          <p:cNvSpPr/>
          <p:nvPr/>
        </p:nvSpPr>
        <p:spPr>
          <a:xfrm>
            <a:off x="6103620" y="1878498"/>
            <a:ext cx="1562862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Consultation &amp; selection</a:t>
            </a:r>
          </a:p>
        </p:txBody>
      </p:sp>
      <p:sp>
        <p:nvSpPr>
          <p:cNvPr id="64" name="row1:bar3"/>
          <p:cNvSpPr/>
          <p:nvPr/>
        </p:nvSpPr>
        <p:spPr>
          <a:xfrm>
            <a:off x="7699553" y="1878498"/>
            <a:ext cx="1092403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w2:bar0"/>
          <p:cNvSpPr/>
          <p:nvPr/>
        </p:nvSpPr>
        <p:spPr>
          <a:xfrm>
            <a:off x="3136964" y="2248830"/>
            <a:ext cx="157448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Location assessment</a:t>
            </a:r>
          </a:p>
        </p:txBody>
      </p:sp>
      <p:sp>
        <p:nvSpPr>
          <p:cNvPr id="66" name="row2:bar1"/>
          <p:cNvSpPr/>
          <p:nvPr/>
        </p:nvSpPr>
        <p:spPr>
          <a:xfrm>
            <a:off x="4743450" y="2248830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Site selection &amp; business case</a:t>
            </a:r>
          </a:p>
        </p:txBody>
      </p:sp>
      <p:sp>
        <p:nvSpPr>
          <p:cNvPr id="67" name="row2:bar2"/>
          <p:cNvSpPr/>
          <p:nvPr/>
        </p:nvSpPr>
        <p:spPr>
          <a:xfrm>
            <a:off x="5991606" y="2248830"/>
            <a:ext cx="2128266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Site build-out</a:t>
            </a:r>
          </a:p>
        </p:txBody>
      </p:sp>
      <p:sp>
        <p:nvSpPr>
          <p:cNvPr id="68" name="row3:bar0"/>
          <p:cNvSpPr/>
          <p:nvPr/>
        </p:nvSpPr>
        <p:spPr>
          <a:xfrm>
            <a:off x="3136964" y="2619162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69" name="row3:bar1"/>
          <p:cNvSpPr/>
          <p:nvPr/>
        </p:nvSpPr>
        <p:spPr>
          <a:xfrm>
            <a:off x="4855464" y="2619162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Control framework build</a:t>
            </a:r>
          </a:p>
        </p:txBody>
      </p:sp>
      <p:sp>
        <p:nvSpPr>
          <p:cNvPr id="70" name="row3:bar2"/>
          <p:cNvSpPr/>
          <p:nvPr/>
        </p:nvSpPr>
        <p:spPr>
          <a:xfrm>
            <a:off x="6558610" y="2619162"/>
            <a:ext cx="122362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pilot close</a:t>
            </a:r>
          </a:p>
        </p:txBody>
      </p:sp>
      <p:sp>
        <p:nvSpPr>
          <p:cNvPr id="71" name="row3:bar3"/>
          <p:cNvSpPr/>
          <p:nvPr/>
        </p:nvSpPr>
        <p:spPr>
          <a:xfrm>
            <a:off x="7815301" y="2619162"/>
            <a:ext cx="97665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2" name="row4:bar0"/>
          <p:cNvSpPr/>
          <p:nvPr/>
        </p:nvSpPr>
        <p:spPr>
          <a:xfrm>
            <a:off x="3136964" y="2989494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3" name="row4:bar1"/>
          <p:cNvSpPr/>
          <p:nvPr/>
        </p:nvSpPr>
        <p:spPr>
          <a:xfrm>
            <a:off x="4855464" y="2989494"/>
            <a:ext cx="1901571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4" name="row4:bar2"/>
          <p:cNvSpPr/>
          <p:nvPr/>
        </p:nvSpPr>
        <p:spPr>
          <a:xfrm>
            <a:off x="6790106" y="2989494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5" name="row4:bar3"/>
          <p:cNvSpPr/>
          <p:nvPr/>
        </p:nvSpPr>
        <p:spPr>
          <a:xfrm>
            <a:off x="8039862" y="2989494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6" name="row5:bar0"/>
          <p:cNvSpPr/>
          <p:nvPr/>
        </p:nvSpPr>
        <p:spPr>
          <a:xfrm>
            <a:off x="3383280" y="3359826"/>
            <a:ext cx="167060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7" name="row5:bar1"/>
          <p:cNvSpPr/>
          <p:nvPr/>
        </p:nvSpPr>
        <p:spPr>
          <a:xfrm>
            <a:off x="5086960" y="3359826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8" name="row5:bar2"/>
          <p:cNvSpPr/>
          <p:nvPr/>
        </p:nvSpPr>
        <p:spPr>
          <a:xfrm>
            <a:off x="6790106" y="3359826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9" name="row5:bar3"/>
          <p:cNvSpPr/>
          <p:nvPr/>
        </p:nvSpPr>
        <p:spPr>
          <a:xfrm>
            <a:off x="8039862" y="3359826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80" name="row6:bar0"/>
          <p:cNvSpPr/>
          <p:nvPr/>
        </p:nvSpPr>
        <p:spPr>
          <a:xfrm>
            <a:off x="3383280" y="3730158"/>
            <a:ext cx="190210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Data model design</a:t>
            </a:r>
          </a:p>
        </p:txBody>
      </p:sp>
      <p:sp>
        <p:nvSpPr>
          <p:cNvPr id="81" name="row6:bar1"/>
          <p:cNvSpPr/>
          <p:nvPr/>
        </p:nvSpPr>
        <p:spPr>
          <a:xfrm>
            <a:off x="5318455" y="3730158"/>
            <a:ext cx="1665275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Cleansing &amp; governance build</a:t>
            </a:r>
          </a:p>
        </p:txBody>
      </p:sp>
      <p:sp>
        <p:nvSpPr>
          <p:cNvPr id="82" name="row6:bar2"/>
          <p:cNvSpPr/>
          <p:nvPr/>
        </p:nvSpPr>
        <p:spPr>
          <a:xfrm>
            <a:off x="7015734" y="3730158"/>
            <a:ext cx="144018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Migration validation</a:t>
            </a:r>
          </a:p>
        </p:txBody>
      </p:sp>
      <p:sp>
        <p:nvSpPr>
          <p:cNvPr id="83" name="row7:bar0"/>
          <p:cNvSpPr/>
          <p:nvPr/>
        </p:nvSpPr>
        <p:spPr>
          <a:xfrm>
            <a:off x="3012948" y="4100490"/>
            <a:ext cx="158648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Template gap analysis</a:t>
            </a:r>
          </a:p>
        </p:txBody>
      </p:sp>
      <p:sp>
        <p:nvSpPr>
          <p:cNvPr id="84" name="row7:bar1"/>
          <p:cNvSpPr/>
          <p:nvPr/>
        </p:nvSpPr>
        <p:spPr>
          <a:xfrm>
            <a:off x="4631436" y="4100490"/>
            <a:ext cx="18941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Template build</a:t>
            </a:r>
          </a:p>
        </p:txBody>
      </p:sp>
      <p:sp>
        <p:nvSpPr>
          <p:cNvPr id="85" name="row7:bar2"/>
          <p:cNvSpPr/>
          <p:nvPr/>
        </p:nvSpPr>
        <p:spPr>
          <a:xfrm>
            <a:off x="6558610" y="4100490"/>
            <a:ext cx="133723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Integration test</a:t>
            </a:r>
          </a:p>
        </p:txBody>
      </p:sp>
      <p:sp>
        <p:nvSpPr>
          <p:cNvPr id="86" name="row7:bar3"/>
          <p:cNvSpPr/>
          <p:nvPr/>
        </p:nvSpPr>
        <p:spPr>
          <a:xfrm>
            <a:off x="7927848" y="4100490"/>
            <a:ext cx="8641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row8:bar0"/>
          <p:cNvSpPr/>
          <p:nvPr/>
        </p:nvSpPr>
        <p:spPr>
          <a:xfrm>
            <a:off x="3607308" y="4470822"/>
            <a:ext cx="156232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Opportunity assessment</a:t>
            </a:r>
          </a:p>
        </p:txBody>
      </p:sp>
      <p:sp>
        <p:nvSpPr>
          <p:cNvPr id="88" name="row8:bar1"/>
          <p:cNvSpPr/>
          <p:nvPr/>
        </p:nvSpPr>
        <p:spPr>
          <a:xfrm>
            <a:off x="5202707" y="4470822"/>
            <a:ext cx="1669009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Automation build wave 1</a:t>
            </a:r>
          </a:p>
        </p:txBody>
      </p:sp>
      <p:sp>
        <p:nvSpPr>
          <p:cNvPr id="89" name="row8:bar2"/>
          <p:cNvSpPr/>
          <p:nvPr/>
        </p:nvSpPr>
        <p:spPr>
          <a:xfrm>
            <a:off x="6903720" y="4470822"/>
            <a:ext cx="16642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Automation build wave 2</a:t>
            </a:r>
          </a:p>
        </p:txBody>
      </p:sp>
      <p:sp>
        <p:nvSpPr>
          <p:cNvPr id="90" name="row9:bar0"/>
          <p:cNvSpPr/>
          <p:nvPr/>
        </p:nvSpPr>
        <p:spPr>
          <a:xfrm>
            <a:off x="3946017" y="4841154"/>
            <a:ext cx="1677543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Reporting design</a:t>
            </a:r>
          </a:p>
        </p:txBody>
      </p:sp>
      <p:sp>
        <p:nvSpPr>
          <p:cNvPr id="91" name="row9:bar1"/>
          <p:cNvSpPr/>
          <p:nvPr/>
        </p:nvSpPr>
        <p:spPr>
          <a:xfrm>
            <a:off x="5655564" y="4841154"/>
            <a:ext cx="177942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Data layer build</a:t>
            </a:r>
          </a:p>
        </p:txBody>
      </p:sp>
      <p:sp>
        <p:nvSpPr>
          <p:cNvPr id="92" name="row9:bar2"/>
          <p:cNvSpPr/>
          <p:nvPr/>
        </p:nvSpPr>
        <p:spPr>
          <a:xfrm>
            <a:off x="7468057" y="4841154"/>
            <a:ext cx="121188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Dashboard build &amp; UAT</a:t>
            </a:r>
          </a:p>
        </p:txBody>
      </p:sp>
      <p:sp>
        <p:nvSpPr>
          <p:cNvPr id="93" name="row10:bar0"/>
          <p:cNvSpPr/>
          <p:nvPr/>
        </p:nvSpPr>
        <p:spPr>
          <a:xfrm>
            <a:off x="3946017" y="5155936"/>
            <a:ext cx="1789557" cy="130667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Wave planning</a:t>
            </a:r>
          </a:p>
        </p:txBody>
      </p:sp>
      <p:sp>
        <p:nvSpPr>
          <p:cNvPr id="94" name="row10:bar1"/>
          <p:cNvSpPr/>
          <p:nvPr/>
        </p:nvSpPr>
        <p:spPr>
          <a:xfrm>
            <a:off x="5767578" y="5155936"/>
            <a:ext cx="1552194" cy="130667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400050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Wave 1 knowledge transfer</a:t>
            </a:r>
          </a:p>
        </p:txBody>
      </p:sp>
      <p:sp>
        <p:nvSpPr>
          <p:cNvPr id="95" name="row10:bar2"/>
          <p:cNvSpPr/>
          <p:nvPr/>
        </p:nvSpPr>
        <p:spPr>
          <a:xfrm>
            <a:off x="6903720" y="5306720"/>
            <a:ext cx="1216152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row10:bar3"/>
          <p:cNvSpPr/>
          <p:nvPr/>
        </p:nvSpPr>
        <p:spPr>
          <a:xfrm>
            <a:off x="7815301" y="5155936"/>
            <a:ext cx="976655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row11:bar0"/>
          <p:cNvSpPr/>
          <p:nvPr/>
        </p:nvSpPr>
        <p:spPr>
          <a:xfrm>
            <a:off x="3607308" y="5581818"/>
            <a:ext cx="167807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Change impact assessment</a:t>
            </a:r>
          </a:p>
        </p:txBody>
      </p:sp>
      <p:sp>
        <p:nvSpPr>
          <p:cNvPr id="98" name="row11:bar1"/>
          <p:cNvSpPr/>
          <p:nvPr/>
        </p:nvSpPr>
        <p:spPr>
          <a:xfrm>
            <a:off x="5318455" y="5581818"/>
            <a:ext cx="18893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Curriculum build</a:t>
            </a:r>
          </a:p>
        </p:txBody>
      </p:sp>
      <p:sp>
        <p:nvSpPr>
          <p:cNvPr id="99" name="row11:bar2"/>
          <p:cNvSpPr/>
          <p:nvPr/>
        </p:nvSpPr>
        <p:spPr>
          <a:xfrm>
            <a:off x="7239762" y="558181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637946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Delivery &amp; readiness</a:t>
            </a:r>
          </a:p>
        </p:txBody>
      </p:sp>
      <p:sp>
        <p:nvSpPr>
          <p:cNvPr id="100" name="marker:row0ms0"/>
          <p:cNvSpPr/>
          <p:nvPr/>
        </p:nvSpPr>
        <p:spPr>
          <a:xfrm>
            <a:off x="4186504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marker:row0ms1"/>
          <p:cNvSpPr/>
          <p:nvPr/>
        </p:nvSpPr>
        <p:spPr>
          <a:xfrm>
            <a:off x="5774436" y="153619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2" name="marker:row0ms2"/>
          <p:cNvSpPr/>
          <p:nvPr/>
        </p:nvSpPr>
        <p:spPr>
          <a:xfrm>
            <a:off x="7477048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marker:row1ms0"/>
          <p:cNvSpPr/>
          <p:nvPr/>
        </p:nvSpPr>
        <p:spPr>
          <a:xfrm>
            <a:off x="4414266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4" name="marker:row1ms1"/>
          <p:cNvSpPr/>
          <p:nvPr/>
        </p:nvSpPr>
        <p:spPr>
          <a:xfrm>
            <a:off x="7246620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marker:row1ms2"/>
          <p:cNvSpPr/>
          <p:nvPr/>
        </p:nvSpPr>
        <p:spPr>
          <a:xfrm>
            <a:off x="7934706" y="190652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6" name="marker:row2ms0"/>
          <p:cNvSpPr/>
          <p:nvPr/>
        </p:nvSpPr>
        <p:spPr>
          <a:xfrm>
            <a:off x="4638294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marker:row2ms1"/>
          <p:cNvSpPr/>
          <p:nvPr/>
        </p:nvSpPr>
        <p:spPr>
          <a:xfrm>
            <a:off x="588645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8" name="marker:row2ms2"/>
          <p:cNvSpPr/>
          <p:nvPr/>
        </p:nvSpPr>
        <p:spPr>
          <a:xfrm>
            <a:off x="7022592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marker:row2ms3"/>
          <p:cNvSpPr/>
          <p:nvPr/>
        </p:nvSpPr>
        <p:spPr>
          <a:xfrm>
            <a:off x="804672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0" name="marker:row3ms0"/>
          <p:cNvSpPr/>
          <p:nvPr/>
        </p:nvSpPr>
        <p:spPr>
          <a:xfrm>
            <a:off x="4750308" y="2647188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marker:row3ms1"/>
          <p:cNvSpPr/>
          <p:nvPr/>
        </p:nvSpPr>
        <p:spPr>
          <a:xfrm>
            <a:off x="645185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2" name="marker:row3ms2"/>
          <p:cNvSpPr/>
          <p:nvPr/>
        </p:nvSpPr>
        <p:spPr>
          <a:xfrm>
            <a:off x="770854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marker:row4ms0"/>
          <p:cNvSpPr/>
          <p:nvPr/>
        </p:nvSpPr>
        <p:spPr>
          <a:xfrm>
            <a:off x="6683349" y="301752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4" name="marker:row4ms1"/>
          <p:cNvSpPr/>
          <p:nvPr/>
        </p:nvSpPr>
        <p:spPr>
          <a:xfrm>
            <a:off x="7934706" y="301752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marker:row5ms0"/>
          <p:cNvSpPr/>
          <p:nvPr/>
        </p:nvSpPr>
        <p:spPr>
          <a:xfrm>
            <a:off x="4980203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6" name="marker:row5ms1"/>
          <p:cNvSpPr/>
          <p:nvPr/>
        </p:nvSpPr>
        <p:spPr>
          <a:xfrm>
            <a:off x="6683349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marker:row6ms0"/>
          <p:cNvSpPr/>
          <p:nvPr/>
        </p:nvSpPr>
        <p:spPr>
          <a:xfrm>
            <a:off x="5211699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8" name="marker:row6ms1"/>
          <p:cNvSpPr/>
          <p:nvPr/>
        </p:nvSpPr>
        <p:spPr>
          <a:xfrm>
            <a:off x="6910578" y="375818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marker:row6ms2"/>
          <p:cNvSpPr/>
          <p:nvPr/>
        </p:nvSpPr>
        <p:spPr>
          <a:xfrm>
            <a:off x="8382762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0" name="marker:row7ms0"/>
          <p:cNvSpPr/>
          <p:nvPr/>
        </p:nvSpPr>
        <p:spPr>
          <a:xfrm>
            <a:off x="4526280" y="412851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marker:row7ms1"/>
          <p:cNvSpPr/>
          <p:nvPr/>
        </p:nvSpPr>
        <p:spPr>
          <a:xfrm>
            <a:off x="6451854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2" name="marker:row7ms2"/>
          <p:cNvSpPr/>
          <p:nvPr/>
        </p:nvSpPr>
        <p:spPr>
          <a:xfrm>
            <a:off x="782269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3" name="marker:row7ms3"/>
          <p:cNvSpPr/>
          <p:nvPr/>
        </p:nvSpPr>
        <p:spPr>
          <a:xfrm>
            <a:off x="838276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4" name="marker:row8ms0"/>
          <p:cNvSpPr/>
          <p:nvPr/>
        </p:nvSpPr>
        <p:spPr>
          <a:xfrm>
            <a:off x="5095951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5" name="marker:row8ms1"/>
          <p:cNvSpPr/>
          <p:nvPr/>
        </p:nvSpPr>
        <p:spPr>
          <a:xfrm>
            <a:off x="6798564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6" name="marker:row8ms2"/>
          <p:cNvSpPr/>
          <p:nvPr/>
        </p:nvSpPr>
        <p:spPr>
          <a:xfrm>
            <a:off x="8494776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7" name="marker:row9ms0"/>
          <p:cNvSpPr/>
          <p:nvPr/>
        </p:nvSpPr>
        <p:spPr>
          <a:xfrm>
            <a:off x="5550408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8" name="marker:row9ms1"/>
          <p:cNvSpPr/>
          <p:nvPr/>
        </p:nvSpPr>
        <p:spPr>
          <a:xfrm>
            <a:off x="7361301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9" name="marker:row9ms2"/>
          <p:cNvSpPr/>
          <p:nvPr/>
        </p:nvSpPr>
        <p:spPr>
          <a:xfrm>
            <a:off x="8606790" y="486918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0" name="marker:row10ms0"/>
          <p:cNvSpPr/>
          <p:nvPr/>
        </p:nvSpPr>
        <p:spPr>
          <a:xfrm>
            <a:off x="5662422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1" name="marker:row10ms1"/>
          <p:cNvSpPr/>
          <p:nvPr/>
        </p:nvSpPr>
        <p:spPr>
          <a:xfrm>
            <a:off x="5998464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2" name="marker:row10ms2"/>
          <p:cNvSpPr/>
          <p:nvPr/>
        </p:nvSpPr>
        <p:spPr>
          <a:xfrm>
            <a:off x="724662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3" name="marker:row10ms3"/>
          <p:cNvSpPr/>
          <p:nvPr/>
        </p:nvSpPr>
        <p:spPr>
          <a:xfrm>
            <a:off x="8046720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4" name="marker:row10ms4"/>
          <p:cNvSpPr/>
          <p:nvPr/>
        </p:nvSpPr>
        <p:spPr>
          <a:xfrm>
            <a:off x="870966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5" name="marker:row11ms0"/>
          <p:cNvSpPr/>
          <p:nvPr/>
        </p:nvSpPr>
        <p:spPr>
          <a:xfrm>
            <a:off x="5211699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6" name="marker:row11ms1"/>
          <p:cNvSpPr/>
          <p:nvPr/>
        </p:nvSpPr>
        <p:spPr>
          <a:xfrm>
            <a:off x="7134606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7" name="marker:row11ms2"/>
          <p:cNvSpPr/>
          <p:nvPr/>
        </p:nvSpPr>
        <p:spPr>
          <a:xfrm>
            <a:off x="7708544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6279642" y="1408176"/>
            <a:ext cx="0" cy="4443984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39" name="legend0:swatch"/>
          <p:cNvSpPr/>
          <p:nvPr/>
        </p:nvSpPr>
        <p:spPr>
          <a:xfrm>
            <a:off x="36576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0" name="legend0:label"/>
          <p:cNvSpPr txBox="1"/>
          <p:nvPr/>
        </p:nvSpPr>
        <p:spPr>
          <a:xfrm>
            <a:off x="603504" y="5980176"/>
            <a:ext cx="455574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Complete</a:t>
            </a:r>
          </a:p>
        </p:txBody>
      </p:sp>
      <p:sp>
        <p:nvSpPr>
          <p:cNvPr id="141" name="legend1:swatch"/>
          <p:cNvSpPr/>
          <p:nvPr/>
        </p:nvSpPr>
        <p:spPr>
          <a:xfrm>
            <a:off x="1296822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2" name="legend1:label"/>
          <p:cNvSpPr txBox="1"/>
          <p:nvPr/>
        </p:nvSpPr>
        <p:spPr>
          <a:xfrm>
            <a:off x="1534566" y="5980176"/>
            <a:ext cx="51247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In progress</a:t>
            </a:r>
          </a:p>
        </p:txBody>
      </p:sp>
      <p:sp>
        <p:nvSpPr>
          <p:cNvPr id="143" name="legend2:swatch"/>
          <p:cNvSpPr/>
          <p:nvPr/>
        </p:nvSpPr>
        <p:spPr>
          <a:xfrm>
            <a:off x="228478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4" name="legend2:label"/>
          <p:cNvSpPr txBox="1"/>
          <p:nvPr/>
        </p:nvSpPr>
        <p:spPr>
          <a:xfrm>
            <a:off x="2522524" y="5980176"/>
            <a:ext cx="38994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Planned</a:t>
            </a:r>
          </a:p>
        </p:txBody>
      </p:sp>
      <p:sp>
        <p:nvSpPr>
          <p:cNvPr id="145" name="legend3:swatch"/>
          <p:cNvSpPr/>
          <p:nvPr/>
        </p:nvSpPr>
        <p:spPr>
          <a:xfrm>
            <a:off x="3150208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6" name="legend3:label"/>
          <p:cNvSpPr txBox="1"/>
          <p:nvPr/>
        </p:nvSpPr>
        <p:spPr>
          <a:xfrm>
            <a:off x="3387952" y="5980176"/>
            <a:ext cx="315366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At risk</a:t>
            </a:r>
          </a:p>
        </p:txBody>
      </p:sp>
      <p:sp>
        <p:nvSpPr>
          <p:cNvPr id="147" name="legend4:swatch"/>
          <p:cNvSpPr/>
          <p:nvPr/>
        </p:nvSpPr>
        <p:spPr>
          <a:xfrm>
            <a:off x="3977638" y="6035040"/>
            <a:ext cx="109728" cy="109728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8" name="legend4:label"/>
          <p:cNvSpPr txBox="1"/>
          <p:nvPr/>
        </p:nvSpPr>
        <p:spPr>
          <a:xfrm>
            <a:off x="4178806" y="5980176"/>
            <a:ext cx="470103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Milestone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78093" y="6024067"/>
            <a:ext cx="0" cy="175565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50" name="legend5:label"/>
          <p:cNvSpPr txBox="1"/>
          <p:nvPr/>
        </p:nvSpPr>
        <p:spPr>
          <a:xfrm>
            <a:off x="5124397" y="5980176"/>
            <a:ext cx="671068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Reporting date</a:t>
            </a:r>
          </a:p>
        </p:txBody>
      </p:sp>
      <p:sp>
        <p:nvSpPr>
          <p:cNvPr id="15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15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15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15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Gate 3 on 11 September is at risk; the 2 gates behind it are passed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Stage gate criteria | Position as at week 2026-W35 (28 Aug 2026)</a:t>
            </a:r>
          </a:p>
        </p:txBody>
      </p:sp>
      <p:sp>
        <p:nvSpPr>
          <p:cNvPr id="4" name="col0:box"/>
          <p:cNvSpPr/>
          <p:nvPr/>
        </p:nvSpPr>
        <p:spPr>
          <a:xfrm>
            <a:off x="365760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head"/>
          <p:cNvSpPr/>
          <p:nvPr/>
        </p:nvSpPr>
        <p:spPr>
          <a:xfrm>
            <a:off x="365760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ol0:question"/>
          <p:cNvSpPr txBox="1"/>
          <p:nvPr/>
        </p:nvSpPr>
        <p:spPr>
          <a:xfrm>
            <a:off x="457200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1: Mobilisation complete</a:t>
            </a:r>
          </a:p>
        </p:txBody>
      </p:sp>
      <p:sp>
        <p:nvSpPr>
          <p:cNvPr id="7" name="col0:caption"/>
          <p:cNvSpPr txBox="1"/>
          <p:nvPr/>
        </p:nvSpPr>
        <p:spPr>
          <a:xfrm>
            <a:off x="457200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13 Mar 2026 - passed</a:t>
            </a:r>
          </a:p>
        </p:txBody>
      </p:sp>
      <p:sp>
        <p:nvSpPr>
          <p:cNvPr id="8" name="col0:label"/>
          <p:cNvSpPr txBox="1"/>
          <p:nvPr/>
        </p:nvSpPr>
        <p:spPr>
          <a:xfrm>
            <a:off x="457200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9" name="col0:body"/>
          <p:cNvSpPr txBox="1"/>
          <p:nvPr/>
        </p:nvSpPr>
        <p:spPr>
          <a:xfrm>
            <a:off x="457200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Programme team mobilised and funded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 scope and benefit case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Governance and cadence in place</a:t>
            </a:r>
          </a:p>
        </p:txBody>
      </p:sp>
      <p:sp>
        <p:nvSpPr>
          <p:cNvPr id="10" name="col1:box"/>
          <p:cNvSpPr/>
          <p:nvPr/>
        </p:nvSpPr>
        <p:spPr>
          <a:xfrm>
            <a:off x="2685288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1:head"/>
          <p:cNvSpPr/>
          <p:nvPr/>
        </p:nvSpPr>
        <p:spPr>
          <a:xfrm>
            <a:off x="2685288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col1:question"/>
          <p:cNvSpPr txBox="1"/>
          <p:nvPr/>
        </p:nvSpPr>
        <p:spPr>
          <a:xfrm>
            <a:off x="2776728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2: Design sign-off</a:t>
            </a:r>
          </a:p>
        </p:txBody>
      </p:sp>
      <p:sp>
        <p:nvSpPr>
          <p:cNvPr id="13" name="col1:caption"/>
          <p:cNvSpPr txBox="1"/>
          <p:nvPr/>
        </p:nvSpPr>
        <p:spPr>
          <a:xfrm>
            <a:off x="2776728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29 May 2026 - passed</a:t>
            </a:r>
          </a:p>
        </p:txBody>
      </p:sp>
      <p:sp>
        <p:nvSpPr>
          <p:cNvPr id="14" name="col1:label"/>
          <p:cNvSpPr txBox="1"/>
          <p:nvPr/>
        </p:nvSpPr>
        <p:spPr>
          <a:xfrm>
            <a:off x="2776728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15" name="col1:body"/>
          <p:cNvSpPr txBox="1"/>
          <p:nvPr/>
        </p:nvSpPr>
        <p:spPr>
          <a:xfrm>
            <a:off x="2776728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End-to-end process designs approved by all Global Process Owners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operating model and role architecture agreed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decision log closed or dispositioned</a:t>
            </a:r>
          </a:p>
        </p:txBody>
      </p:sp>
      <p:sp>
        <p:nvSpPr>
          <p:cNvPr id="16" name="col2:box"/>
          <p:cNvSpPr/>
          <p:nvPr/>
        </p:nvSpPr>
        <p:spPr>
          <a:xfrm>
            <a:off x="5004816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col2:head"/>
          <p:cNvSpPr/>
          <p:nvPr/>
        </p:nvSpPr>
        <p:spPr>
          <a:xfrm>
            <a:off x="5004816" y="1133856"/>
            <a:ext cx="2182368" cy="56692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col2:question"/>
          <p:cNvSpPr txBox="1"/>
          <p:nvPr/>
        </p:nvSpPr>
        <p:spPr>
          <a:xfrm>
            <a:off x="5096256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3: Build complete</a:t>
            </a:r>
          </a:p>
        </p:txBody>
      </p:sp>
      <p:sp>
        <p:nvSpPr>
          <p:cNvPr id="19" name="col2:caption"/>
          <p:cNvSpPr txBox="1"/>
          <p:nvPr/>
        </p:nvSpPr>
        <p:spPr>
          <a:xfrm>
            <a:off x="5096256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11 Sep 2026 - at-risk</a:t>
            </a:r>
          </a:p>
        </p:txBody>
      </p:sp>
      <p:sp>
        <p:nvSpPr>
          <p:cNvPr id="20" name="col2:label"/>
          <p:cNvSpPr txBox="1"/>
          <p:nvPr/>
        </p:nvSpPr>
        <p:spPr>
          <a:xfrm>
            <a:off x="5096256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1" name="col2:body"/>
          <p:cNvSpPr txBox="1"/>
          <p:nvPr/>
        </p:nvSpPr>
        <p:spPr>
          <a:xfrm>
            <a:off x="5096256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ERP template build complete and unit tested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built and walked through with External Audit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P2P country tax variants configured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automations in pre-production</a:t>
            </a:r>
          </a:p>
        </p:txBody>
      </p:sp>
      <p:sp>
        <p:nvSpPr>
          <p:cNvPr id="22" name="col3:box"/>
          <p:cNvSpPr/>
          <p:nvPr/>
        </p:nvSpPr>
        <p:spPr>
          <a:xfrm>
            <a:off x="7324344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3:head"/>
          <p:cNvSpPr/>
          <p:nvPr/>
        </p:nvSpPr>
        <p:spPr>
          <a:xfrm>
            <a:off x="7324344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col3:question"/>
          <p:cNvSpPr txBox="1"/>
          <p:nvPr/>
        </p:nvSpPr>
        <p:spPr>
          <a:xfrm>
            <a:off x="7415784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4: Go-live readiness</a:t>
            </a:r>
          </a:p>
        </p:txBody>
      </p:sp>
      <p:sp>
        <p:nvSpPr>
          <p:cNvPr id="25" name="col3:caption"/>
          <p:cNvSpPr txBox="1"/>
          <p:nvPr/>
        </p:nvSpPr>
        <p:spPr>
          <a:xfrm>
            <a:off x="7415784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20 Nov 2026 - upcoming</a:t>
            </a:r>
          </a:p>
        </p:txBody>
      </p:sp>
      <p:sp>
        <p:nvSpPr>
          <p:cNvPr id="26" name="col3:label"/>
          <p:cNvSpPr txBox="1"/>
          <p:nvPr/>
        </p:nvSpPr>
        <p:spPr>
          <a:xfrm>
            <a:off x="7415784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7" name="col3:body"/>
          <p:cNvSpPr txBox="1"/>
          <p:nvPr/>
        </p:nvSpPr>
        <p:spPr>
          <a:xfrm>
            <a:off x="7415784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Integration and user acceptance testing signed off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knowledge transfer complete and stability review passed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Selection complete and hub roles appointed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Cutover and fallback plans rehearsed</a:t>
            </a:r>
          </a:p>
        </p:txBody>
      </p:sp>
      <p:sp>
        <p:nvSpPr>
          <p:cNvPr id="28" name="col4:box"/>
          <p:cNvSpPr/>
          <p:nvPr/>
        </p:nvSpPr>
        <p:spPr>
          <a:xfrm>
            <a:off x="9643872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4:head"/>
          <p:cNvSpPr/>
          <p:nvPr/>
        </p:nvSpPr>
        <p:spPr>
          <a:xfrm>
            <a:off x="9643872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4:question"/>
          <p:cNvSpPr txBox="1"/>
          <p:nvPr/>
        </p:nvSpPr>
        <p:spPr>
          <a:xfrm>
            <a:off x="9735312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5: Hypercare exit</a:t>
            </a:r>
          </a:p>
        </p:txBody>
      </p:sp>
      <p:sp>
        <p:nvSpPr>
          <p:cNvPr id="31" name="col4:caption"/>
          <p:cNvSpPr txBox="1"/>
          <p:nvPr/>
        </p:nvSpPr>
        <p:spPr>
          <a:xfrm>
            <a:off x="9735312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22 Jan 2027 - upcoming</a:t>
            </a:r>
          </a:p>
        </p:txBody>
      </p:sp>
      <p:sp>
        <p:nvSpPr>
          <p:cNvPr id="32" name="col4:label"/>
          <p:cNvSpPr txBox="1"/>
          <p:nvPr/>
        </p:nvSpPr>
        <p:spPr>
          <a:xfrm>
            <a:off x="9735312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33" name="col4:body"/>
          <p:cNvSpPr txBox="1"/>
          <p:nvPr/>
        </p:nvSpPr>
        <p:spPr>
          <a:xfrm>
            <a:off x="9735312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All three waves live and stable for four consecutive weeks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SLAs met for two consecutive service review cycles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Benefit run-rate tracking within 10% of the case</a:t>
            </a:r>
          </a:p>
        </p:txBody>
      </p:sp>
      <p:sp>
        <p:nvSpPr>
          <p:cNvPr id="3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4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Work packages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Charter and current position for each work package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Organisation &amp; Role Design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1 - Operating Model &amp; Service Design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catalogue v1.2 covering all 46 services with owner, SLA and unit cost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last four SLA exceptions with the Nordics and Brazil controllers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KPI baseline set (14 measures) with Group Finance Policy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Ran the service-review dry run with the WP2 process owners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 costed catalogue of 46 services with agreed SLAs and a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Service review cycle 1 run to the new SLAs on 13 Nov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role profiles for all 640 target roles and banded them with HR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Opened works council consultation in Germany and the Netherlands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Modelled three span-of-control scenarios for the hub leadership layer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Mapped 512 of 640 incumbents to target roles; 128 remain unresolved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structure, role profiles and span-of-control model for 640 GBS roles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61%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Consultation concluded in all regions on 30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the Krakow lease; fit-out contractor mobilised on site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Kuala Lumpur headcount ramp plan with Workplace &amp; Real Estate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Refreshed the footprint business case with actual salary benchmarks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Confirmed nearshore Bogota as the Americas coverage option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 the two-hub-plus-nearshore footprint and secure the site build-out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72%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Krakow fit-out handover on 16 Oct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Works council consultation extends the selection window (H, Tobias Lindqvist, due 20 Nov)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128 incumbents not yet mapped to target roles (M, Tobias Lindqvist, due 25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Krakow fit-out completion gates wave 1 onboarding (M, Priya Raghunathan, due 16 Oct)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Retention of critical knowledge holders through selection (M, Tobias Lindqvist, due 30 Oct)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4 sub-streams are on track; Purchase to Pay holds the critical path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2 - Process Standardisation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Record to Report</a:t>
            </a:r>
          </a:p>
        </p:txBody>
      </p:sp>
      <p:sp>
        <p:nvSpPr>
          <p:cNvPr id="7" name="col1:header"/>
          <p:cNvSpPr/>
          <p:nvPr/>
        </p:nvSpPr>
        <p:spPr>
          <a:xfrm>
            <a:off x="289179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298323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28498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0" name="col2:header"/>
          <p:cNvSpPr/>
          <p:nvPr/>
        </p:nvSpPr>
        <p:spPr>
          <a:xfrm>
            <a:off x="491490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500634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530809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Order to Cash</a:t>
            </a:r>
          </a:p>
        </p:txBody>
      </p:sp>
      <p:sp>
        <p:nvSpPr>
          <p:cNvPr id="13" name="col3:header"/>
          <p:cNvSpPr/>
          <p:nvPr/>
        </p:nvSpPr>
        <p:spPr>
          <a:xfrm>
            <a:off x="693801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col3:badge"/>
          <p:cNvSpPr/>
          <p:nvPr/>
        </p:nvSpPr>
        <p:spPr>
          <a:xfrm>
            <a:off x="702945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2.4</a:t>
            </a:r>
          </a:p>
        </p:txBody>
      </p:sp>
      <p:sp>
        <p:nvSpPr>
          <p:cNvPr id="15" name="col3:name"/>
          <p:cNvSpPr txBox="1"/>
          <p:nvPr/>
        </p:nvSpPr>
        <p:spPr>
          <a:xfrm>
            <a:off x="733120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16" name="activities:strip"/>
          <p:cNvSpPr/>
          <p:nvPr/>
        </p:nvSpPr>
        <p:spPr>
          <a:xfrm>
            <a:off x="365760" y="1673352"/>
            <a:ext cx="365760" cy="271683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activities:caption"/>
          <p:cNvSpPr txBox="1"/>
          <p:nvPr/>
        </p:nvSpPr>
        <p:spPr>
          <a:xfrm>
            <a:off x="365760" y="1984248"/>
            <a:ext cx="365760" cy="235107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21" name="outcomes:strip"/>
          <p:cNvSpPr/>
          <p:nvPr/>
        </p:nvSpPr>
        <p:spPr>
          <a:xfrm>
            <a:off x="365760" y="4527350"/>
            <a:ext cx="365760" cy="167228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utcomes:ring-outer"/>
          <p:cNvSpPr/>
          <p:nvPr/>
        </p:nvSpPr>
        <p:spPr>
          <a:xfrm>
            <a:off x="475488" y="461879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utcomes:ring-inner"/>
          <p:cNvSpPr/>
          <p:nvPr/>
        </p:nvSpPr>
        <p:spPr>
          <a:xfrm>
            <a:off x="524256" y="466755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utcomes:caption"/>
          <p:cNvSpPr txBox="1"/>
          <p:nvPr/>
        </p:nvSpPr>
        <p:spPr>
          <a:xfrm>
            <a:off x="365760" y="4838246"/>
            <a:ext cx="365760" cy="130652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5" name="col0act:cell"/>
          <p:cNvSpPr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ol0act:text"/>
          <p:cNvSpPr txBox="1"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Standardised the close calendar to a 5+2 day cycle across all five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journal taxonomy; 214 entry types reduced to 61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control design for the close cycle and walked it through with External Audit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account reconciliation threshold policy with Internal Controls</a:t>
            </a:r>
          </a:p>
        </p:txBody>
      </p:sp>
      <p:sp>
        <p:nvSpPr>
          <p:cNvPr id="27" name="col0out:cell"/>
          <p:cNvSpPr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col0out:text"/>
          <p:cNvSpPr txBox="1"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global close calendar, standard journal taxonomy and a rebuilt control set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74%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Control framework complete on 11 Sep 2026</a:t>
            </a:r>
          </a:p>
        </p:txBody>
      </p:sp>
      <p:sp>
        <p:nvSpPr>
          <p:cNvPr id="29" name="col1act:cell"/>
          <p:cNvSpPr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1act:text"/>
          <p:cNvSpPr txBox="1"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Locked the three-way match tolerance policy across all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Reworked the invoice exception taxonomy after the tax logic finding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Italy and Spain e-invoicing variants with Group Tax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supplier master de-duplication design with WP2 Master Data</a:t>
            </a:r>
          </a:p>
        </p:txBody>
      </p:sp>
      <p:sp>
        <p:nvSpPr>
          <p:cNvPr id="31" name="col1out:cell"/>
          <p:cNvSpPr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col1out:text"/>
          <p:cNvSpPr txBox="1"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Single P2P flow with touchless invoice processing and one supplier master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52% complete, rated red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P2P build complete on 25 Sep 2026</a:t>
            </a:r>
          </a:p>
        </p:txBody>
      </p:sp>
      <p:sp>
        <p:nvSpPr>
          <p:cNvPr id="33" name="col2act:cell"/>
          <p:cNvSpPr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col2act:text"/>
          <p:cNvSpPr txBox="1"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a single dunning policy with the five regional credit committees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Designed the cash application matching rules with Treasury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billing consolidation design for the two legacy entities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Baselined DSO at 54 days as the benefit measurement start point</a:t>
            </a:r>
          </a:p>
        </p:txBody>
      </p:sp>
      <p:sp>
        <p:nvSpPr>
          <p:cNvPr id="35" name="col2out:cell"/>
          <p:cNvSpPr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ol2out:text"/>
          <p:cNvSpPr txBox="1"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 billing, collections and cash application with one dunning policy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O2C build complete on 25 Sep 2026</a:t>
            </a:r>
          </a:p>
        </p:txBody>
      </p:sp>
      <p:sp>
        <p:nvSpPr>
          <p:cNvPr id="37" name="col3act:cell"/>
          <p:cNvSpPr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col3act:text"/>
          <p:cNvSpPr txBox="1"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the governed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Profiled the legacy vendor master; 23% of records fail the new validation rules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stewardship model with named owners per domain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cleansing cut-off date with WP4 migration planning</a:t>
            </a:r>
          </a:p>
        </p:txBody>
      </p:sp>
      <p:sp>
        <p:nvSpPr>
          <p:cNvPr id="39" name="col3out:cell"/>
          <p:cNvSpPr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col3out:text"/>
          <p:cNvSpPr txBox="1"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governed master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57%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Master data cleansing cut-off on 09 Oct 2026</a:t>
            </a:r>
          </a:p>
        </p:txBody>
      </p:sp>
      <p:sp>
        <p:nvSpPr>
          <p:cNvPr id="4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Legacy vendor data quality below the migration threshold (H, Anneke de Vries, due 09 Oct)</a:t>
            </a:r>
          </a:p>
        </p:txBody>
      </p:sp>
      <p:sp>
        <p:nvSpPr>
          <p:cNvPr id="4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Workflow &amp; Intelligent Automation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3 - Technology &amp; Automation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ERP Template Alignment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96 of 118 template gaps; the remainder are localisation-only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Group IT Architecture design authority review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chart of accounts alignment with WP2 Master Data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interface inventory for the 31 downstream systems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Collapse four regional ERP variants onto one global template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71%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ERP template build complete on 11 Sep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Delivered 11 of 18 wave 1 automations into the pre-production environment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Information Security review for the document extraction service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Re-scoped four P2P automations pending the tax variant rework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Established the automation change-control process with the Automation CoE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Automate 38 candidate steps across P2P, O2C and R2R with a governed pipeline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55%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Wave 1 automations in production on 02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off the reporting design against the WP1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cost-to-serve model down to service level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layer for SLA measurement in the test environment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single source of truth for headcount with HR Organisation Design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performance layer: SLA, KPI and cost-to-serve reporting for the service reviews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48%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Data layer live in test on 06 Nov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Information Security review of the automation platform (M, Sofia Marchetti, due 30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Wave 1 automation delivery four items behind plan (M, Sofia Marchetti, due 02 Oct)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Single global cutover weekend leaves no fallback window (M, Rahul Menon, due 04 Dec)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Benefit baseline holds at the FY26 cost base (M, Jonas Brenner, due 18 Dec)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5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Who decides, who delivers, and who has to be consulted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Decision rights sit with the steering committee; delivery sits with 4 work packages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governance | Weekly programme board, Tuesday</a:t>
            </a:r>
          </a:p>
        </p:txBody>
      </p:sp>
      <p:sp>
        <p:nvSpPr>
          <p:cNvPr id="4" name="steerco:box"/>
          <p:cNvSpPr/>
          <p:nvPr/>
        </p:nvSpPr>
        <p:spPr>
          <a:xfrm>
            <a:off x="2125980" y="1133856"/>
            <a:ext cx="49377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erco:head"/>
          <p:cNvSpPr/>
          <p:nvPr/>
        </p:nvSpPr>
        <p:spPr>
          <a:xfrm>
            <a:off x="2125980" y="1133856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steerco:title"/>
          <p:cNvSpPr txBox="1"/>
          <p:nvPr/>
        </p:nvSpPr>
        <p:spPr>
          <a:xfrm>
            <a:off x="2199132" y="1133856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Steering committee</a:t>
            </a:r>
          </a:p>
        </p:txBody>
      </p:sp>
      <p:sp>
        <p:nvSpPr>
          <p:cNvPr id="7" name="steerco:caption"/>
          <p:cNvSpPr txBox="1"/>
          <p:nvPr/>
        </p:nvSpPr>
        <p:spPr>
          <a:xfrm>
            <a:off x="4916729" y="1133856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Monthly, third Thursday</a:t>
            </a:r>
          </a:p>
        </p:txBody>
      </p:sp>
      <p:sp>
        <p:nvSpPr>
          <p:cNvPr id="8" name="steerco:members0"/>
          <p:cNvSpPr txBox="1"/>
          <p:nvPr/>
        </p:nvSpPr>
        <p:spPr>
          <a:xfrm>
            <a:off x="2199132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Helena Marchand - Chief Financial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Arun Sethi - Group Financial Controller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Katrin Osei - Chief Human Resources Officer</a:t>
            </a:r>
          </a:p>
        </p:txBody>
      </p:sp>
      <p:sp>
        <p:nvSpPr>
          <p:cNvPr id="9" name="steerco:members1"/>
          <p:cNvSpPr txBox="1"/>
          <p:nvPr/>
        </p:nvSpPr>
        <p:spPr>
          <a:xfrm>
            <a:off x="4663440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Peer Wallenberg - Chief Information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Maria Fontana - Regional CFO, Europe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Sam Okada - Regional CFO, Asia Pacific</a:t>
            </a:r>
          </a:p>
        </p:txBody>
      </p:sp>
      <p:sp>
        <p:nvSpPr>
          <p:cNvPr id="10" name="pmo:box"/>
          <p:cNvSpPr/>
          <p:nvPr/>
        </p:nvSpPr>
        <p:spPr>
          <a:xfrm>
            <a:off x="2125980" y="2212848"/>
            <a:ext cx="49377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pmo:head"/>
          <p:cNvSpPr/>
          <p:nvPr/>
        </p:nvSpPr>
        <p:spPr>
          <a:xfrm>
            <a:off x="2125980" y="2212848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pmo:title"/>
          <p:cNvSpPr txBox="1"/>
          <p:nvPr/>
        </p:nvSpPr>
        <p:spPr>
          <a:xfrm>
            <a:off x="2199132" y="2212848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Programme management</a:t>
            </a:r>
          </a:p>
        </p:txBody>
      </p:sp>
      <p:sp>
        <p:nvSpPr>
          <p:cNvPr id="13" name="pmo:caption"/>
          <p:cNvSpPr txBox="1"/>
          <p:nvPr/>
        </p:nvSpPr>
        <p:spPr>
          <a:xfrm>
            <a:off x="4916729" y="2212848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Weekly programme board, Tuesday</a:t>
            </a:r>
          </a:p>
        </p:txBody>
      </p:sp>
      <p:sp>
        <p:nvSpPr>
          <p:cNvPr id="14" name="pmo:members0"/>
          <p:cNvSpPr txBox="1"/>
          <p:nvPr/>
        </p:nvSpPr>
        <p:spPr>
          <a:xfrm>
            <a:off x="2199132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Nadia Bergström - Programme Director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Felix Aumann - Programme Manager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Grace Adeyinka - PMO Lead</a:t>
            </a:r>
          </a:p>
        </p:txBody>
      </p:sp>
      <p:sp>
        <p:nvSpPr>
          <p:cNvPr id="15" name="pmo:members1"/>
          <p:cNvSpPr txBox="1"/>
          <p:nvPr/>
        </p:nvSpPr>
        <p:spPr>
          <a:xfrm>
            <a:off x="4663440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Tomasz Wieczorek - Benefits &amp; Reporting Lead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Ravi Balakrishnan - Risk &amp; Assurance Lead</a:t>
            </a:r>
          </a:p>
        </p:txBody>
      </p:sp>
      <p:sp>
        <p:nvSpPr>
          <p:cNvPr id="16" name="unit0:box"/>
          <p:cNvSpPr/>
          <p:nvPr/>
        </p:nvSpPr>
        <p:spPr>
          <a:xfrm>
            <a:off x="36576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unit0:head"/>
          <p:cNvSpPr/>
          <p:nvPr/>
        </p:nvSpPr>
        <p:spPr>
          <a:xfrm>
            <a:off x="36576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unit0:badge"/>
          <p:cNvSpPr/>
          <p:nvPr/>
        </p:nvSpPr>
        <p:spPr>
          <a:xfrm>
            <a:off x="43891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19" name="unit0:name"/>
          <p:cNvSpPr txBox="1"/>
          <p:nvPr/>
        </p:nvSpPr>
        <p:spPr>
          <a:xfrm>
            <a:off x="73152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0" name="unit0:Core team"/>
          <p:cNvSpPr txBox="1"/>
          <p:nvPr/>
        </p:nvSpPr>
        <p:spPr>
          <a:xfrm>
            <a:off x="43891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1" name="unit0:Core teamlist"/>
          <p:cNvSpPr txBox="1"/>
          <p:nvPr/>
        </p:nvSpPr>
        <p:spPr>
          <a:xfrm>
            <a:off x="43891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GBS Design Office (8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Finance Operating Model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HR Organisation Design (2 FTE, 50% allocation)</a:t>
            </a:r>
          </a:p>
        </p:txBody>
      </p:sp>
      <p:sp>
        <p:nvSpPr>
          <p:cNvPr id="22" name="unit0:Contributing teams"/>
          <p:cNvSpPr txBox="1"/>
          <p:nvPr/>
        </p:nvSpPr>
        <p:spPr>
          <a:xfrm>
            <a:off x="43891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23" name="unit0:Contributing teamslist"/>
          <p:cNvSpPr txBox="1"/>
          <p:nvPr/>
        </p:nvSpPr>
        <p:spPr>
          <a:xfrm>
            <a:off x="43891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Finance Policy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Controllers (5) (consulted per region)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Workplace &amp; Real Estate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</p:txBody>
      </p:sp>
      <p:sp>
        <p:nvSpPr>
          <p:cNvPr id="24" name="unit1:box"/>
          <p:cNvSpPr/>
          <p:nvPr/>
        </p:nvSpPr>
        <p:spPr>
          <a:xfrm>
            <a:off x="251460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unit1:head"/>
          <p:cNvSpPr/>
          <p:nvPr/>
        </p:nvSpPr>
        <p:spPr>
          <a:xfrm>
            <a:off x="251460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unit1:badge"/>
          <p:cNvSpPr/>
          <p:nvPr/>
        </p:nvSpPr>
        <p:spPr>
          <a:xfrm>
            <a:off x="258775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27" name="unit1:name"/>
          <p:cNvSpPr txBox="1"/>
          <p:nvPr/>
        </p:nvSpPr>
        <p:spPr>
          <a:xfrm>
            <a:off x="288036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28" name="unit1:Core team"/>
          <p:cNvSpPr txBox="1"/>
          <p:nvPr/>
        </p:nvSpPr>
        <p:spPr>
          <a:xfrm>
            <a:off x="258775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9" name="unit1:Core teamlist"/>
          <p:cNvSpPr txBox="1"/>
          <p:nvPr/>
        </p:nvSpPr>
        <p:spPr>
          <a:xfrm>
            <a:off x="258775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Global Process Owners (4) (1 per E2E process)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Process Design Team (11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Controls (3 FTE, dedicated)</a:t>
            </a:r>
          </a:p>
        </p:txBody>
      </p:sp>
      <p:sp>
        <p:nvSpPr>
          <p:cNvPr id="30" name="unit1:Contributing teams"/>
          <p:cNvSpPr txBox="1"/>
          <p:nvPr/>
        </p:nvSpPr>
        <p:spPr>
          <a:xfrm>
            <a:off x="258775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1" name="unit1:Contributing teamslist"/>
          <p:cNvSpPr txBox="1"/>
          <p:nvPr/>
        </p:nvSpPr>
        <p:spPr>
          <a:xfrm>
            <a:off x="258775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Finance Teams (design workshops + UAT)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Tax (P2P and O2C tax logic)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Treasury (O2C cash application)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External Audit (control framework review)</a:t>
            </a:r>
          </a:p>
        </p:txBody>
      </p:sp>
      <p:sp>
        <p:nvSpPr>
          <p:cNvPr id="32" name="unit2:box"/>
          <p:cNvSpPr/>
          <p:nvPr/>
        </p:nvSpPr>
        <p:spPr>
          <a:xfrm>
            <a:off x="466344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unit2:head"/>
          <p:cNvSpPr/>
          <p:nvPr/>
        </p:nvSpPr>
        <p:spPr>
          <a:xfrm>
            <a:off x="466344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unit2:badge"/>
          <p:cNvSpPr/>
          <p:nvPr/>
        </p:nvSpPr>
        <p:spPr>
          <a:xfrm>
            <a:off x="473659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35" name="unit2:name"/>
          <p:cNvSpPr txBox="1"/>
          <p:nvPr/>
        </p:nvSpPr>
        <p:spPr>
          <a:xfrm>
            <a:off x="502920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6" name="unit2:Core team"/>
          <p:cNvSpPr txBox="1"/>
          <p:nvPr/>
        </p:nvSpPr>
        <p:spPr>
          <a:xfrm>
            <a:off x="473659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37" name="unit2:Core teamlist"/>
          <p:cNvSpPr txBox="1"/>
          <p:nvPr/>
        </p:nvSpPr>
        <p:spPr>
          <a:xfrm>
            <a:off x="473659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ERP Template Team (9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Automation CoE (5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Data &amp; Analytics (4 FTE, dedicated)</a:t>
            </a:r>
          </a:p>
        </p:txBody>
      </p:sp>
      <p:sp>
        <p:nvSpPr>
          <p:cNvPr id="38" name="unit2:Contributing teams"/>
          <p:cNvSpPr txBox="1"/>
          <p:nvPr/>
        </p:nvSpPr>
        <p:spPr>
          <a:xfrm>
            <a:off x="473659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9" name="unit2:Contributing teamslist"/>
          <p:cNvSpPr txBox="1"/>
          <p:nvPr/>
        </p:nvSpPr>
        <p:spPr>
          <a:xfrm>
            <a:off x="473659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IT Architecture (design authority)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Information Security (gated reviews)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Platform Vendor (statement of work)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IT (5) (cutover support)</a:t>
            </a:r>
          </a:p>
        </p:txBody>
      </p:sp>
      <p:sp>
        <p:nvSpPr>
          <p:cNvPr id="40" name="unit3:box"/>
          <p:cNvSpPr/>
          <p:nvPr/>
        </p:nvSpPr>
        <p:spPr>
          <a:xfrm>
            <a:off x="681228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unit3:head"/>
          <p:cNvSpPr/>
          <p:nvPr/>
        </p:nvSpPr>
        <p:spPr>
          <a:xfrm>
            <a:off x="681228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unit3:badge"/>
          <p:cNvSpPr/>
          <p:nvPr/>
        </p:nvSpPr>
        <p:spPr>
          <a:xfrm>
            <a:off x="688543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43" name="unit3:name"/>
          <p:cNvSpPr txBox="1"/>
          <p:nvPr/>
        </p:nvSpPr>
        <p:spPr>
          <a:xfrm>
            <a:off x="717804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44" name="unit3:Core team"/>
          <p:cNvSpPr txBox="1"/>
          <p:nvPr/>
        </p:nvSpPr>
        <p:spPr>
          <a:xfrm>
            <a:off x="688543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45" name="unit3:Core teamlist"/>
          <p:cNvSpPr txBox="1"/>
          <p:nvPr/>
        </p:nvSpPr>
        <p:spPr>
          <a:xfrm>
            <a:off x="688543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Transition Management Office (6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Change &amp; Communications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Training Design (3 FTE, dedicated)</a:t>
            </a:r>
          </a:p>
        </p:txBody>
      </p:sp>
      <p:sp>
        <p:nvSpPr>
          <p:cNvPr id="46" name="unit3:Contributing teams"/>
          <p:cNvSpPr txBox="1"/>
          <p:nvPr/>
        </p:nvSpPr>
        <p:spPr>
          <a:xfrm>
            <a:off x="688543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47" name="unit3:Contributing teamslist"/>
          <p:cNvSpPr txBox="1"/>
          <p:nvPr/>
        </p:nvSpPr>
        <p:spPr>
          <a:xfrm>
            <a:off x="688543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Retained Finance Leads (5) (wave sign-off)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Hub Operations Leadership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Communications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94860" y="1975104"/>
            <a:ext cx="0" cy="237744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594860" y="298094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1371600" y="3255264"/>
            <a:ext cx="6446520" cy="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37160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352044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66928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1812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sp>
        <p:nvSpPr>
          <p:cNvPr id="55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Comments</a:t>
            </a:r>
          </a:p>
        </p:txBody>
      </p:sp>
      <p:sp>
        <p:nvSpPr>
          <p:cNvPr id="57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Steering committee meets monthly; two additional decision points are scheduled around Gate 3 and Gate 4.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Programme board reviews RAID weekly and escalates any high-severity item open beyond 14 days.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 package leads hold delegated authority up to EUR 250k and one week of schedule float.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CFOs sign off wave readiness for their own entities; the CFO signs the global go / no-go.</a:t>
            </a:r>
          </a:p>
        </p:txBody>
      </p:sp>
      <p:sp>
        <p:nvSpPr>
          <p:cNvPr id="58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59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6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full RAID log, in support of the position above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1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(6)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Works council consultation extends the selection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tracking with Legal &amp; Employee Relations; parallel-running Dutch selection under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R-05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of critical knowledge holders through selection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framework drafted with HR; knowledge capture prioritised for the 34 named roles.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Single global cutover weekend leaves no fallback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Rahul Menon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full cutover rehearsals scheduled; go / no-go checkpoint set at hour 12.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2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(continued)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training modules require rework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Laura Nkemelu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Rework scheduled into the September sprint; no impact on the delivery start date.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Krakow fit-out completion gates wave 1 onboarding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16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contractor review; temporary space secured as a two-week buffer.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No statutory reporting changes land in scope during build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Finance Policy monitors the consultation and reports monthly to the programme board.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