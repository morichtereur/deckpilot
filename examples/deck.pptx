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reconciles: 42 EUR m less the levers gives 33.5 EUR m exactly.</a:t>
            </a:r>
          </a:p>
          <a:p/>
          <a:p>
            <a:r>
              <a:t>Say the axis is truncated before anyone asks - drawn from zero the levers would be slivers.</a:t>
            </a:r>
          </a:p>
          <a:p/>
          <a:p>
            <a:r>
              <a:t>Expect the challenge on confidence. 0.9 EUR m sits on low-confidence levers; that is the number to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total: the programme forecasts on budget. Then the gauges, which are the reason that is not the whole story.</a:t>
            </a:r>
          </a:p>
          <a:p/>
          <a:p>
            <a:r>
              <a:t>Contingency is 60% drawn at 57% elapsed, funding overruns on external advisory, transition, travel and training.</a:t>
            </a:r>
          </a:p>
          <a:p/>
          <a:p>
            <a:r>
              <a:t>The question to expect is what happens if the gate slips: the remaining contingency is the answer, and it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21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The case and the cost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What the programme is worth and what it is spending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6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10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13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17</a:t>
            </a:r>
          </a:p>
        </p:txBody>
      </p:sp>
      <p:sp>
        <p:nvSpPr>
          <p:cNvPr id="27" name="entry5:number"/>
          <p:cNvSpPr txBox="1"/>
          <p:nvPr/>
        </p:nvSpPr>
        <p:spPr>
          <a:xfrm>
            <a:off x="493776" y="506577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6</a:t>
            </a:r>
          </a:p>
        </p:txBody>
      </p:sp>
      <p:sp>
        <p:nvSpPr>
          <p:cNvPr id="28" name="entry5:title"/>
          <p:cNvSpPr txBox="1"/>
          <p:nvPr/>
        </p:nvSpPr>
        <p:spPr>
          <a:xfrm>
            <a:off x="1060704" y="523036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9" name="entry5:caption"/>
          <p:cNvSpPr txBox="1"/>
          <p:nvPr/>
        </p:nvSpPr>
        <p:spPr>
          <a:xfrm>
            <a:off x="1060704" y="550468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30" name="entry5:page"/>
          <p:cNvSpPr txBox="1"/>
          <p:nvPr/>
        </p:nvSpPr>
        <p:spPr>
          <a:xfrm>
            <a:off x="11058144" y="506577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19</a:t>
            </a:r>
          </a:p>
        </p:txBody>
      </p:sp>
      <p:sp>
        <p:nvSpPr>
          <p:cNvPr id="31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2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54480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55948"/>
            <a:ext cx="420624" cy="12801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4264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182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2062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The case and the cost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What the programme is worth and what it is spending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A 20% reduction on a 42 EUR m base, with process standardisation carrying 40% of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case | FY26 finance cost base to Steady state FY28 | Value axis truncated so the levers are legible</a:t>
            </a:r>
          </a:p>
        </p:txBody>
      </p:sp>
      <p:sp>
        <p:nvSpPr>
          <p:cNvPr id="4" name="step0:bar"/>
          <p:cNvSpPr/>
          <p:nvPr/>
        </p:nvSpPr>
        <p:spPr>
          <a:xfrm>
            <a:off x="365760" y="1636328"/>
            <a:ext cx="1129937" cy="385007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p0:value"/>
          <p:cNvSpPr txBox="1"/>
          <p:nvPr/>
        </p:nvSpPr>
        <p:spPr>
          <a:xfrm>
            <a:off x="365760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42 EUR m</a:t>
            </a:r>
          </a:p>
        </p:txBody>
      </p:sp>
      <p:sp>
        <p:nvSpPr>
          <p:cNvPr id="6" name="step0:label"/>
          <p:cNvSpPr txBox="1"/>
          <p:nvPr/>
        </p:nvSpPr>
        <p:spPr>
          <a:xfrm>
            <a:off x="365760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FY26 finance cost base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" y="163632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8" name="step1:bar"/>
          <p:cNvSpPr/>
          <p:nvPr/>
        </p:nvSpPr>
        <p:spPr>
          <a:xfrm>
            <a:off x="1587137" y="1636328"/>
            <a:ext cx="1129937" cy="1127497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step1:value"/>
          <p:cNvSpPr txBox="1"/>
          <p:nvPr/>
        </p:nvSpPr>
        <p:spPr>
          <a:xfrm>
            <a:off x="1587137" y="132543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-3.4 EUR m</a:t>
            </a:r>
          </a:p>
        </p:txBody>
      </p:sp>
      <p:sp>
        <p:nvSpPr>
          <p:cNvPr id="10" name="step1:label"/>
          <p:cNvSpPr txBox="1"/>
          <p:nvPr/>
        </p:nvSpPr>
        <p:spPr>
          <a:xfrm>
            <a:off x="1587137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</a:t>
            </a:r>
          </a:p>
        </p:txBody>
      </p:sp>
      <p:sp>
        <p:nvSpPr>
          <p:cNvPr id="11" name="step1:caption"/>
          <p:cNvSpPr txBox="1"/>
          <p:nvPr/>
        </p:nvSpPr>
        <p:spPr>
          <a:xfrm>
            <a:off x="1587137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87137" y="2763825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3" name="step2:bar"/>
          <p:cNvSpPr/>
          <p:nvPr/>
        </p:nvSpPr>
        <p:spPr>
          <a:xfrm>
            <a:off x="2808514" y="2763825"/>
            <a:ext cx="1129937" cy="961689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step2:value"/>
          <p:cNvSpPr txBox="1"/>
          <p:nvPr/>
        </p:nvSpPr>
        <p:spPr>
          <a:xfrm>
            <a:off x="2808514" y="2452929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-2.9 EUR m</a:t>
            </a:r>
          </a:p>
        </p:txBody>
      </p:sp>
      <p:sp>
        <p:nvSpPr>
          <p:cNvPr id="15" name="step2:label"/>
          <p:cNvSpPr txBox="1"/>
          <p:nvPr/>
        </p:nvSpPr>
        <p:spPr>
          <a:xfrm>
            <a:off x="2808514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Location footprint and labour arbitrage</a:t>
            </a:r>
          </a:p>
        </p:txBody>
      </p:sp>
      <p:sp>
        <p:nvSpPr>
          <p:cNvPr id="16" name="step2:caption"/>
          <p:cNvSpPr txBox="1"/>
          <p:nvPr/>
        </p:nvSpPr>
        <p:spPr>
          <a:xfrm>
            <a:off x="2808514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08514" y="3725514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8" name="step3:bar"/>
          <p:cNvSpPr/>
          <p:nvPr/>
        </p:nvSpPr>
        <p:spPr>
          <a:xfrm>
            <a:off x="4029891" y="3725514"/>
            <a:ext cx="1129937" cy="464264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step3:value"/>
          <p:cNvSpPr txBox="1"/>
          <p:nvPr/>
        </p:nvSpPr>
        <p:spPr>
          <a:xfrm>
            <a:off x="4029891" y="3414618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-1.4 EUR m</a:t>
            </a:r>
          </a:p>
        </p:txBody>
      </p:sp>
      <p:sp>
        <p:nvSpPr>
          <p:cNvPr id="20" name="step3:label"/>
          <p:cNvSpPr txBox="1"/>
          <p:nvPr/>
        </p:nvSpPr>
        <p:spPr>
          <a:xfrm>
            <a:off x="4029891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Span of control and organisation design</a:t>
            </a:r>
          </a:p>
        </p:txBody>
      </p:sp>
      <p:sp>
        <p:nvSpPr>
          <p:cNvPr id="21" name="step3:caption"/>
          <p:cNvSpPr txBox="1"/>
          <p:nvPr/>
        </p:nvSpPr>
        <p:spPr>
          <a:xfrm>
            <a:off x="4029891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medium confidence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9891" y="4189778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3" name="step4:bar"/>
          <p:cNvSpPr/>
          <p:nvPr/>
        </p:nvSpPr>
        <p:spPr>
          <a:xfrm>
            <a:off x="5251268" y="4189778"/>
            <a:ext cx="1129937" cy="298455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tep4:value"/>
          <p:cNvSpPr txBox="1"/>
          <p:nvPr/>
        </p:nvSpPr>
        <p:spPr>
          <a:xfrm>
            <a:off x="5251268" y="3878882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-0.9 EUR m</a:t>
            </a:r>
          </a:p>
        </p:txBody>
      </p:sp>
      <p:sp>
        <p:nvSpPr>
          <p:cNvPr id="25" name="step4:label"/>
          <p:cNvSpPr txBox="1"/>
          <p:nvPr/>
        </p:nvSpPr>
        <p:spPr>
          <a:xfrm>
            <a:off x="5251268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Technology and licence consolidation</a:t>
            </a:r>
          </a:p>
        </p:txBody>
      </p:sp>
      <p:sp>
        <p:nvSpPr>
          <p:cNvPr id="26" name="step4:caption"/>
          <p:cNvSpPr txBox="1"/>
          <p:nvPr/>
        </p:nvSpPr>
        <p:spPr>
          <a:xfrm>
            <a:off x="5251268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low confidence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1268" y="4488233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8" name="step5:bar"/>
          <p:cNvSpPr/>
          <p:nvPr/>
        </p:nvSpPr>
        <p:spPr>
          <a:xfrm>
            <a:off x="6472645" y="4455071"/>
            <a:ext cx="1129937" cy="33162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step5:value"/>
          <p:cNvSpPr txBox="1"/>
          <p:nvPr/>
        </p:nvSpPr>
        <p:spPr>
          <a:xfrm>
            <a:off x="6472645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+0.1 EUR m</a:t>
            </a:r>
          </a:p>
        </p:txBody>
      </p:sp>
      <p:sp>
        <p:nvSpPr>
          <p:cNvPr id="30" name="step5:label"/>
          <p:cNvSpPr txBox="1"/>
          <p:nvPr/>
        </p:nvSpPr>
        <p:spPr>
          <a:xfrm>
            <a:off x="6472645" y="5486400"/>
            <a:ext cx="1129937" cy="54864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Hub run cost and retained coordination</a:t>
            </a:r>
          </a:p>
        </p:txBody>
      </p:sp>
      <p:sp>
        <p:nvSpPr>
          <p:cNvPr id="31" name="step5:caption"/>
          <p:cNvSpPr txBox="1"/>
          <p:nvPr/>
        </p:nvSpPr>
        <p:spPr>
          <a:xfrm>
            <a:off x="6472645" y="6035040"/>
            <a:ext cx="1129937" cy="16459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A0A1A3"/>
                </a:solidFill>
                <a:latin typeface="Calibri"/>
              </a:rPr>
              <a:t>high confidence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72645" y="4455071"/>
            <a:ext cx="1221377" cy="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3" name="step6:bar"/>
          <p:cNvSpPr/>
          <p:nvPr/>
        </p:nvSpPr>
        <p:spPr>
          <a:xfrm>
            <a:off x="7694022" y="4455071"/>
            <a:ext cx="1129937" cy="1031329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step6:value"/>
          <p:cNvSpPr txBox="1"/>
          <p:nvPr/>
        </p:nvSpPr>
        <p:spPr>
          <a:xfrm>
            <a:off x="7694022" y="4144175"/>
            <a:ext cx="1129937" cy="274320"/>
          </a:xfrm>
          <a:prstGeom prst="rect">
            <a:avLst/>
          </a:prstGeom>
          <a:noFill/>
        </p:spPr>
        <p:txBody>
          <a:bodyPr wrap="none" anchor="b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33.5 EUR m</a:t>
            </a:r>
          </a:p>
        </p:txBody>
      </p:sp>
      <p:sp>
        <p:nvSpPr>
          <p:cNvPr id="35" name="step6:label"/>
          <p:cNvSpPr txBox="1"/>
          <p:nvPr/>
        </p:nvSpPr>
        <p:spPr>
          <a:xfrm>
            <a:off x="7694022" y="5486400"/>
            <a:ext cx="1129937" cy="71323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Steady state FY28</a:t>
            </a:r>
          </a:p>
        </p:txBody>
      </p:sp>
      <p:sp>
        <p:nvSpPr>
          <p:cNvPr id="36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8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Process standardisation and automation is the largest single lever at 3.4 EUR m, owned by Marcus Adeyemi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0.9 EUR m of the case rests on low-confidence levers: technology and licence consolidation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The bridge includes the cost of running the new model: hub run cost and retained coordination at +0.1 EUR m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</p:txBody>
      </p:sp>
      <p:sp>
        <p:nvSpPr>
          <p:cNvPr id="39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0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The programme forecasts on budget, but contingency is 60% drawn at 57% elapsed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cost | Week 2026-W35 | Forecast at completion against approved budget, EUR m</a:t>
            </a:r>
          </a:p>
        </p:txBody>
      </p:sp>
      <p:sp>
        <p:nvSpPr>
          <p:cNvPr id="4" name="fin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fin:head-category"/>
          <p:cNvSpPr txBox="1"/>
          <p:nvPr/>
        </p:nvSpPr>
        <p:spPr>
          <a:xfrm>
            <a:off x="429768" y="1133856"/>
            <a:ext cx="2028825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Cost category</a:t>
            </a:r>
          </a:p>
        </p:txBody>
      </p:sp>
      <p:sp>
        <p:nvSpPr>
          <p:cNvPr id="6" name="fin:head-budget"/>
          <p:cNvSpPr txBox="1"/>
          <p:nvPr/>
        </p:nvSpPr>
        <p:spPr>
          <a:xfrm>
            <a:off x="2586609" y="1133856"/>
            <a:ext cx="63322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7" name="fin:head-actual"/>
          <p:cNvSpPr txBox="1"/>
          <p:nvPr/>
        </p:nvSpPr>
        <p:spPr>
          <a:xfrm>
            <a:off x="3347847" y="1133856"/>
            <a:ext cx="802386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Actual to date</a:t>
            </a:r>
          </a:p>
        </p:txBody>
      </p:sp>
      <p:sp>
        <p:nvSpPr>
          <p:cNvPr id="8" name="fin:head-forecast"/>
          <p:cNvSpPr txBox="1"/>
          <p:nvPr/>
        </p:nvSpPr>
        <p:spPr>
          <a:xfrm>
            <a:off x="4278249" y="1133856"/>
            <a:ext cx="675513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Forecast at completion</a:t>
            </a:r>
          </a:p>
        </p:txBody>
      </p:sp>
      <p:sp>
        <p:nvSpPr>
          <p:cNvPr id="9" name="fin:head-variance"/>
          <p:cNvSpPr txBox="1"/>
          <p:nvPr/>
        </p:nvSpPr>
        <p:spPr>
          <a:xfrm>
            <a:off x="5081778" y="1133856"/>
            <a:ext cx="63322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Variance</a:t>
            </a:r>
          </a:p>
        </p:txBody>
      </p:sp>
      <p:sp>
        <p:nvSpPr>
          <p:cNvPr id="10" name="fin:head-bar"/>
          <p:cNvSpPr txBox="1"/>
          <p:nvPr/>
        </p:nvSpPr>
        <p:spPr>
          <a:xfrm>
            <a:off x="5843016" y="1133856"/>
            <a:ext cx="2916936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Forecast against budget</a:t>
            </a:r>
          </a:p>
        </p:txBody>
      </p:sp>
      <p:sp>
        <p:nvSpPr>
          <p:cNvPr id="11" name="surface:fin0"/>
          <p:cNvSpPr/>
          <p:nvPr/>
        </p:nvSpPr>
        <p:spPr>
          <a:xfrm>
            <a:off x="365760" y="1389888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fin0:category"/>
          <p:cNvSpPr txBox="1"/>
          <p:nvPr/>
        </p:nvSpPr>
        <p:spPr>
          <a:xfrm>
            <a:off x="429768" y="1389888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External advisory</a:t>
            </a:r>
          </a:p>
        </p:txBody>
      </p:sp>
      <p:sp>
        <p:nvSpPr>
          <p:cNvPr id="13" name="fin0:budget"/>
          <p:cNvSpPr txBox="1"/>
          <p:nvPr/>
        </p:nvSpPr>
        <p:spPr>
          <a:xfrm>
            <a:off x="2586609" y="138988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6.8</a:t>
            </a:r>
          </a:p>
        </p:txBody>
      </p:sp>
      <p:sp>
        <p:nvSpPr>
          <p:cNvPr id="14" name="fin0:actual"/>
          <p:cNvSpPr txBox="1"/>
          <p:nvPr/>
        </p:nvSpPr>
        <p:spPr>
          <a:xfrm>
            <a:off x="3347847" y="1389888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4.3</a:t>
            </a:r>
          </a:p>
        </p:txBody>
      </p:sp>
      <p:sp>
        <p:nvSpPr>
          <p:cNvPr id="15" name="fin0:forecast"/>
          <p:cNvSpPr txBox="1"/>
          <p:nvPr/>
        </p:nvSpPr>
        <p:spPr>
          <a:xfrm>
            <a:off x="4278249" y="1389888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7.5</a:t>
            </a:r>
          </a:p>
        </p:txBody>
      </p:sp>
      <p:sp>
        <p:nvSpPr>
          <p:cNvPr id="16" name="fin0:variance"/>
          <p:cNvSpPr txBox="1"/>
          <p:nvPr/>
        </p:nvSpPr>
        <p:spPr>
          <a:xfrm>
            <a:off x="5081778" y="138988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+0.7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01484" y="1559052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18" name="marker:fin0var"/>
          <p:cNvSpPr/>
          <p:nvPr/>
        </p:nvSpPr>
        <p:spPr>
          <a:xfrm>
            <a:off x="7301484" y="1559052"/>
            <a:ext cx="850773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fin1:category"/>
          <p:cNvSpPr txBox="1"/>
          <p:nvPr/>
        </p:nvSpPr>
        <p:spPr>
          <a:xfrm>
            <a:off x="429768" y="1865376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Technology and licences</a:t>
            </a:r>
          </a:p>
        </p:txBody>
      </p:sp>
      <p:sp>
        <p:nvSpPr>
          <p:cNvPr id="20" name="fin1:budget"/>
          <p:cNvSpPr txBox="1"/>
          <p:nvPr/>
        </p:nvSpPr>
        <p:spPr>
          <a:xfrm>
            <a:off x="2586609" y="186537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5.2</a:t>
            </a:r>
          </a:p>
        </p:txBody>
      </p:sp>
      <p:sp>
        <p:nvSpPr>
          <p:cNvPr id="21" name="fin1:actual"/>
          <p:cNvSpPr txBox="1"/>
          <p:nvPr/>
        </p:nvSpPr>
        <p:spPr>
          <a:xfrm>
            <a:off x="3347847" y="1865376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2.9</a:t>
            </a:r>
          </a:p>
        </p:txBody>
      </p:sp>
      <p:sp>
        <p:nvSpPr>
          <p:cNvPr id="22" name="fin1:forecast"/>
          <p:cNvSpPr txBox="1"/>
          <p:nvPr/>
        </p:nvSpPr>
        <p:spPr>
          <a:xfrm>
            <a:off x="4278249" y="1865376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5.1</a:t>
            </a:r>
          </a:p>
        </p:txBody>
      </p:sp>
      <p:sp>
        <p:nvSpPr>
          <p:cNvPr id="23" name="fin1:variance"/>
          <p:cNvSpPr txBox="1"/>
          <p:nvPr/>
        </p:nvSpPr>
        <p:spPr>
          <a:xfrm>
            <a:off x="5081778" y="186537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-0.1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01484" y="2034540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25" name="marker:fin1var"/>
          <p:cNvSpPr/>
          <p:nvPr/>
        </p:nvSpPr>
        <p:spPr>
          <a:xfrm>
            <a:off x="7179945" y="2034540"/>
            <a:ext cx="121539" cy="137160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surface:fin2"/>
          <p:cNvSpPr/>
          <p:nvPr/>
        </p:nvSpPr>
        <p:spPr>
          <a:xfrm>
            <a:off x="365760" y="2340864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fin2:category"/>
          <p:cNvSpPr txBox="1"/>
          <p:nvPr/>
        </p:nvSpPr>
        <p:spPr>
          <a:xfrm>
            <a:off x="429768" y="2340864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Internal programme team</a:t>
            </a:r>
          </a:p>
        </p:txBody>
      </p:sp>
      <p:sp>
        <p:nvSpPr>
          <p:cNvPr id="28" name="fin2:budget"/>
          <p:cNvSpPr txBox="1"/>
          <p:nvPr/>
        </p:nvSpPr>
        <p:spPr>
          <a:xfrm>
            <a:off x="2586609" y="2340864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4.6</a:t>
            </a:r>
          </a:p>
        </p:txBody>
      </p:sp>
      <p:sp>
        <p:nvSpPr>
          <p:cNvPr id="29" name="fin2:actual"/>
          <p:cNvSpPr txBox="1"/>
          <p:nvPr/>
        </p:nvSpPr>
        <p:spPr>
          <a:xfrm>
            <a:off x="3347847" y="2340864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2.7</a:t>
            </a:r>
          </a:p>
        </p:txBody>
      </p:sp>
      <p:sp>
        <p:nvSpPr>
          <p:cNvPr id="30" name="fin2:forecast"/>
          <p:cNvSpPr txBox="1"/>
          <p:nvPr/>
        </p:nvSpPr>
        <p:spPr>
          <a:xfrm>
            <a:off x="4278249" y="2340864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4.6</a:t>
            </a:r>
          </a:p>
        </p:txBody>
      </p:sp>
      <p:sp>
        <p:nvSpPr>
          <p:cNvPr id="31" name="fin2:variance"/>
          <p:cNvSpPr txBox="1"/>
          <p:nvPr/>
        </p:nvSpPr>
        <p:spPr>
          <a:xfrm>
            <a:off x="5081778" y="2340864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2B2E33"/>
                </a:solidFill>
                <a:latin typeface="Calibri"/>
              </a:rPr>
              <a:t>-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01484" y="2510028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3" name="fin3:category"/>
          <p:cNvSpPr txBox="1"/>
          <p:nvPr/>
        </p:nvSpPr>
        <p:spPr>
          <a:xfrm>
            <a:off x="429768" y="2816352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Transition, travel and training</a:t>
            </a:r>
          </a:p>
        </p:txBody>
      </p:sp>
      <p:sp>
        <p:nvSpPr>
          <p:cNvPr id="34" name="fin3:budget"/>
          <p:cNvSpPr txBox="1"/>
          <p:nvPr/>
        </p:nvSpPr>
        <p:spPr>
          <a:xfrm>
            <a:off x="2586609" y="2816352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2.4</a:t>
            </a:r>
          </a:p>
        </p:txBody>
      </p:sp>
      <p:sp>
        <p:nvSpPr>
          <p:cNvPr id="35" name="fin3:actual"/>
          <p:cNvSpPr txBox="1"/>
          <p:nvPr/>
        </p:nvSpPr>
        <p:spPr>
          <a:xfrm>
            <a:off x="3347847" y="2816352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1.2</a:t>
            </a:r>
          </a:p>
        </p:txBody>
      </p:sp>
      <p:sp>
        <p:nvSpPr>
          <p:cNvPr id="36" name="fin3:forecast"/>
          <p:cNvSpPr txBox="1"/>
          <p:nvPr/>
        </p:nvSpPr>
        <p:spPr>
          <a:xfrm>
            <a:off x="4278249" y="2816352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2.9</a:t>
            </a:r>
          </a:p>
        </p:txBody>
      </p:sp>
      <p:sp>
        <p:nvSpPr>
          <p:cNvPr id="37" name="fin3:variance"/>
          <p:cNvSpPr txBox="1"/>
          <p:nvPr/>
        </p:nvSpPr>
        <p:spPr>
          <a:xfrm>
            <a:off x="5081778" y="2816352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01484" y="2985516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39" name="marker:fin3var"/>
          <p:cNvSpPr/>
          <p:nvPr/>
        </p:nvSpPr>
        <p:spPr>
          <a:xfrm>
            <a:off x="7301484" y="2985516"/>
            <a:ext cx="607695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surface:fin4"/>
          <p:cNvSpPr/>
          <p:nvPr/>
        </p:nvSpPr>
        <p:spPr>
          <a:xfrm>
            <a:off x="365760" y="3291840"/>
            <a:ext cx="8458200" cy="4754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fin4:category"/>
          <p:cNvSpPr txBox="1"/>
          <p:nvPr/>
        </p:nvSpPr>
        <p:spPr>
          <a:xfrm>
            <a:off x="429768" y="3291840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Site fit-out</a:t>
            </a:r>
          </a:p>
        </p:txBody>
      </p:sp>
      <p:sp>
        <p:nvSpPr>
          <p:cNvPr id="42" name="fin4:budget"/>
          <p:cNvSpPr txBox="1"/>
          <p:nvPr/>
        </p:nvSpPr>
        <p:spPr>
          <a:xfrm>
            <a:off x="2586609" y="3291840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3.1</a:t>
            </a:r>
          </a:p>
        </p:txBody>
      </p:sp>
      <p:sp>
        <p:nvSpPr>
          <p:cNvPr id="43" name="fin4:actual"/>
          <p:cNvSpPr txBox="1"/>
          <p:nvPr/>
        </p:nvSpPr>
        <p:spPr>
          <a:xfrm>
            <a:off x="3347847" y="3291840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1.6</a:t>
            </a:r>
          </a:p>
        </p:txBody>
      </p:sp>
      <p:sp>
        <p:nvSpPr>
          <p:cNvPr id="44" name="fin4:forecast"/>
          <p:cNvSpPr txBox="1"/>
          <p:nvPr/>
        </p:nvSpPr>
        <p:spPr>
          <a:xfrm>
            <a:off x="4278249" y="3291840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3.2</a:t>
            </a:r>
          </a:p>
        </p:txBody>
      </p:sp>
      <p:sp>
        <p:nvSpPr>
          <p:cNvPr id="45" name="fin4:variance"/>
          <p:cNvSpPr txBox="1"/>
          <p:nvPr/>
        </p:nvSpPr>
        <p:spPr>
          <a:xfrm>
            <a:off x="5081778" y="3291840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B23A2F"/>
                </a:solidFill>
                <a:latin typeface="Calibri"/>
              </a:rPr>
              <a:t>+0.1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01484" y="3461004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47" name="marker:fin4var"/>
          <p:cNvSpPr/>
          <p:nvPr/>
        </p:nvSpPr>
        <p:spPr>
          <a:xfrm>
            <a:off x="7301484" y="3461004"/>
            <a:ext cx="121539" cy="13716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surface:fin5"/>
          <p:cNvSpPr/>
          <p:nvPr/>
        </p:nvSpPr>
        <p:spPr>
          <a:xfrm>
            <a:off x="365760" y="3767328"/>
            <a:ext cx="8458200" cy="47548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fin5:category"/>
          <p:cNvSpPr txBox="1"/>
          <p:nvPr/>
        </p:nvSpPr>
        <p:spPr>
          <a:xfrm>
            <a:off x="429768" y="3767328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Contingency</a:t>
            </a:r>
          </a:p>
        </p:txBody>
      </p:sp>
      <p:sp>
        <p:nvSpPr>
          <p:cNvPr id="50" name="fin5:budget"/>
          <p:cNvSpPr txBox="1"/>
          <p:nvPr/>
        </p:nvSpPr>
        <p:spPr>
          <a:xfrm>
            <a:off x="2586609" y="376732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2.0</a:t>
            </a:r>
          </a:p>
        </p:txBody>
      </p:sp>
      <p:sp>
        <p:nvSpPr>
          <p:cNvPr id="51" name="fin5:actual"/>
          <p:cNvSpPr txBox="1"/>
          <p:nvPr/>
        </p:nvSpPr>
        <p:spPr>
          <a:xfrm>
            <a:off x="3347847" y="3767328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0.0</a:t>
            </a:r>
          </a:p>
        </p:txBody>
      </p:sp>
      <p:sp>
        <p:nvSpPr>
          <p:cNvPr id="52" name="fin5:forecast"/>
          <p:cNvSpPr txBox="1"/>
          <p:nvPr/>
        </p:nvSpPr>
        <p:spPr>
          <a:xfrm>
            <a:off x="4278249" y="3767328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0.8</a:t>
            </a:r>
          </a:p>
        </p:txBody>
      </p:sp>
      <p:sp>
        <p:nvSpPr>
          <p:cNvPr id="53" name="fin5:variance"/>
          <p:cNvSpPr txBox="1"/>
          <p:nvPr/>
        </p:nvSpPr>
        <p:spPr>
          <a:xfrm>
            <a:off x="5081778" y="3767328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1F8A5B"/>
                </a:solidFill>
                <a:latin typeface="Calibri"/>
              </a:rPr>
              <a:t>-1.2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301484" y="3936492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55" name="marker:fin5var"/>
          <p:cNvSpPr/>
          <p:nvPr/>
        </p:nvSpPr>
        <p:spPr>
          <a:xfrm>
            <a:off x="5843016" y="3936492"/>
            <a:ext cx="1458468" cy="137160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surface:fin6"/>
          <p:cNvSpPr/>
          <p:nvPr/>
        </p:nvSpPr>
        <p:spPr>
          <a:xfrm>
            <a:off x="365760" y="4242816"/>
            <a:ext cx="8458200" cy="47548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fin6:category"/>
          <p:cNvSpPr txBox="1"/>
          <p:nvPr/>
        </p:nvSpPr>
        <p:spPr>
          <a:xfrm>
            <a:off x="429768" y="4242816"/>
            <a:ext cx="2028825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Total programme cost</a:t>
            </a:r>
          </a:p>
        </p:txBody>
      </p:sp>
      <p:sp>
        <p:nvSpPr>
          <p:cNvPr id="58" name="fin6:budget"/>
          <p:cNvSpPr txBox="1"/>
          <p:nvPr/>
        </p:nvSpPr>
        <p:spPr>
          <a:xfrm>
            <a:off x="2586609" y="424281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24.1</a:t>
            </a:r>
          </a:p>
        </p:txBody>
      </p:sp>
      <p:sp>
        <p:nvSpPr>
          <p:cNvPr id="59" name="fin6:actual"/>
          <p:cNvSpPr txBox="1"/>
          <p:nvPr/>
        </p:nvSpPr>
        <p:spPr>
          <a:xfrm>
            <a:off x="3347847" y="4242816"/>
            <a:ext cx="802386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12.7</a:t>
            </a:r>
          </a:p>
        </p:txBody>
      </p:sp>
      <p:sp>
        <p:nvSpPr>
          <p:cNvPr id="60" name="fin6:forecast"/>
          <p:cNvSpPr txBox="1"/>
          <p:nvPr/>
        </p:nvSpPr>
        <p:spPr>
          <a:xfrm>
            <a:off x="4278249" y="4242816"/>
            <a:ext cx="675513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24.1</a:t>
            </a:r>
          </a:p>
        </p:txBody>
      </p:sp>
      <p:sp>
        <p:nvSpPr>
          <p:cNvPr id="61" name="fin6:variance"/>
          <p:cNvSpPr txBox="1"/>
          <p:nvPr/>
        </p:nvSpPr>
        <p:spPr>
          <a:xfrm>
            <a:off x="5081778" y="4242816"/>
            <a:ext cx="633222" cy="47548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-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301484" y="4411980"/>
            <a:ext cx="0" cy="137160"/>
          </a:xfrm>
          <a:prstGeom prst="line">
            <a:avLst/>
          </a:prstGeom>
          <a:ln w="9525">
            <a:solidFill>
              <a:srgbClr val="A0A1A3"/>
            </a:solidFill>
          </a:ln>
          <a:effectLst/>
        </p:spPr>
      </p:cxnSp>
      <p:sp>
        <p:nvSpPr>
          <p:cNvPr id="63" name="gauge0:label"/>
          <p:cNvSpPr txBox="1"/>
          <p:nvPr/>
        </p:nvSpPr>
        <p:spPr>
          <a:xfrm>
            <a:off x="365760" y="4828032"/>
            <a:ext cx="160020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Contingency drawn</a:t>
            </a:r>
          </a:p>
        </p:txBody>
      </p:sp>
      <p:sp>
        <p:nvSpPr>
          <p:cNvPr id="64" name="gauge0:track"/>
          <p:cNvSpPr/>
          <p:nvPr/>
        </p:nvSpPr>
        <p:spPr>
          <a:xfrm>
            <a:off x="1965960" y="4828032"/>
            <a:ext cx="6382512" cy="146304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marker:gauge0fill"/>
          <p:cNvSpPr/>
          <p:nvPr/>
        </p:nvSpPr>
        <p:spPr>
          <a:xfrm>
            <a:off x="1965960" y="4828032"/>
            <a:ext cx="3829507" cy="14630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gauge0:value"/>
          <p:cNvSpPr txBox="1"/>
          <p:nvPr/>
        </p:nvSpPr>
        <p:spPr>
          <a:xfrm>
            <a:off x="8412480" y="4828032"/>
            <a:ext cx="41148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60%</a:t>
            </a:r>
          </a:p>
        </p:txBody>
      </p:sp>
      <p:sp>
        <p:nvSpPr>
          <p:cNvPr id="67" name="gauge1:label"/>
          <p:cNvSpPr txBox="1"/>
          <p:nvPr/>
        </p:nvSpPr>
        <p:spPr>
          <a:xfrm>
            <a:off x="365760" y="5084064"/>
            <a:ext cx="160020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Programme elapsed</a:t>
            </a:r>
          </a:p>
        </p:txBody>
      </p:sp>
      <p:sp>
        <p:nvSpPr>
          <p:cNvPr id="68" name="gauge1:track"/>
          <p:cNvSpPr/>
          <p:nvPr/>
        </p:nvSpPr>
        <p:spPr>
          <a:xfrm>
            <a:off x="1965960" y="5084064"/>
            <a:ext cx="6382512" cy="146304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gauge1fill"/>
          <p:cNvSpPr/>
          <p:nvPr/>
        </p:nvSpPr>
        <p:spPr>
          <a:xfrm>
            <a:off x="1965960" y="5084064"/>
            <a:ext cx="3659778" cy="146304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gauge1:value"/>
          <p:cNvSpPr txBox="1"/>
          <p:nvPr/>
        </p:nvSpPr>
        <p:spPr>
          <a:xfrm>
            <a:off x="8412480" y="5084064"/>
            <a:ext cx="411480" cy="14630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57%</a:t>
            </a:r>
          </a:p>
        </p:txBody>
      </p:sp>
      <p:sp>
        <p:nvSpPr>
          <p:cNvPr id="7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External advisory carries the largest overrun at +0.7 EUR m, owned by Felix Aumann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Transition, travel and training is the second at +0.5 EUR m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0.8 EUR m of contingency remains against 2.0 EUR m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</p:txBody>
      </p:sp>
      <p:sp>
        <p:nvSpPr>
          <p:cNvPr id="7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109728" indent="-109728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109728" indent="-109728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09728" indent="-109728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6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37810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GBS - Project Meridian</dc:title>
  <dc:subject>Global business services transformation</dc:subject>
  <dc:creator>Northwind GBS - Project Meridian</dc:creator>
  <cp:keywords>2026-W35</cp:keywords>
  <dc:description>Generated by deckpilot for week 2026-W35</dc:description>
  <cp:lastModifiedBy>deckpilot</cp:lastModifiedBy>
  <cp:revision>1</cp:revision>
  <dcterms:created xsi:type="dcterms:W3CDTF">2026-08-28T00:00:00Z</dcterms:created>
  <dcterms:modified xsi:type="dcterms:W3CDTF">2026-08-28T00:00:00Z</dcterms:modified>
  <cp:category/>
</cp:coreProperties>
</file>