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on the verdict: 7 of 12 sub-streams on track, 4 amber, 1 red. Gate 3 on 11 September is at risk.</a:t>
            </a:r>
          </a:p>
          <a:p/>
          <a:p>
            <a:r>
              <a:t>The exposure sits in Purchase to Pay, Organisation &amp; Role Design, Master Data &amp; Controls. Take the decisions in order - the first two are the ones that move Gate 3 if they are taken this month.</a:t>
            </a:r>
          </a:p>
          <a:p/>
          <a:p>
            <a:r>
              <a:t>Expect to be challenged on whether the gate can hold with a conditional pass. The answer is in the appendix: the high-severity items and their owners are listed there with dates.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work package is rated by its worst sub-stream, not by an average - Process Standardisation is red on that basis even though it is 63% complete overall.</a:t>
            </a:r>
          </a:p>
          <a:p/>
          <a:p>
            <a:r>
              <a:t>Walk the red and amber cards only. The green ones are on the slide so the committee can see they were looked at, not so they can be talked through.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 high-severity items are open across 6 owners: Anneke de Vries, Chiara Bellandi, Daniel Okonkwo, Marcus Adeyemi, Tobias Lindqvist, Yusuf Demirci.</a:t>
            </a:r>
          </a:p>
          <a:p/>
          <a:p>
            <a:r>
              <a:t>This slide shows the worst three of each type. The full log is in the appendix; do not read it out, point at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marker on each bar is the delivery progress of the stream producing that benefit. A bar short of its marker means the work has been done and the benefit has not followed.</a:t>
            </a:r>
          </a:p>
          <a:p/>
          <a:p>
            <a:r>
              <a:t>Behind their delivery: Touchless invoice rate, Vendor master validation pass rate, Automation benefit realised.</a:t>
            </a:r>
          </a:p>
          <a:p/>
          <a:p>
            <a:r>
              <a:t>If asked why this is not measured against the calendar: benefits back-load, so a calendar yardstick marks every measure late until the build lands, and tells you nothing you can act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bridge reconciles: 42 EUR m less the levers gives 33.5 EUR m exactly.</a:t>
            </a:r>
          </a:p>
          <a:p/>
          <a:p>
            <a:r>
              <a:t>Say the axis is truncated before anyone asks - drawn from zero the levers would be slivers.</a:t>
            </a:r>
          </a:p>
          <a:p/>
          <a:p>
            <a:r>
              <a:t>Expect the challenge on confidence. 0.9 EUR m sits on low-confidence levers; that is the number to defend.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vertical line is the reporting date, 28 August. Everything left of it has happened.</a:t>
            </a:r>
          </a:p>
          <a:p/>
          <a:p>
            <a:r>
              <a:t>Red bars are the ones to talk to. Where a row shows two stacked bars the phases genuinely overlap - that is the constraint, not a drawing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column is a gate and the criteria it has to meet. Green columns are passed and closed.</a:t>
            </a:r>
          </a:p>
          <a:p/>
          <a:p>
            <a:r>
              <a:t>Spend the time on Gate 3: it is the only one at risk, and the criteria listed under it are what a conditional pass would have to waive.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Operating Model &amp; Service Design is led by Ines Vogelsang. The column to spend time on is Organisation &amp; Role Design, rated amber.</a:t>
            </a:r>
          </a:p>
          <a:p/>
          <a:p>
            <a:r>
              <a:t>Decisions this work package is asking for: Approve the retention framework for 34 critical knowledge holders before selection opens; Confirm whether the German consultation timetable may run in parallel with Dutch selection.</a:t>
            </a:r>
          </a:p>
          <a:p/>
          <a:p>
            <a:r>
              <a:t>The outcomes row is the charter commitment, not this week's position - the percentages under it are the 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Process Standardisation is led by Marcus Adeyemi. The column to spend time on is Purchase to Pay, rated red.</a:t>
            </a:r>
          </a:p>
          <a:p/>
          <a:p>
            <a:r>
              <a:t>Decisions this work package is asking for: Release two additional Group Tax analysts to P2P through October; Accept a Gate 3 conditional pass for P2P, or move the gate for all of WP2; Fund three additional data stewards through the cleansing window to protect the migration cut-off.</a:t>
            </a:r>
          </a:p>
          <a:p/>
          <a:p>
            <a:r>
              <a:t>The outcomes row is the charter commitment, not this week's position - the percentages under it are the 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Technology &amp; Automation is led by Rahul Menon. The column to spend time on is Workflow &amp; Intelligent Automation, rated amber.</a:t>
            </a:r>
          </a:p>
          <a:p/>
          <a:p>
            <a:r>
              <a:t>Decisions this work package is asking for: Confirm whether the four re-scoped P2P automations move to wave 2 or drop from scope.</a:t>
            </a:r>
          </a:p>
          <a:p/>
          <a:p>
            <a:r>
              <a:t>The outcomes row is the charter commitment, not this week's position - the percentages under it are the 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Steering committee meets monthly, third thursday; the programme board runs weekly programme board, tuesday.</a:t>
            </a:r>
          </a:p>
          <a:p/>
          <a:p>
            <a:r>
              <a:t>Use this slide only if the escalation path is questioned. Work package leads hold delegated authority; anything above that comes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only. Do not present these slides; turn to them when an item is questioned.</a:t>
            </a:r>
          </a:p>
          <a:p/>
          <a:p>
            <a:r>
              <a:t>Page 1 of 2 of the full 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only. Do not present these slides; turn to them when an item is questioned.</a:t>
            </a:r>
          </a:p>
          <a:p/>
          <a:p>
            <a:r>
              <a:t>Page 2 of 2 of the full 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1146048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Purchase to Pay is red and holds Gate 3; the other 11 sub-streams clear it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1146048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Northwind GBS - Project Meridian | Executive summary | Week 2026-W35</a:t>
            </a:r>
          </a:p>
        </p:txBody>
      </p:sp>
      <p:sp>
        <p:nvSpPr>
          <p:cNvPr id="4" name="verdict:box"/>
          <p:cNvSpPr/>
          <p:nvPr/>
        </p:nvSpPr>
        <p:spPr>
          <a:xfrm>
            <a:off x="365760" y="1133856"/>
            <a:ext cx="1146048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verdict:rag"/>
          <p:cNvSpPr/>
          <p:nvPr/>
        </p:nvSpPr>
        <p:spPr>
          <a:xfrm>
            <a:off x="365760" y="1133856"/>
            <a:ext cx="1188720" cy="960120"/>
          </a:xfrm>
          <a:prstGeom prst="rect">
            <a:avLst/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verdict:ragtext"/>
          <p:cNvSpPr txBox="1"/>
          <p:nvPr/>
        </p:nvSpPr>
        <p:spPr>
          <a:xfrm>
            <a:off x="365760" y="1133856"/>
            <a:ext cx="1188720" cy="960120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RED</a:t>
            </a:r>
          </a:p>
        </p:txBody>
      </p:sp>
      <p:sp>
        <p:nvSpPr>
          <p:cNvPr id="7" name="verdict:text"/>
          <p:cNvSpPr txBox="1"/>
          <p:nvPr/>
        </p:nvSpPr>
        <p:spPr>
          <a:xfrm>
            <a:off x="1664208" y="1133856"/>
            <a:ext cx="10052304" cy="96012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7 of 12 sub-streams on track, 4 amber, 1 red. Gate 3 on 11 September is at risk.</a:t>
            </a:r>
          </a:p>
        </p:txBody>
      </p:sp>
      <p:sp>
        <p:nvSpPr>
          <p:cNvPr id="8" name="msg0:box"/>
          <p:cNvSpPr/>
          <p:nvPr/>
        </p:nvSpPr>
        <p:spPr>
          <a:xfrm>
            <a:off x="365760" y="2221992"/>
            <a:ext cx="3728720" cy="1012850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msg0:head"/>
          <p:cNvSpPr/>
          <p:nvPr/>
        </p:nvSpPr>
        <p:spPr>
          <a:xfrm>
            <a:off x="365760" y="2221992"/>
            <a:ext cx="3728720" cy="237744"/>
          </a:xfrm>
          <a:prstGeom prst="rect">
            <a:avLst/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msg0:heading"/>
          <p:cNvSpPr txBox="1"/>
          <p:nvPr/>
        </p:nvSpPr>
        <p:spPr>
          <a:xfrm>
            <a:off x="475488" y="2221992"/>
            <a:ext cx="3509264" cy="237744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Purchase to Pay</a:t>
            </a:r>
          </a:p>
        </p:txBody>
      </p:sp>
      <p:sp>
        <p:nvSpPr>
          <p:cNvPr id="11" name="msg0:detail"/>
          <p:cNvSpPr txBox="1"/>
          <p:nvPr/>
        </p:nvSpPr>
        <p:spPr>
          <a:xfrm>
            <a:off x="475488" y="2569464"/>
            <a:ext cx="3509264" cy="55565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92000"/>
              </a:lnSpc>
            </a:pPr>
            <a:r>
              <a:rPr sz="950" b="0">
                <a:solidFill>
                  <a:srgbClr val="2B2E33"/>
                </a:solidFill>
                <a:latin typeface="Calibri"/>
              </a:rPr>
              <a:t>Country tax variants were underestimated at design; build slips past Gate 3 without additional Group Tax capacity. 52% complete.</a:t>
            </a:r>
          </a:p>
        </p:txBody>
      </p:sp>
      <p:sp>
        <p:nvSpPr>
          <p:cNvPr id="12" name="msg1:box"/>
          <p:cNvSpPr/>
          <p:nvPr/>
        </p:nvSpPr>
        <p:spPr>
          <a:xfrm>
            <a:off x="4231640" y="2221992"/>
            <a:ext cx="3728720" cy="1012850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msg1:head"/>
          <p:cNvSpPr/>
          <p:nvPr/>
        </p:nvSpPr>
        <p:spPr>
          <a:xfrm>
            <a:off x="4231640" y="2221992"/>
            <a:ext cx="3728720" cy="237744"/>
          </a:xfrm>
          <a:prstGeom prst="rect">
            <a:avLst/>
          </a:prstGeom>
          <a:solidFill>
            <a:srgbClr val="D89A1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msg1:heading"/>
          <p:cNvSpPr txBox="1"/>
          <p:nvPr/>
        </p:nvSpPr>
        <p:spPr>
          <a:xfrm>
            <a:off x="4341368" y="2221992"/>
            <a:ext cx="3509264" cy="237744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1">
                <a:solidFill>
                  <a:srgbClr val="2B2E33"/>
                </a:solidFill>
                <a:latin typeface="Calibri"/>
              </a:rPr>
              <a:t>Knowledge Transfer &amp; Migration</a:t>
            </a:r>
          </a:p>
        </p:txBody>
      </p:sp>
      <p:sp>
        <p:nvSpPr>
          <p:cNvPr id="15" name="msg1:detail"/>
          <p:cNvSpPr txBox="1"/>
          <p:nvPr/>
        </p:nvSpPr>
        <p:spPr>
          <a:xfrm>
            <a:off x="4341368" y="2569464"/>
            <a:ext cx="3509264" cy="55565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92000"/>
              </a:lnSpc>
            </a:pPr>
            <a:r>
              <a:rPr sz="950" b="0">
                <a:solidFill>
                  <a:srgbClr val="2B2E33"/>
                </a:solidFill>
                <a:latin typeface="Calibri"/>
              </a:rPr>
              <a:t>Wave 1 started on time, but wave 2 and 3 now overlap by seven weeks and hub trainer capacity is the constraint. 44% complete.</a:t>
            </a:r>
          </a:p>
        </p:txBody>
      </p:sp>
      <p:sp>
        <p:nvSpPr>
          <p:cNvPr id="16" name="msg2:box"/>
          <p:cNvSpPr/>
          <p:nvPr/>
        </p:nvSpPr>
        <p:spPr>
          <a:xfrm>
            <a:off x="8097520" y="2221992"/>
            <a:ext cx="3728720" cy="1012850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msg2:head"/>
          <p:cNvSpPr/>
          <p:nvPr/>
        </p:nvSpPr>
        <p:spPr>
          <a:xfrm>
            <a:off x="8097520" y="2221992"/>
            <a:ext cx="3728720" cy="237744"/>
          </a:xfrm>
          <a:prstGeom prst="rect">
            <a:avLst/>
          </a:prstGeom>
          <a:solidFill>
            <a:srgbClr val="D89A1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msg2:heading"/>
          <p:cNvSpPr txBox="1"/>
          <p:nvPr/>
        </p:nvSpPr>
        <p:spPr>
          <a:xfrm>
            <a:off x="8207248" y="2221992"/>
            <a:ext cx="3509264" cy="237744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1">
                <a:solidFill>
                  <a:srgbClr val="2B2E33"/>
                </a:solidFill>
                <a:latin typeface="Calibri"/>
              </a:rPr>
              <a:t>Workflow &amp; Intelligent Automation</a:t>
            </a:r>
          </a:p>
        </p:txBody>
      </p:sp>
      <p:sp>
        <p:nvSpPr>
          <p:cNvPr id="19" name="msg2:detail"/>
          <p:cNvSpPr txBox="1"/>
          <p:nvPr/>
        </p:nvSpPr>
        <p:spPr>
          <a:xfrm>
            <a:off x="8207248" y="2569464"/>
            <a:ext cx="3509264" cy="55565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92000"/>
              </a:lnSpc>
            </a:pPr>
            <a:r>
              <a:rPr sz="950" b="0">
                <a:solidFill>
                  <a:srgbClr val="2B2E33"/>
                </a:solidFill>
                <a:latin typeface="Calibri"/>
              </a:rPr>
              <a:t>Wave 1 is four automations behind because P2P design reopened; wave 2 scope is protected. 55% complete.</a:t>
            </a:r>
          </a:p>
        </p:txBody>
      </p:sp>
      <p:sp>
        <p:nvSpPr>
          <p:cNvPr id="20" name="decisions:box"/>
          <p:cNvSpPr/>
          <p:nvPr/>
        </p:nvSpPr>
        <p:spPr>
          <a:xfrm>
            <a:off x="365760" y="3362858"/>
            <a:ext cx="11460480" cy="1161491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decisions:label"/>
          <p:cNvSpPr txBox="1"/>
          <p:nvPr/>
        </p:nvSpPr>
        <p:spPr>
          <a:xfrm>
            <a:off x="475488" y="3417722"/>
            <a:ext cx="11241024" cy="201168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>
                <a:solidFill>
                  <a:srgbClr val="6E5B8E"/>
                </a:solidFill>
                <a:latin typeface="Calibri"/>
              </a:rPr>
              <a:t>DECISIONS NEEDED</a:t>
            </a:r>
          </a:p>
        </p:txBody>
      </p:sp>
      <p:sp>
        <p:nvSpPr>
          <p:cNvPr id="22" name="decisions:body"/>
          <p:cNvSpPr txBox="1"/>
          <p:nvPr/>
        </p:nvSpPr>
        <p:spPr>
          <a:xfrm>
            <a:off x="475488" y="3618890"/>
            <a:ext cx="11241024" cy="850595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50" b="0">
                <a:solidFill>
                  <a:srgbClr val="2B2E33"/>
                </a:solidFill>
                <a:latin typeface="Calibri"/>
              </a:rPr>
              <a:t>Approve the retention framework for 34 critical knowledge holders before selection opens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50" b="0">
                <a:solidFill>
                  <a:srgbClr val="2B2E33"/>
                </a:solidFill>
                <a:latin typeface="Calibri"/>
              </a:rPr>
              <a:t>Confirm whether the German consultation timetable may run in parallel with Dutch selection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50" b="0">
                <a:solidFill>
                  <a:srgbClr val="2B2E33"/>
                </a:solidFill>
                <a:latin typeface="Calibri"/>
              </a:rPr>
              <a:t>Release two additional Group Tax analysts to P2P through October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950" b="0">
                <a:solidFill>
                  <a:srgbClr val="2B2E33"/>
                </a:solidFill>
                <a:latin typeface="Calibri"/>
              </a:rPr>
              <a:t>Accept a Gate 3 conditional pass for P2P, or move the gate for all of WP2</a:t>
            </a:r>
          </a:p>
        </p:txBody>
      </p:sp>
      <p:sp>
        <p:nvSpPr>
          <p:cNvPr id="23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24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1146048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Contents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1146048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Northwind GBS - Project Meridian | Week 2026-W35 | 19 slides</a:t>
            </a:r>
          </a:p>
        </p:txBody>
      </p:sp>
      <p:sp>
        <p:nvSpPr>
          <p:cNvPr id="4" name="surface:agenda0"/>
          <p:cNvSpPr/>
          <p:nvPr/>
        </p:nvSpPr>
        <p:spPr>
          <a:xfrm>
            <a:off x="365760" y="1133856"/>
            <a:ext cx="11460480" cy="786384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entry0:number"/>
          <p:cNvSpPr txBox="1"/>
          <p:nvPr/>
        </p:nvSpPr>
        <p:spPr>
          <a:xfrm>
            <a:off x="493776" y="1133856"/>
            <a:ext cx="566928" cy="786384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39EAE"/>
                </a:solidFill>
                <a:latin typeface="Calibri"/>
              </a:rPr>
              <a:t>1</a:t>
            </a:r>
          </a:p>
        </p:txBody>
      </p:sp>
      <p:sp>
        <p:nvSpPr>
          <p:cNvPr id="6" name="entry0:title"/>
          <p:cNvSpPr txBox="1"/>
          <p:nvPr/>
        </p:nvSpPr>
        <p:spPr>
          <a:xfrm>
            <a:off x="1060704" y="1298448"/>
            <a:ext cx="9869424" cy="27432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Where we stand</a:t>
            </a:r>
          </a:p>
        </p:txBody>
      </p:sp>
      <p:sp>
        <p:nvSpPr>
          <p:cNvPr id="7" name="entry0:caption"/>
          <p:cNvSpPr txBox="1"/>
          <p:nvPr/>
        </p:nvSpPr>
        <p:spPr>
          <a:xfrm>
            <a:off x="1060704" y="1572768"/>
            <a:ext cx="9869424" cy="18288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Work package status and the open RAID position</a:t>
            </a:r>
          </a:p>
        </p:txBody>
      </p:sp>
      <p:sp>
        <p:nvSpPr>
          <p:cNvPr id="8" name="entry0:page"/>
          <p:cNvSpPr txBox="1"/>
          <p:nvPr/>
        </p:nvSpPr>
        <p:spPr>
          <a:xfrm>
            <a:off x="11058144" y="1133856"/>
            <a:ext cx="640080" cy="786384"/>
          </a:xfrm>
          <a:prstGeom prst="rect">
            <a:avLst/>
          </a:prstGeom>
          <a:noFill/>
        </p:spPr>
        <p:txBody>
          <a:bodyPr wrap="none" rIns="64008" anchor="ctr" l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3</a:t>
            </a:r>
          </a:p>
        </p:txBody>
      </p:sp>
      <p:sp>
        <p:nvSpPr>
          <p:cNvPr id="9" name="entry1:number"/>
          <p:cNvSpPr txBox="1"/>
          <p:nvPr/>
        </p:nvSpPr>
        <p:spPr>
          <a:xfrm>
            <a:off x="493776" y="1920240"/>
            <a:ext cx="566928" cy="786384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39EAE"/>
                </a:solidFill>
                <a:latin typeface="Calibri"/>
              </a:rPr>
              <a:t>2</a:t>
            </a:r>
          </a:p>
        </p:txBody>
      </p:sp>
      <p:sp>
        <p:nvSpPr>
          <p:cNvPr id="10" name="entry1:title"/>
          <p:cNvSpPr txBox="1"/>
          <p:nvPr/>
        </p:nvSpPr>
        <p:spPr>
          <a:xfrm>
            <a:off x="1060704" y="2084832"/>
            <a:ext cx="9869424" cy="27432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Delivery plan</a:t>
            </a:r>
          </a:p>
        </p:txBody>
      </p:sp>
      <p:sp>
        <p:nvSpPr>
          <p:cNvPr id="11" name="entry1:caption"/>
          <p:cNvSpPr txBox="1"/>
          <p:nvPr/>
        </p:nvSpPr>
        <p:spPr>
          <a:xfrm>
            <a:off x="1060704" y="2359152"/>
            <a:ext cx="9869424" cy="18288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The roadmap and the gates it has to clear</a:t>
            </a:r>
          </a:p>
        </p:txBody>
      </p:sp>
      <p:sp>
        <p:nvSpPr>
          <p:cNvPr id="12" name="entry1:page"/>
          <p:cNvSpPr txBox="1"/>
          <p:nvPr/>
        </p:nvSpPr>
        <p:spPr>
          <a:xfrm>
            <a:off x="11058144" y="1920240"/>
            <a:ext cx="640080" cy="786384"/>
          </a:xfrm>
          <a:prstGeom prst="rect">
            <a:avLst/>
          </a:prstGeom>
          <a:noFill/>
        </p:spPr>
        <p:txBody>
          <a:bodyPr wrap="none" rIns="64008" anchor="ctr" l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8</a:t>
            </a:r>
          </a:p>
        </p:txBody>
      </p:sp>
      <p:sp>
        <p:nvSpPr>
          <p:cNvPr id="13" name="surface:agenda2"/>
          <p:cNvSpPr/>
          <p:nvPr/>
        </p:nvSpPr>
        <p:spPr>
          <a:xfrm>
            <a:off x="365760" y="2706624"/>
            <a:ext cx="11460480" cy="786384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entry2:number"/>
          <p:cNvSpPr txBox="1"/>
          <p:nvPr/>
        </p:nvSpPr>
        <p:spPr>
          <a:xfrm>
            <a:off x="493776" y="2706624"/>
            <a:ext cx="566928" cy="786384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39EAE"/>
                </a:solidFill>
                <a:latin typeface="Calibri"/>
              </a:rPr>
              <a:t>3</a:t>
            </a:r>
          </a:p>
        </p:txBody>
      </p:sp>
      <p:sp>
        <p:nvSpPr>
          <p:cNvPr id="15" name="entry2:title"/>
          <p:cNvSpPr txBox="1"/>
          <p:nvPr/>
        </p:nvSpPr>
        <p:spPr>
          <a:xfrm>
            <a:off x="1060704" y="2871216"/>
            <a:ext cx="9869424" cy="27432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Work packages</a:t>
            </a:r>
          </a:p>
        </p:txBody>
      </p:sp>
      <p:sp>
        <p:nvSpPr>
          <p:cNvPr id="16" name="entry2:caption"/>
          <p:cNvSpPr txBox="1"/>
          <p:nvPr/>
        </p:nvSpPr>
        <p:spPr>
          <a:xfrm>
            <a:off x="1060704" y="3145536"/>
            <a:ext cx="9869424" cy="18288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Charter and current position for each work package</a:t>
            </a:r>
          </a:p>
        </p:txBody>
      </p:sp>
      <p:sp>
        <p:nvSpPr>
          <p:cNvPr id="17" name="entry2:page"/>
          <p:cNvSpPr txBox="1"/>
          <p:nvPr/>
        </p:nvSpPr>
        <p:spPr>
          <a:xfrm>
            <a:off x="11058144" y="2706624"/>
            <a:ext cx="640080" cy="786384"/>
          </a:xfrm>
          <a:prstGeom prst="rect">
            <a:avLst/>
          </a:prstGeom>
          <a:noFill/>
        </p:spPr>
        <p:txBody>
          <a:bodyPr wrap="none" rIns="64008" anchor="ctr" l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11</a:t>
            </a:r>
          </a:p>
        </p:txBody>
      </p:sp>
      <p:sp>
        <p:nvSpPr>
          <p:cNvPr id="18" name="entry3:number"/>
          <p:cNvSpPr txBox="1"/>
          <p:nvPr/>
        </p:nvSpPr>
        <p:spPr>
          <a:xfrm>
            <a:off x="493776" y="3493008"/>
            <a:ext cx="566928" cy="786384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39EAE"/>
                </a:solidFill>
                <a:latin typeface="Calibri"/>
              </a:rPr>
              <a:t>4</a:t>
            </a:r>
          </a:p>
        </p:txBody>
      </p:sp>
      <p:sp>
        <p:nvSpPr>
          <p:cNvPr id="19" name="entry3:title"/>
          <p:cNvSpPr txBox="1"/>
          <p:nvPr/>
        </p:nvSpPr>
        <p:spPr>
          <a:xfrm>
            <a:off x="1060704" y="3657600"/>
            <a:ext cx="9869424" cy="27432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Governance</a:t>
            </a:r>
          </a:p>
        </p:txBody>
      </p:sp>
      <p:sp>
        <p:nvSpPr>
          <p:cNvPr id="20" name="entry3:caption"/>
          <p:cNvSpPr txBox="1"/>
          <p:nvPr/>
        </p:nvSpPr>
        <p:spPr>
          <a:xfrm>
            <a:off x="1060704" y="3931920"/>
            <a:ext cx="9869424" cy="18288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Who decides, who delivers, and who has to be consulted</a:t>
            </a:r>
          </a:p>
        </p:txBody>
      </p:sp>
      <p:sp>
        <p:nvSpPr>
          <p:cNvPr id="21" name="entry3:page"/>
          <p:cNvSpPr txBox="1"/>
          <p:nvPr/>
        </p:nvSpPr>
        <p:spPr>
          <a:xfrm>
            <a:off x="11058144" y="3493008"/>
            <a:ext cx="640080" cy="786384"/>
          </a:xfrm>
          <a:prstGeom prst="rect">
            <a:avLst/>
          </a:prstGeom>
          <a:noFill/>
        </p:spPr>
        <p:txBody>
          <a:bodyPr wrap="none" rIns="64008" anchor="ctr" l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15</a:t>
            </a:r>
          </a:p>
        </p:txBody>
      </p:sp>
      <p:sp>
        <p:nvSpPr>
          <p:cNvPr id="22" name="surface:agenda4"/>
          <p:cNvSpPr/>
          <p:nvPr/>
        </p:nvSpPr>
        <p:spPr>
          <a:xfrm>
            <a:off x="365760" y="4279392"/>
            <a:ext cx="11460480" cy="786384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entry4:number"/>
          <p:cNvSpPr txBox="1"/>
          <p:nvPr/>
        </p:nvSpPr>
        <p:spPr>
          <a:xfrm>
            <a:off x="493776" y="4279392"/>
            <a:ext cx="566928" cy="786384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39EAE"/>
                </a:solidFill>
                <a:latin typeface="Calibri"/>
              </a:rPr>
              <a:t>5</a:t>
            </a:r>
          </a:p>
        </p:txBody>
      </p:sp>
      <p:sp>
        <p:nvSpPr>
          <p:cNvPr id="24" name="entry4:title"/>
          <p:cNvSpPr txBox="1"/>
          <p:nvPr/>
        </p:nvSpPr>
        <p:spPr>
          <a:xfrm>
            <a:off x="1060704" y="4443984"/>
            <a:ext cx="9869424" cy="27432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Appendix</a:t>
            </a:r>
          </a:p>
        </p:txBody>
      </p:sp>
      <p:sp>
        <p:nvSpPr>
          <p:cNvPr id="25" name="entry4:caption"/>
          <p:cNvSpPr txBox="1"/>
          <p:nvPr/>
        </p:nvSpPr>
        <p:spPr>
          <a:xfrm>
            <a:off x="1060704" y="4718304"/>
            <a:ext cx="9869424" cy="18288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The full RAID log, in support of the position above</a:t>
            </a:r>
          </a:p>
        </p:txBody>
      </p:sp>
      <p:sp>
        <p:nvSpPr>
          <p:cNvPr id="26" name="entry4:page"/>
          <p:cNvSpPr txBox="1"/>
          <p:nvPr/>
        </p:nvSpPr>
        <p:spPr>
          <a:xfrm>
            <a:off x="11058144" y="4279392"/>
            <a:ext cx="640080" cy="786384"/>
          </a:xfrm>
          <a:prstGeom prst="rect">
            <a:avLst/>
          </a:prstGeom>
          <a:noFill/>
        </p:spPr>
        <p:txBody>
          <a:bodyPr wrap="none" rIns="64008" anchor="ctr" l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17</a:t>
            </a:r>
          </a:p>
        </p:txBody>
      </p:sp>
      <p:sp>
        <p:nvSpPr>
          <p:cNvPr id="27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28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leed: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bleed:accent"/>
          <p:cNvSpPr/>
          <p:nvPr/>
        </p:nvSpPr>
        <p:spPr>
          <a:xfrm>
            <a:off x="7071360" y="1280160"/>
            <a:ext cx="6583680" cy="6583680"/>
          </a:xfrm>
          <a:prstGeom prst="ellipse">
            <a:avLst/>
          </a:prstGeom>
          <a:solidFill>
            <a:srgbClr val="473D5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section:number"/>
          <p:cNvSpPr txBox="1"/>
          <p:nvPr/>
        </p:nvSpPr>
        <p:spPr>
          <a:xfrm>
            <a:off x="914400" y="1920240"/>
            <a:ext cx="2743200" cy="1755648"/>
          </a:xfrm>
          <a:prstGeom prst="rect">
            <a:avLst/>
          </a:prstGeom>
          <a:noFill/>
        </p:spPr>
        <p:txBody>
          <a:bodyPr wrap="square" anchor="ctr" lIns="0" rIns="0" tIns="64008" bIns="64008">
            <a:spAutoFit/>
          </a:bodyPr>
          <a:lstStyle/>
          <a:p>
            <a:pPr algn="l">
              <a:lnSpc>
                <a:spcPct val="85000"/>
              </a:lnSpc>
            </a:pPr>
            <a:r>
              <a:rPr sz="12350" b="1">
                <a:solidFill>
                  <a:srgbClr val="898296"/>
                </a:solidFill>
                <a:latin typeface="Calibri"/>
              </a:rPr>
              <a:t>1</a:t>
            </a:r>
          </a:p>
        </p:txBody>
      </p:sp>
      <p:sp>
        <p:nvSpPr>
          <p:cNvPr id="5" name="section:title"/>
          <p:cNvSpPr txBox="1"/>
          <p:nvPr/>
        </p:nvSpPr>
        <p:spPr>
          <a:xfrm>
            <a:off x="914400" y="3675888"/>
            <a:ext cx="6766560" cy="512064"/>
          </a:xfrm>
          <a:prstGeom prst="rect">
            <a:avLst/>
          </a:prstGeom>
          <a:noFill/>
        </p:spPr>
        <p:txBody>
          <a:bodyPr wrap="square" anchor="t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2450" b="1">
                <a:solidFill>
                  <a:srgbClr val="FFFFFF"/>
                </a:solidFill>
                <a:latin typeface="Calibri"/>
              </a:rPr>
              <a:t>Where we stand</a:t>
            </a:r>
          </a:p>
        </p:txBody>
      </p:sp>
      <p:sp>
        <p:nvSpPr>
          <p:cNvPr id="6" name="section:kicker"/>
          <p:cNvSpPr txBox="1"/>
          <p:nvPr/>
        </p:nvSpPr>
        <p:spPr>
          <a:xfrm>
            <a:off x="914400" y="4315968"/>
            <a:ext cx="6766560" cy="347472"/>
          </a:xfrm>
          <a:prstGeom prst="rect">
            <a:avLst/>
          </a:prstGeom>
          <a:noFill/>
        </p:spPr>
        <p:txBody>
          <a:bodyPr wrap="square" anchor="t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B1ADBA"/>
                </a:solidFill>
                <a:latin typeface="Calibri"/>
              </a:rPr>
              <a:t>Work package status and the open RAID position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845820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1 of 4 work packages is red; the rest hold their gate dates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845820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Work package status | Week 2026-W35 | Rated by worst sub-stream</a:t>
            </a:r>
          </a:p>
        </p:txBody>
      </p:sp>
      <p:sp>
        <p:nvSpPr>
          <p:cNvPr id="4" name="card0:box"/>
          <p:cNvSpPr/>
          <p:nvPr/>
        </p:nvSpPr>
        <p:spPr>
          <a:xfrm>
            <a:off x="365760" y="1133856"/>
            <a:ext cx="4160520" cy="246430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card0:head"/>
          <p:cNvSpPr/>
          <p:nvPr/>
        </p:nvSpPr>
        <p:spPr>
          <a:xfrm>
            <a:off x="365760" y="1133856"/>
            <a:ext cx="4160520" cy="31089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card0:badge"/>
          <p:cNvSpPr/>
          <p:nvPr/>
        </p:nvSpPr>
        <p:spPr>
          <a:xfrm>
            <a:off x="475488" y="117043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1</a:t>
            </a:r>
          </a:p>
        </p:txBody>
      </p:sp>
      <p:sp>
        <p:nvSpPr>
          <p:cNvPr id="7" name="card0:rag"/>
          <p:cNvSpPr/>
          <p:nvPr/>
        </p:nvSpPr>
        <p:spPr>
          <a:xfrm>
            <a:off x="4032504" y="1211580"/>
            <a:ext cx="384048" cy="155448"/>
          </a:xfrm>
          <a:prstGeom prst="roundRect">
            <a:avLst>
              <a:gd name="adj" fmla="val 10000"/>
            </a:avLst>
          </a:prstGeom>
          <a:solidFill>
            <a:srgbClr val="D89A1E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00" b="1">
                <a:solidFill>
                  <a:srgbClr val="2B2E33"/>
                </a:solidFill>
                <a:latin typeface="Calibri"/>
              </a:rPr>
              <a:t>AMBER</a:t>
            </a:r>
          </a:p>
        </p:txBody>
      </p:sp>
      <p:sp>
        <p:nvSpPr>
          <p:cNvPr id="8" name="card0:name"/>
          <p:cNvSpPr txBox="1"/>
          <p:nvPr/>
        </p:nvSpPr>
        <p:spPr>
          <a:xfrm>
            <a:off x="777240" y="1133856"/>
            <a:ext cx="3200400" cy="31089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Operating Model &amp; Service Design</a:t>
            </a:r>
          </a:p>
        </p:txBody>
      </p:sp>
      <p:sp>
        <p:nvSpPr>
          <p:cNvPr id="9" name="card0:track"/>
          <p:cNvSpPr/>
          <p:nvPr/>
        </p:nvSpPr>
        <p:spPr>
          <a:xfrm>
            <a:off x="475488" y="1554480"/>
            <a:ext cx="3465576" cy="128016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marker:card0fill"/>
          <p:cNvSpPr/>
          <p:nvPr/>
        </p:nvSpPr>
        <p:spPr>
          <a:xfrm>
            <a:off x="475488" y="1554480"/>
            <a:ext cx="2425903" cy="128016"/>
          </a:xfrm>
          <a:prstGeom prst="rect">
            <a:avLst/>
          </a:prstGeom>
          <a:solidFill>
            <a:srgbClr val="6E5B8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card0:pct"/>
          <p:cNvSpPr txBox="1"/>
          <p:nvPr/>
        </p:nvSpPr>
        <p:spPr>
          <a:xfrm>
            <a:off x="3995928" y="1554480"/>
            <a:ext cx="420624" cy="128016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70%</a:t>
            </a:r>
          </a:p>
        </p:txBody>
      </p:sp>
      <p:sp>
        <p:nvSpPr>
          <p:cNvPr id="12" name="card0:activities"/>
          <p:cNvSpPr txBox="1"/>
          <p:nvPr/>
        </p:nvSpPr>
        <p:spPr>
          <a:xfrm>
            <a:off x="475488" y="1773936"/>
            <a:ext cx="3941064" cy="144018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Works council consultation started two weeks late; selection window is now the binding constraint on Gate 4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Catalogue signed off in all five regions; focus moves to embedding SLAs in the service review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Both hubs contracted on plan; Krakow fit-out is the only remaining critical path item</a:t>
            </a:r>
          </a:p>
        </p:txBody>
      </p:sp>
      <p:sp>
        <p:nvSpPr>
          <p:cNvPr id="13" name="card0:next"/>
          <p:cNvSpPr txBox="1"/>
          <p:nvPr/>
        </p:nvSpPr>
        <p:spPr>
          <a:xfrm>
            <a:off x="475488" y="3214116"/>
            <a:ext cx="3941064" cy="27432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1">
                <a:solidFill>
                  <a:srgbClr val="6E5B8E"/>
                </a:solidFill>
                <a:latin typeface="Calibri"/>
              </a:rPr>
              <a:t>Next: Krakow fit-out handover on 16 Oct</a:t>
            </a:r>
          </a:p>
        </p:txBody>
      </p:sp>
      <p:sp>
        <p:nvSpPr>
          <p:cNvPr id="14" name="card1:box"/>
          <p:cNvSpPr/>
          <p:nvPr/>
        </p:nvSpPr>
        <p:spPr>
          <a:xfrm>
            <a:off x="4663440" y="1133856"/>
            <a:ext cx="4160520" cy="246430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card1:head"/>
          <p:cNvSpPr/>
          <p:nvPr/>
        </p:nvSpPr>
        <p:spPr>
          <a:xfrm>
            <a:off x="4663440" y="1133856"/>
            <a:ext cx="4160520" cy="31089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card1:badge"/>
          <p:cNvSpPr/>
          <p:nvPr/>
        </p:nvSpPr>
        <p:spPr>
          <a:xfrm>
            <a:off x="4773168" y="117043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2</a:t>
            </a:r>
          </a:p>
        </p:txBody>
      </p:sp>
      <p:sp>
        <p:nvSpPr>
          <p:cNvPr id="17" name="card1:rag"/>
          <p:cNvSpPr/>
          <p:nvPr/>
        </p:nvSpPr>
        <p:spPr>
          <a:xfrm>
            <a:off x="8330184" y="1211580"/>
            <a:ext cx="384048" cy="155448"/>
          </a:xfrm>
          <a:prstGeom prst="roundRect">
            <a:avLst>
              <a:gd name="adj" fmla="val 10000"/>
            </a:avLst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00" b="1">
                <a:solidFill>
                  <a:srgbClr val="FFFFFF"/>
                </a:solidFill>
                <a:latin typeface="Calibri"/>
              </a:rPr>
              <a:t>RED</a:t>
            </a:r>
          </a:p>
        </p:txBody>
      </p:sp>
      <p:sp>
        <p:nvSpPr>
          <p:cNvPr id="18" name="card1:name"/>
          <p:cNvSpPr txBox="1"/>
          <p:nvPr/>
        </p:nvSpPr>
        <p:spPr>
          <a:xfrm>
            <a:off x="5074920" y="1133856"/>
            <a:ext cx="3200400" cy="31089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Process Standardisation</a:t>
            </a:r>
          </a:p>
        </p:txBody>
      </p:sp>
      <p:sp>
        <p:nvSpPr>
          <p:cNvPr id="19" name="card1:track"/>
          <p:cNvSpPr/>
          <p:nvPr/>
        </p:nvSpPr>
        <p:spPr>
          <a:xfrm>
            <a:off x="4773168" y="1554480"/>
            <a:ext cx="3465576" cy="128016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marker:card1fill"/>
          <p:cNvSpPr/>
          <p:nvPr/>
        </p:nvSpPr>
        <p:spPr>
          <a:xfrm>
            <a:off x="4773168" y="1554480"/>
            <a:ext cx="2183312" cy="128016"/>
          </a:xfrm>
          <a:prstGeom prst="rect">
            <a:avLst/>
          </a:prstGeom>
          <a:solidFill>
            <a:srgbClr val="6E5B8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card1:pct"/>
          <p:cNvSpPr txBox="1"/>
          <p:nvPr/>
        </p:nvSpPr>
        <p:spPr>
          <a:xfrm>
            <a:off x="8293608" y="1554480"/>
            <a:ext cx="420624" cy="128016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63%</a:t>
            </a:r>
          </a:p>
        </p:txBody>
      </p:sp>
      <p:sp>
        <p:nvSpPr>
          <p:cNvPr id="22" name="card1:activities"/>
          <p:cNvSpPr txBox="1"/>
          <p:nvPr/>
        </p:nvSpPr>
        <p:spPr>
          <a:xfrm>
            <a:off x="4773168" y="1773936"/>
            <a:ext cx="3941064" cy="144018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Country tax variants were underestimated at design; build slips past Gate 3 without additional Group Tax capacity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Legacy data quality is worse than assumed at design; cleansing needs three more stewards to hold the WP4 cut-off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Control framework on track for Gate 3; pilot close scheduled for the October cycle</a:t>
            </a:r>
          </a:p>
        </p:txBody>
      </p:sp>
      <p:sp>
        <p:nvSpPr>
          <p:cNvPr id="23" name="card1:next"/>
          <p:cNvSpPr txBox="1"/>
          <p:nvPr/>
        </p:nvSpPr>
        <p:spPr>
          <a:xfrm>
            <a:off x="4773168" y="3214116"/>
            <a:ext cx="3941064" cy="27432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1">
                <a:solidFill>
                  <a:srgbClr val="6E5B8E"/>
                </a:solidFill>
                <a:latin typeface="Calibri"/>
              </a:rPr>
              <a:t>Next: Control framework complete on 11 Sep</a:t>
            </a:r>
          </a:p>
        </p:txBody>
      </p:sp>
      <p:sp>
        <p:nvSpPr>
          <p:cNvPr id="24" name="card2:box"/>
          <p:cNvSpPr/>
          <p:nvPr/>
        </p:nvSpPr>
        <p:spPr>
          <a:xfrm>
            <a:off x="365760" y="3735324"/>
            <a:ext cx="4160520" cy="246430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card2:head"/>
          <p:cNvSpPr/>
          <p:nvPr/>
        </p:nvSpPr>
        <p:spPr>
          <a:xfrm>
            <a:off x="365760" y="3735324"/>
            <a:ext cx="4160520" cy="31089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card2:badge"/>
          <p:cNvSpPr/>
          <p:nvPr/>
        </p:nvSpPr>
        <p:spPr>
          <a:xfrm>
            <a:off x="475488" y="3771900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3</a:t>
            </a:r>
          </a:p>
        </p:txBody>
      </p:sp>
      <p:sp>
        <p:nvSpPr>
          <p:cNvPr id="27" name="card2:rag"/>
          <p:cNvSpPr/>
          <p:nvPr/>
        </p:nvSpPr>
        <p:spPr>
          <a:xfrm>
            <a:off x="4032504" y="3813048"/>
            <a:ext cx="384048" cy="155448"/>
          </a:xfrm>
          <a:prstGeom prst="roundRect">
            <a:avLst>
              <a:gd name="adj" fmla="val 10000"/>
            </a:avLst>
          </a:prstGeom>
          <a:solidFill>
            <a:srgbClr val="D89A1E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00" b="1">
                <a:solidFill>
                  <a:srgbClr val="2B2E33"/>
                </a:solidFill>
                <a:latin typeface="Calibri"/>
              </a:rPr>
              <a:t>AMBER</a:t>
            </a:r>
          </a:p>
        </p:txBody>
      </p:sp>
      <p:sp>
        <p:nvSpPr>
          <p:cNvPr id="28" name="card2:name"/>
          <p:cNvSpPr txBox="1"/>
          <p:nvPr/>
        </p:nvSpPr>
        <p:spPr>
          <a:xfrm>
            <a:off x="777240" y="3735324"/>
            <a:ext cx="3200400" cy="31089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Technology &amp; Automation</a:t>
            </a:r>
          </a:p>
        </p:txBody>
      </p:sp>
      <p:sp>
        <p:nvSpPr>
          <p:cNvPr id="29" name="card2:track"/>
          <p:cNvSpPr/>
          <p:nvPr/>
        </p:nvSpPr>
        <p:spPr>
          <a:xfrm>
            <a:off x="475488" y="4155948"/>
            <a:ext cx="3465576" cy="128016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marker:card2fill"/>
          <p:cNvSpPr/>
          <p:nvPr/>
        </p:nvSpPr>
        <p:spPr>
          <a:xfrm>
            <a:off x="475488" y="4155948"/>
            <a:ext cx="2010034" cy="128016"/>
          </a:xfrm>
          <a:prstGeom prst="rect">
            <a:avLst/>
          </a:prstGeom>
          <a:solidFill>
            <a:srgbClr val="6E5B8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card2:pct"/>
          <p:cNvSpPr txBox="1"/>
          <p:nvPr/>
        </p:nvSpPr>
        <p:spPr>
          <a:xfrm>
            <a:off x="3995928" y="4155948"/>
            <a:ext cx="420624" cy="128016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58%</a:t>
            </a:r>
          </a:p>
        </p:txBody>
      </p:sp>
      <p:sp>
        <p:nvSpPr>
          <p:cNvPr id="32" name="card2:activities"/>
          <p:cNvSpPr txBox="1"/>
          <p:nvPr/>
        </p:nvSpPr>
        <p:spPr>
          <a:xfrm>
            <a:off x="475488" y="4375404"/>
            <a:ext cx="3941064" cy="144018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Wave 1 is four automations behind because P2P design reopened; wave 2 scope is protected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Template build completes into Gate 3; integration test scope agreed with all five regions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Design signed off against the KPI baseline; data layer build started on plan</a:t>
            </a:r>
          </a:p>
        </p:txBody>
      </p:sp>
      <p:sp>
        <p:nvSpPr>
          <p:cNvPr id="33" name="card2:next"/>
          <p:cNvSpPr txBox="1"/>
          <p:nvPr/>
        </p:nvSpPr>
        <p:spPr>
          <a:xfrm>
            <a:off x="475488" y="5815584"/>
            <a:ext cx="3941064" cy="27432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1">
                <a:solidFill>
                  <a:srgbClr val="6E5B8E"/>
                </a:solidFill>
                <a:latin typeface="Calibri"/>
              </a:rPr>
              <a:t>Next: ERP template build complete on 11 Sep</a:t>
            </a:r>
          </a:p>
        </p:txBody>
      </p:sp>
      <p:sp>
        <p:nvSpPr>
          <p:cNvPr id="34" name="card3:box"/>
          <p:cNvSpPr/>
          <p:nvPr/>
        </p:nvSpPr>
        <p:spPr>
          <a:xfrm>
            <a:off x="4663440" y="3735324"/>
            <a:ext cx="4160520" cy="246430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card3:head"/>
          <p:cNvSpPr/>
          <p:nvPr/>
        </p:nvSpPr>
        <p:spPr>
          <a:xfrm>
            <a:off x="4663440" y="3735324"/>
            <a:ext cx="4160520" cy="31089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card3:badge"/>
          <p:cNvSpPr/>
          <p:nvPr/>
        </p:nvSpPr>
        <p:spPr>
          <a:xfrm>
            <a:off x="4773168" y="3771900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4</a:t>
            </a:r>
          </a:p>
        </p:txBody>
      </p:sp>
      <p:sp>
        <p:nvSpPr>
          <p:cNvPr id="37" name="card3:rag"/>
          <p:cNvSpPr/>
          <p:nvPr/>
        </p:nvSpPr>
        <p:spPr>
          <a:xfrm>
            <a:off x="8330184" y="3813048"/>
            <a:ext cx="384048" cy="155448"/>
          </a:xfrm>
          <a:prstGeom prst="roundRect">
            <a:avLst>
              <a:gd name="adj" fmla="val 10000"/>
            </a:avLst>
          </a:prstGeom>
          <a:solidFill>
            <a:srgbClr val="D89A1E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00" b="1">
                <a:solidFill>
                  <a:srgbClr val="2B2E33"/>
                </a:solidFill>
                <a:latin typeface="Calibri"/>
              </a:rPr>
              <a:t>AMBER</a:t>
            </a:r>
          </a:p>
        </p:txBody>
      </p:sp>
      <p:sp>
        <p:nvSpPr>
          <p:cNvPr id="38" name="card3:name"/>
          <p:cNvSpPr txBox="1"/>
          <p:nvPr/>
        </p:nvSpPr>
        <p:spPr>
          <a:xfrm>
            <a:off x="5074920" y="3735324"/>
            <a:ext cx="3200400" cy="31089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Transition &amp; Change</a:t>
            </a:r>
          </a:p>
        </p:txBody>
      </p:sp>
      <p:sp>
        <p:nvSpPr>
          <p:cNvPr id="39" name="card3:track"/>
          <p:cNvSpPr/>
          <p:nvPr/>
        </p:nvSpPr>
        <p:spPr>
          <a:xfrm>
            <a:off x="4773168" y="4155948"/>
            <a:ext cx="3465576" cy="128016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marker:card3fill"/>
          <p:cNvSpPr/>
          <p:nvPr/>
        </p:nvSpPr>
        <p:spPr>
          <a:xfrm>
            <a:off x="4773168" y="4155948"/>
            <a:ext cx="1663476" cy="128016"/>
          </a:xfrm>
          <a:prstGeom prst="rect">
            <a:avLst/>
          </a:prstGeom>
          <a:solidFill>
            <a:srgbClr val="6E5B8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card3:pct"/>
          <p:cNvSpPr txBox="1"/>
          <p:nvPr/>
        </p:nvSpPr>
        <p:spPr>
          <a:xfrm>
            <a:off x="8293608" y="4155948"/>
            <a:ext cx="420624" cy="128016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48%</a:t>
            </a:r>
          </a:p>
        </p:txBody>
      </p:sp>
      <p:sp>
        <p:nvSpPr>
          <p:cNvPr id="42" name="card3:activities"/>
          <p:cNvSpPr txBox="1"/>
          <p:nvPr/>
        </p:nvSpPr>
        <p:spPr>
          <a:xfrm>
            <a:off x="4773168" y="4375404"/>
            <a:ext cx="3941064" cy="144018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Wave 1 started on time, but wave 2 and 3 now overlap by seven weeks and hub trainer capacity is the constraint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Curriculum build tracking to plan; readiness index improving ahead of the wave 1 go-live</a:t>
            </a:r>
          </a:p>
        </p:txBody>
      </p:sp>
      <p:sp>
        <p:nvSpPr>
          <p:cNvPr id="43" name="card3:next"/>
          <p:cNvSpPr txBox="1"/>
          <p:nvPr/>
        </p:nvSpPr>
        <p:spPr>
          <a:xfrm>
            <a:off x="4773168" y="5815584"/>
            <a:ext cx="3941064" cy="27432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1">
                <a:solidFill>
                  <a:srgbClr val="6E5B8E"/>
                </a:solidFill>
                <a:latin typeface="Calibri"/>
              </a:rPr>
              <a:t>Next: Curriculum build complete on 23 Oct</a:t>
            </a:r>
          </a:p>
        </p:txBody>
      </p:sp>
      <p:sp>
        <p:nvSpPr>
          <p:cNvPr id="44" name="panel:bg"/>
          <p:cNvSpPr/>
          <p:nvPr/>
        </p:nvSpPr>
        <p:spPr>
          <a:xfrm>
            <a:off x="8961120" y="1133856"/>
            <a:ext cx="2865120" cy="5065776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panel:heading"/>
          <p:cNvSpPr txBox="1"/>
          <p:nvPr/>
        </p:nvSpPr>
        <p:spPr>
          <a:xfrm>
            <a:off x="9089136" y="1261872"/>
            <a:ext cx="2609088" cy="21945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3274A"/>
                </a:solidFill>
                <a:latin typeface="Calibri"/>
              </a:rPr>
              <a:t>Considerations</a:t>
            </a:r>
          </a:p>
        </p:txBody>
      </p:sp>
      <p:sp>
        <p:nvSpPr>
          <p:cNvPr id="46" name="panel:body"/>
          <p:cNvSpPr txBox="1"/>
          <p:nvPr/>
        </p:nvSpPr>
        <p:spPr>
          <a:xfrm>
            <a:off x="9089136" y="1536192"/>
            <a:ext cx="2609088" cy="453542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Group Tax capacity for P2P country variants (H, Marcus Adeyemi, due 04 Sep)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P2P country tax variants exceed design assumption (H, Chiara Bellandi, due 11 Sep)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Regional finance teams available for UAT (H, Daniel Okonkwo, due 25 Sep)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Hub trainer capacity constrains overlapping migration waves (H, Yusuf Demirci, due 05 Oct)</a:t>
            </a:r>
          </a:p>
        </p:txBody>
      </p:sp>
      <p:sp>
        <p:nvSpPr>
          <p:cNvPr id="47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48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1146048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7 high-severity items are open, none yet past due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1146048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RAID log | Week 2026-W35 | 12 of 18 open items shown, most severe of each type</a:t>
            </a:r>
          </a:p>
        </p:txBody>
      </p:sp>
      <p:graphicFrame>
        <p:nvGraphicFramePr>
          <p:cNvPr id="4" name="raid:table"/>
          <p:cNvGraphicFramePr>
            <a:graphicFrameLocks noGrp="1"/>
          </p:cNvGraphicFramePr>
          <p:nvPr/>
        </p:nvGraphicFramePr>
        <p:xfrm>
          <a:off x="365760" y="1133856"/>
          <a:ext cx="11460477" cy="442645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15721"/>
                <a:gridCol w="595944"/>
                <a:gridCol w="3438144"/>
                <a:gridCol w="1489862"/>
                <a:gridCol w="893917"/>
                <a:gridCol w="4526889"/>
              </a:tblGrid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Due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Mitigation and next step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B2E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gridSpan="5"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33274A"/>
                          </a:solidFill>
                          <a:latin typeface="Calibri"/>
                        </a:rPr>
                        <a:t>Risks (3)</a:t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01828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R-01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P2P country tax variants exceed design assumption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Chiara Bellandi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11 Sep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Two Group Tax analysts released to P2P through October; conditional Gate 3 pass proposed for P2P only.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401828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R-03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Hub trainer capacity constrains overlapping migration waves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Yusuf Demirci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05 Oct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Contract trainer capacity costed and put to the steering committee; resequencing wave 3 held as fallback.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4206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R-04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Legacy vendor data quality below the migration threshold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Anneke de Vries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09 Oct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Three additional data stewards requested; automated duplicate detection brought forward.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B2E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gridSpan="5"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33274A"/>
                          </a:solidFill>
                          <a:latin typeface="Calibri"/>
                        </a:rPr>
                        <a:t>Issues (3)</a:t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206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I-02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Intercompany invoice routing design reopened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Chiara Bellandi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18 Sep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Decision paper to the Global Process Owner forum on 2026-09-04.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24206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I-04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128 incumbents not yet mapped to target roles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Tobias Lindqvist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25 Sep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Regional HR leads to complete mapping ahead of consultation opening in each region.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4206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I-01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Wave 1 automation delivery four items behind plan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Sofia Marchetti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02 Oct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Four automations proposed for wave 2; wave 1 benefit shortfall of 0.8 FTE accepted.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B2E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gridSpan="5"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33274A"/>
                          </a:solidFill>
                          <a:latin typeface="Calibri"/>
                        </a:rPr>
                        <a:t>Dependencies (3)</a:t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206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D-01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Group Tax capacity for P2P country variants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Marcus Adeyemi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04 Sep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Steering committee decision requested; Group Tax lead has confirmed availability in principle.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24206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D-03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Master data cleansing cut-off gates migration validation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Anneke de Vries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09 Oct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Cut-off protected by the additional steward request; partial-freeze option assessed as fallback.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4206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D-04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Information Security review of the automation platform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Sofia Marchetti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30 Sep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Review slot confirmed for 2026-09-22; evidence pack submitted early.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B2E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gridSpan="5"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33274A"/>
                          </a:solidFill>
                          <a:latin typeface="Calibri"/>
                        </a:rPr>
                        <a:t>Assumptions (3)</a:t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01828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A-01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Regional finance teams available for UAT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Daniel Okonkwo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25 Sep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UAT scheduled around the close calendar; commitment to be confirmed at the September steering committee.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24206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A-02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Desk ratio of 1.4 holds for both hubs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Priya Raghunathan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20 Nov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Ratio validated against the hybrid working policy; reviewed again at wave 2 planning.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4206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A-04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Benefit baseline holds at the FY26 cost base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Jonas Brenner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18 Dec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Baseline frozen with Group Finance; any restatement to be handled as a change request.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5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6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845820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3 of 7 measures are ahead of their delivery; vendor master validation pass rate is the furthest adrift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845820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Benefit realisation | Week 2026-W35 | Measured against delivery progress, not elapsed time, because benefits back-load</a:t>
            </a:r>
          </a:p>
        </p:txBody>
      </p:sp>
      <p:sp>
        <p:nvSpPr>
          <p:cNvPr id="4" name="kpi:header"/>
          <p:cNvSpPr/>
          <p:nvPr/>
        </p:nvSpPr>
        <p:spPr>
          <a:xfrm>
            <a:off x="365760" y="1133856"/>
            <a:ext cx="8458200" cy="256032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kpi:head-name"/>
          <p:cNvSpPr txBox="1"/>
          <p:nvPr/>
        </p:nvSpPr>
        <p:spPr>
          <a:xfrm>
            <a:off x="429768" y="1133856"/>
            <a:ext cx="2324862" cy="256032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FFFFFF"/>
                </a:solidFill>
                <a:latin typeface="Calibri"/>
              </a:rPr>
              <a:t>Measure</a:t>
            </a:r>
          </a:p>
        </p:txBody>
      </p:sp>
      <p:sp>
        <p:nvSpPr>
          <p:cNvPr id="6" name="kpi:head-owner"/>
          <p:cNvSpPr txBox="1"/>
          <p:nvPr/>
        </p:nvSpPr>
        <p:spPr>
          <a:xfrm>
            <a:off x="2882646" y="1133856"/>
            <a:ext cx="1140714" cy="256032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FFFFFF"/>
                </a:solidFill>
                <a:latin typeface="Calibri"/>
              </a:rPr>
              <a:t>Owner</a:t>
            </a:r>
          </a:p>
        </p:txBody>
      </p:sp>
      <p:sp>
        <p:nvSpPr>
          <p:cNvPr id="7" name="kpi:head-baseline"/>
          <p:cNvSpPr txBox="1"/>
          <p:nvPr/>
        </p:nvSpPr>
        <p:spPr>
          <a:xfrm>
            <a:off x="4151376" y="1133856"/>
            <a:ext cx="396392" cy="256032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>
                <a:solidFill>
                  <a:srgbClr val="FFFFFF"/>
                </a:solidFill>
                <a:latin typeface="Calibri"/>
              </a:rPr>
              <a:t>Baseline</a:t>
            </a:r>
          </a:p>
        </p:txBody>
      </p:sp>
      <p:sp>
        <p:nvSpPr>
          <p:cNvPr id="8" name="kpi:head-current"/>
          <p:cNvSpPr txBox="1"/>
          <p:nvPr/>
        </p:nvSpPr>
        <p:spPr>
          <a:xfrm>
            <a:off x="4675784" y="1133856"/>
            <a:ext cx="396392" cy="256032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>
                <a:solidFill>
                  <a:srgbClr val="FFFFFF"/>
                </a:solidFill>
                <a:latin typeface="Calibri"/>
              </a:rPr>
              <a:t>Current</a:t>
            </a:r>
          </a:p>
        </p:txBody>
      </p:sp>
      <p:sp>
        <p:nvSpPr>
          <p:cNvPr id="9" name="kpi:head-target"/>
          <p:cNvSpPr txBox="1"/>
          <p:nvPr/>
        </p:nvSpPr>
        <p:spPr>
          <a:xfrm>
            <a:off x="5200192" y="1133856"/>
            <a:ext cx="396392" cy="256032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>
                <a:solidFill>
                  <a:srgbClr val="FFFFFF"/>
                </a:solidFill>
                <a:latin typeface="Calibri"/>
              </a:rPr>
              <a:t>Target</a:t>
            </a:r>
          </a:p>
        </p:txBody>
      </p:sp>
      <p:sp>
        <p:nvSpPr>
          <p:cNvPr id="10" name="kpi:head-progress"/>
          <p:cNvSpPr txBox="1"/>
          <p:nvPr/>
        </p:nvSpPr>
        <p:spPr>
          <a:xfrm>
            <a:off x="5724600" y="1133856"/>
            <a:ext cx="3035350" cy="256032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FFFFFF"/>
                </a:solidFill>
                <a:latin typeface="Calibri"/>
              </a:rPr>
              <a:t>Progress from baseline to target</a:t>
            </a:r>
          </a:p>
        </p:txBody>
      </p:sp>
      <p:sp>
        <p:nvSpPr>
          <p:cNvPr id="11" name="surface:kpi0"/>
          <p:cNvSpPr/>
          <p:nvPr/>
        </p:nvSpPr>
        <p:spPr>
          <a:xfrm>
            <a:off x="365760" y="1389888"/>
            <a:ext cx="8458200" cy="5486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kpi0:name"/>
          <p:cNvSpPr txBox="1"/>
          <p:nvPr/>
        </p:nvSpPr>
        <p:spPr>
          <a:xfrm>
            <a:off x="429768" y="1389888"/>
            <a:ext cx="232486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>
                <a:solidFill>
                  <a:srgbClr val="2B2E33"/>
                </a:solidFill>
                <a:latin typeface="Calibri"/>
              </a:rPr>
              <a:t>Touchless invoice rate</a:t>
            </a:r>
          </a:p>
        </p:txBody>
      </p:sp>
      <p:sp>
        <p:nvSpPr>
          <p:cNvPr id="13" name="kpi0:owner"/>
          <p:cNvSpPr txBox="1"/>
          <p:nvPr/>
        </p:nvSpPr>
        <p:spPr>
          <a:xfrm>
            <a:off x="2882646" y="1389888"/>
            <a:ext cx="1140714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Chiara Bellandi</a:t>
            </a:r>
          </a:p>
        </p:txBody>
      </p:sp>
      <p:sp>
        <p:nvSpPr>
          <p:cNvPr id="14" name="kpi0:baseline"/>
          <p:cNvSpPr txBox="1"/>
          <p:nvPr/>
        </p:nvSpPr>
        <p:spPr>
          <a:xfrm>
            <a:off x="4151376" y="138988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41</a:t>
            </a:r>
          </a:p>
        </p:txBody>
      </p:sp>
      <p:sp>
        <p:nvSpPr>
          <p:cNvPr id="15" name="kpi0:current"/>
          <p:cNvSpPr txBox="1"/>
          <p:nvPr/>
        </p:nvSpPr>
        <p:spPr>
          <a:xfrm>
            <a:off x="4675784" y="138988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51</a:t>
            </a:r>
          </a:p>
        </p:txBody>
      </p:sp>
      <p:sp>
        <p:nvSpPr>
          <p:cNvPr id="16" name="kpi0:target"/>
          <p:cNvSpPr txBox="1"/>
          <p:nvPr/>
        </p:nvSpPr>
        <p:spPr>
          <a:xfrm>
            <a:off x="5200192" y="138988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75</a:t>
            </a:r>
          </a:p>
        </p:txBody>
      </p:sp>
      <p:sp>
        <p:nvSpPr>
          <p:cNvPr id="17" name="kpi0:track"/>
          <p:cNvSpPr/>
          <p:nvPr/>
        </p:nvSpPr>
        <p:spPr>
          <a:xfrm>
            <a:off x="5724600" y="1586484"/>
            <a:ext cx="3035350" cy="155448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marker:kpi0fill"/>
          <p:cNvSpPr/>
          <p:nvPr/>
        </p:nvSpPr>
        <p:spPr>
          <a:xfrm>
            <a:off x="5724600" y="1586484"/>
            <a:ext cx="892750" cy="155448"/>
          </a:xfrm>
          <a:prstGeom prst="rect">
            <a:avLst/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marker:kpi0expected"/>
          <p:cNvSpPr/>
          <p:nvPr/>
        </p:nvSpPr>
        <p:spPr>
          <a:xfrm>
            <a:off x="7291095" y="1540764"/>
            <a:ext cx="23774" cy="2468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kpi1:name"/>
          <p:cNvSpPr txBox="1"/>
          <p:nvPr/>
        </p:nvSpPr>
        <p:spPr>
          <a:xfrm>
            <a:off x="429768" y="1938528"/>
            <a:ext cx="232486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>
                <a:solidFill>
                  <a:srgbClr val="2B2E33"/>
                </a:solidFill>
                <a:latin typeface="Calibri"/>
              </a:rPr>
              <a:t>Days sales outstanding</a:t>
            </a:r>
          </a:p>
        </p:txBody>
      </p:sp>
      <p:sp>
        <p:nvSpPr>
          <p:cNvPr id="21" name="kpi1:owner"/>
          <p:cNvSpPr txBox="1"/>
          <p:nvPr/>
        </p:nvSpPr>
        <p:spPr>
          <a:xfrm>
            <a:off x="2882646" y="1938528"/>
            <a:ext cx="1140714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Daniel Okonkwo</a:t>
            </a:r>
          </a:p>
        </p:txBody>
      </p:sp>
      <p:sp>
        <p:nvSpPr>
          <p:cNvPr id="22" name="kpi1:baseline"/>
          <p:cNvSpPr txBox="1"/>
          <p:nvPr/>
        </p:nvSpPr>
        <p:spPr>
          <a:xfrm>
            <a:off x="4151376" y="193852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54</a:t>
            </a:r>
          </a:p>
        </p:txBody>
      </p:sp>
      <p:sp>
        <p:nvSpPr>
          <p:cNvPr id="23" name="kpi1:current"/>
          <p:cNvSpPr txBox="1"/>
          <p:nvPr/>
        </p:nvSpPr>
        <p:spPr>
          <a:xfrm>
            <a:off x="4675784" y="193852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49</a:t>
            </a:r>
          </a:p>
        </p:txBody>
      </p:sp>
      <p:sp>
        <p:nvSpPr>
          <p:cNvPr id="24" name="kpi1:target"/>
          <p:cNvSpPr txBox="1"/>
          <p:nvPr/>
        </p:nvSpPr>
        <p:spPr>
          <a:xfrm>
            <a:off x="5200192" y="193852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47</a:t>
            </a:r>
          </a:p>
        </p:txBody>
      </p:sp>
      <p:sp>
        <p:nvSpPr>
          <p:cNvPr id="25" name="kpi1:track"/>
          <p:cNvSpPr/>
          <p:nvPr/>
        </p:nvSpPr>
        <p:spPr>
          <a:xfrm>
            <a:off x="5724600" y="2135124"/>
            <a:ext cx="3035350" cy="155448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marker:kpi1fill"/>
          <p:cNvSpPr/>
          <p:nvPr/>
        </p:nvSpPr>
        <p:spPr>
          <a:xfrm>
            <a:off x="5724600" y="2135124"/>
            <a:ext cx="2168107" cy="155448"/>
          </a:xfrm>
          <a:prstGeom prst="rect">
            <a:avLst/>
          </a:prstGeom>
          <a:solidFill>
            <a:srgbClr val="1F8A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marker:kpi1expected"/>
          <p:cNvSpPr/>
          <p:nvPr/>
        </p:nvSpPr>
        <p:spPr>
          <a:xfrm>
            <a:off x="7776751" y="2089404"/>
            <a:ext cx="23774" cy="2468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surface:kpi2"/>
          <p:cNvSpPr/>
          <p:nvPr/>
        </p:nvSpPr>
        <p:spPr>
          <a:xfrm>
            <a:off x="365760" y="2487168"/>
            <a:ext cx="8458200" cy="5486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kpi2:name"/>
          <p:cNvSpPr txBox="1"/>
          <p:nvPr/>
        </p:nvSpPr>
        <p:spPr>
          <a:xfrm>
            <a:off x="429768" y="2487168"/>
            <a:ext cx="232486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>
                <a:solidFill>
                  <a:srgbClr val="2B2E33"/>
                </a:solidFill>
                <a:latin typeface="Calibri"/>
              </a:rPr>
              <a:t>Close cycle length (days)</a:t>
            </a:r>
          </a:p>
        </p:txBody>
      </p:sp>
      <p:sp>
        <p:nvSpPr>
          <p:cNvPr id="30" name="kpi2:owner"/>
          <p:cNvSpPr txBox="1"/>
          <p:nvPr/>
        </p:nvSpPr>
        <p:spPr>
          <a:xfrm>
            <a:off x="2882646" y="2487168"/>
            <a:ext cx="1140714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Marcus Adeyemi</a:t>
            </a:r>
          </a:p>
        </p:txBody>
      </p:sp>
      <p:sp>
        <p:nvSpPr>
          <p:cNvPr id="31" name="kpi2:baseline"/>
          <p:cNvSpPr txBox="1"/>
          <p:nvPr/>
        </p:nvSpPr>
        <p:spPr>
          <a:xfrm>
            <a:off x="4151376" y="248716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9</a:t>
            </a:r>
          </a:p>
        </p:txBody>
      </p:sp>
      <p:sp>
        <p:nvSpPr>
          <p:cNvPr id="32" name="kpi2:current"/>
          <p:cNvSpPr txBox="1"/>
          <p:nvPr/>
        </p:nvSpPr>
        <p:spPr>
          <a:xfrm>
            <a:off x="4675784" y="248716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7.5</a:t>
            </a:r>
          </a:p>
        </p:txBody>
      </p:sp>
      <p:sp>
        <p:nvSpPr>
          <p:cNvPr id="33" name="kpi2:target"/>
          <p:cNvSpPr txBox="1"/>
          <p:nvPr/>
        </p:nvSpPr>
        <p:spPr>
          <a:xfrm>
            <a:off x="5200192" y="248716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7</a:t>
            </a:r>
          </a:p>
        </p:txBody>
      </p:sp>
      <p:sp>
        <p:nvSpPr>
          <p:cNvPr id="34" name="kpi2:track"/>
          <p:cNvSpPr/>
          <p:nvPr/>
        </p:nvSpPr>
        <p:spPr>
          <a:xfrm>
            <a:off x="5724600" y="2683764"/>
            <a:ext cx="3035350" cy="155448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marker:kpi2fill"/>
          <p:cNvSpPr/>
          <p:nvPr/>
        </p:nvSpPr>
        <p:spPr>
          <a:xfrm>
            <a:off x="5724600" y="2683764"/>
            <a:ext cx="2276512" cy="155448"/>
          </a:xfrm>
          <a:prstGeom prst="rect">
            <a:avLst/>
          </a:prstGeom>
          <a:solidFill>
            <a:srgbClr val="1F8A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marker:kpi2expected"/>
          <p:cNvSpPr/>
          <p:nvPr/>
        </p:nvSpPr>
        <p:spPr>
          <a:xfrm>
            <a:off x="7958872" y="2638044"/>
            <a:ext cx="23774" cy="2468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kpi3:name"/>
          <p:cNvSpPr txBox="1"/>
          <p:nvPr/>
        </p:nvSpPr>
        <p:spPr>
          <a:xfrm>
            <a:off x="429768" y="3035808"/>
            <a:ext cx="232486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>
                <a:solidFill>
                  <a:srgbClr val="2B2E33"/>
                </a:solidFill>
                <a:latin typeface="Calibri"/>
              </a:rPr>
              <a:t>Vendor master validation pass rate</a:t>
            </a:r>
          </a:p>
        </p:txBody>
      </p:sp>
      <p:sp>
        <p:nvSpPr>
          <p:cNvPr id="38" name="kpi3:owner"/>
          <p:cNvSpPr txBox="1"/>
          <p:nvPr/>
        </p:nvSpPr>
        <p:spPr>
          <a:xfrm>
            <a:off x="2882646" y="3035808"/>
            <a:ext cx="1140714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Anneke de Vries</a:t>
            </a:r>
          </a:p>
        </p:txBody>
      </p:sp>
      <p:sp>
        <p:nvSpPr>
          <p:cNvPr id="39" name="kpi3:baseline"/>
          <p:cNvSpPr txBox="1"/>
          <p:nvPr/>
        </p:nvSpPr>
        <p:spPr>
          <a:xfrm>
            <a:off x="4151376" y="303580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77</a:t>
            </a:r>
          </a:p>
        </p:txBody>
      </p:sp>
      <p:sp>
        <p:nvSpPr>
          <p:cNvPr id="40" name="kpi3:current"/>
          <p:cNvSpPr txBox="1"/>
          <p:nvPr/>
        </p:nvSpPr>
        <p:spPr>
          <a:xfrm>
            <a:off x="4675784" y="303580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83</a:t>
            </a:r>
          </a:p>
        </p:txBody>
      </p:sp>
      <p:sp>
        <p:nvSpPr>
          <p:cNvPr id="41" name="kpi3:target"/>
          <p:cNvSpPr txBox="1"/>
          <p:nvPr/>
        </p:nvSpPr>
        <p:spPr>
          <a:xfrm>
            <a:off x="5200192" y="303580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98</a:t>
            </a:r>
          </a:p>
        </p:txBody>
      </p:sp>
      <p:sp>
        <p:nvSpPr>
          <p:cNvPr id="42" name="kpi3:track"/>
          <p:cNvSpPr/>
          <p:nvPr/>
        </p:nvSpPr>
        <p:spPr>
          <a:xfrm>
            <a:off x="5724600" y="3232404"/>
            <a:ext cx="3035350" cy="155448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marker:kpi3fill"/>
          <p:cNvSpPr/>
          <p:nvPr/>
        </p:nvSpPr>
        <p:spPr>
          <a:xfrm>
            <a:off x="5724600" y="3232404"/>
            <a:ext cx="867242" cy="155448"/>
          </a:xfrm>
          <a:prstGeom prst="rect">
            <a:avLst/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marker:kpi3expected"/>
          <p:cNvSpPr/>
          <p:nvPr/>
        </p:nvSpPr>
        <p:spPr>
          <a:xfrm>
            <a:off x="7442862" y="3186684"/>
            <a:ext cx="23774" cy="2468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surface:kpi4"/>
          <p:cNvSpPr/>
          <p:nvPr/>
        </p:nvSpPr>
        <p:spPr>
          <a:xfrm>
            <a:off x="365760" y="3584448"/>
            <a:ext cx="8458200" cy="5486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kpi4:name"/>
          <p:cNvSpPr txBox="1"/>
          <p:nvPr/>
        </p:nvSpPr>
        <p:spPr>
          <a:xfrm>
            <a:off x="429768" y="3584448"/>
            <a:ext cx="232486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>
                <a:solidFill>
                  <a:srgbClr val="2B2E33"/>
                </a:solidFill>
                <a:latin typeface="Calibri"/>
              </a:rPr>
              <a:t>Automation benefit realised (FTE)</a:t>
            </a:r>
          </a:p>
        </p:txBody>
      </p:sp>
      <p:sp>
        <p:nvSpPr>
          <p:cNvPr id="47" name="kpi4:owner"/>
          <p:cNvSpPr txBox="1"/>
          <p:nvPr/>
        </p:nvSpPr>
        <p:spPr>
          <a:xfrm>
            <a:off x="2882646" y="3584448"/>
            <a:ext cx="1140714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Sofia Marchetti</a:t>
            </a:r>
          </a:p>
        </p:txBody>
      </p:sp>
      <p:sp>
        <p:nvSpPr>
          <p:cNvPr id="48" name="kpi4:baseline"/>
          <p:cNvSpPr txBox="1"/>
          <p:nvPr/>
        </p:nvSpPr>
        <p:spPr>
          <a:xfrm>
            <a:off x="4151376" y="358444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0</a:t>
            </a:r>
          </a:p>
        </p:txBody>
      </p:sp>
      <p:sp>
        <p:nvSpPr>
          <p:cNvPr id="49" name="kpi4:current"/>
          <p:cNvSpPr txBox="1"/>
          <p:nvPr/>
        </p:nvSpPr>
        <p:spPr>
          <a:xfrm>
            <a:off x="4675784" y="358444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7.2</a:t>
            </a:r>
          </a:p>
        </p:txBody>
      </p:sp>
      <p:sp>
        <p:nvSpPr>
          <p:cNvPr id="50" name="kpi4:target"/>
          <p:cNvSpPr txBox="1"/>
          <p:nvPr/>
        </p:nvSpPr>
        <p:spPr>
          <a:xfrm>
            <a:off x="5200192" y="358444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18</a:t>
            </a:r>
          </a:p>
        </p:txBody>
      </p:sp>
      <p:sp>
        <p:nvSpPr>
          <p:cNvPr id="51" name="kpi4:track"/>
          <p:cNvSpPr/>
          <p:nvPr/>
        </p:nvSpPr>
        <p:spPr>
          <a:xfrm>
            <a:off x="5724600" y="3781044"/>
            <a:ext cx="3035350" cy="155448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marker:kpi4fill"/>
          <p:cNvSpPr/>
          <p:nvPr/>
        </p:nvSpPr>
        <p:spPr>
          <a:xfrm>
            <a:off x="5724600" y="3781044"/>
            <a:ext cx="1214140" cy="155448"/>
          </a:xfrm>
          <a:prstGeom prst="rect">
            <a:avLst/>
          </a:prstGeom>
          <a:solidFill>
            <a:srgbClr val="D89A1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marker:kpi4expected"/>
          <p:cNvSpPr/>
          <p:nvPr/>
        </p:nvSpPr>
        <p:spPr>
          <a:xfrm>
            <a:off x="7382155" y="3735324"/>
            <a:ext cx="23774" cy="2468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4" name="kpi5:name"/>
          <p:cNvSpPr txBox="1"/>
          <p:nvPr/>
        </p:nvSpPr>
        <p:spPr>
          <a:xfrm>
            <a:off x="429768" y="4133088"/>
            <a:ext cx="232486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>
                <a:solidFill>
                  <a:srgbClr val="2B2E33"/>
                </a:solidFill>
                <a:latin typeface="Calibri"/>
              </a:rPr>
              <a:t>Change readiness index</a:t>
            </a:r>
          </a:p>
        </p:txBody>
      </p:sp>
      <p:sp>
        <p:nvSpPr>
          <p:cNvPr id="55" name="kpi5:owner"/>
          <p:cNvSpPr txBox="1"/>
          <p:nvPr/>
        </p:nvSpPr>
        <p:spPr>
          <a:xfrm>
            <a:off x="2882646" y="4133088"/>
            <a:ext cx="1140714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Laura Nkemelu</a:t>
            </a:r>
          </a:p>
        </p:txBody>
      </p:sp>
      <p:sp>
        <p:nvSpPr>
          <p:cNvPr id="56" name="kpi5:baseline"/>
          <p:cNvSpPr txBox="1"/>
          <p:nvPr/>
        </p:nvSpPr>
        <p:spPr>
          <a:xfrm>
            <a:off x="4151376" y="413308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54</a:t>
            </a:r>
          </a:p>
        </p:txBody>
      </p:sp>
      <p:sp>
        <p:nvSpPr>
          <p:cNvPr id="57" name="kpi5:current"/>
          <p:cNvSpPr txBox="1"/>
          <p:nvPr/>
        </p:nvSpPr>
        <p:spPr>
          <a:xfrm>
            <a:off x="4675784" y="413308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71</a:t>
            </a:r>
          </a:p>
        </p:txBody>
      </p:sp>
      <p:sp>
        <p:nvSpPr>
          <p:cNvPr id="58" name="kpi5:target"/>
          <p:cNvSpPr txBox="1"/>
          <p:nvPr/>
        </p:nvSpPr>
        <p:spPr>
          <a:xfrm>
            <a:off x="5200192" y="413308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80</a:t>
            </a:r>
          </a:p>
        </p:txBody>
      </p:sp>
      <p:sp>
        <p:nvSpPr>
          <p:cNvPr id="59" name="kpi5:track"/>
          <p:cNvSpPr/>
          <p:nvPr/>
        </p:nvSpPr>
        <p:spPr>
          <a:xfrm>
            <a:off x="5724600" y="4329684"/>
            <a:ext cx="3035350" cy="155448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0" name="marker:kpi5fill"/>
          <p:cNvSpPr/>
          <p:nvPr/>
        </p:nvSpPr>
        <p:spPr>
          <a:xfrm>
            <a:off x="5724600" y="4329684"/>
            <a:ext cx="1984651" cy="155448"/>
          </a:xfrm>
          <a:prstGeom prst="rect">
            <a:avLst/>
          </a:prstGeom>
          <a:solidFill>
            <a:srgbClr val="1F8A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marker:kpi5expected"/>
          <p:cNvSpPr/>
          <p:nvPr/>
        </p:nvSpPr>
        <p:spPr>
          <a:xfrm>
            <a:off x="7321448" y="4283964"/>
            <a:ext cx="23774" cy="2468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2" name="surface:kpi6"/>
          <p:cNvSpPr/>
          <p:nvPr/>
        </p:nvSpPr>
        <p:spPr>
          <a:xfrm>
            <a:off x="365760" y="4681728"/>
            <a:ext cx="8458200" cy="5486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kpi6:name"/>
          <p:cNvSpPr txBox="1"/>
          <p:nvPr/>
        </p:nvSpPr>
        <p:spPr>
          <a:xfrm>
            <a:off x="429768" y="4681728"/>
            <a:ext cx="232486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>
                <a:solidFill>
                  <a:srgbClr val="2B2E33"/>
                </a:solidFill>
                <a:latin typeface="Calibri"/>
              </a:rPr>
              <a:t>Finance cost to serve (EUR m)</a:t>
            </a:r>
          </a:p>
        </p:txBody>
      </p:sp>
      <p:sp>
        <p:nvSpPr>
          <p:cNvPr id="64" name="kpi6:owner"/>
          <p:cNvSpPr txBox="1"/>
          <p:nvPr/>
        </p:nvSpPr>
        <p:spPr>
          <a:xfrm>
            <a:off x="2882646" y="4681728"/>
            <a:ext cx="1140714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Jonas Brenner</a:t>
            </a:r>
          </a:p>
        </p:txBody>
      </p:sp>
      <p:sp>
        <p:nvSpPr>
          <p:cNvPr id="65" name="kpi6:baseline"/>
          <p:cNvSpPr txBox="1"/>
          <p:nvPr/>
        </p:nvSpPr>
        <p:spPr>
          <a:xfrm>
            <a:off x="4151376" y="468172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42</a:t>
            </a:r>
          </a:p>
        </p:txBody>
      </p:sp>
      <p:sp>
        <p:nvSpPr>
          <p:cNvPr id="66" name="kpi6:current"/>
          <p:cNvSpPr txBox="1"/>
          <p:nvPr/>
        </p:nvSpPr>
        <p:spPr>
          <a:xfrm>
            <a:off x="4675784" y="468172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39.9</a:t>
            </a:r>
          </a:p>
        </p:txBody>
      </p:sp>
      <p:sp>
        <p:nvSpPr>
          <p:cNvPr id="67" name="kpi6:target"/>
          <p:cNvSpPr txBox="1"/>
          <p:nvPr/>
        </p:nvSpPr>
        <p:spPr>
          <a:xfrm>
            <a:off x="5200192" y="468172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33.5</a:t>
            </a:r>
          </a:p>
        </p:txBody>
      </p:sp>
      <p:sp>
        <p:nvSpPr>
          <p:cNvPr id="68" name="kpi6:track"/>
          <p:cNvSpPr/>
          <p:nvPr/>
        </p:nvSpPr>
        <p:spPr>
          <a:xfrm>
            <a:off x="5724600" y="4878324"/>
            <a:ext cx="3035350" cy="155448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9" name="marker:kpi6fill"/>
          <p:cNvSpPr/>
          <p:nvPr/>
        </p:nvSpPr>
        <p:spPr>
          <a:xfrm>
            <a:off x="5724600" y="4878324"/>
            <a:ext cx="749910" cy="155448"/>
          </a:xfrm>
          <a:prstGeom prst="rect">
            <a:avLst/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0" name="marker:kpi6expected"/>
          <p:cNvSpPr/>
          <p:nvPr/>
        </p:nvSpPr>
        <p:spPr>
          <a:xfrm>
            <a:off x="7169681" y="4832604"/>
            <a:ext cx="23774" cy="2468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1" name="kpi:legend"/>
          <p:cNvSpPr txBox="1"/>
          <p:nvPr/>
        </p:nvSpPr>
        <p:spPr>
          <a:xfrm>
            <a:off x="365760" y="5303520"/>
            <a:ext cx="8458200" cy="18288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Marker shows delivery progress of the producing stream</a:t>
            </a:r>
          </a:p>
        </p:txBody>
      </p:sp>
      <p:sp>
        <p:nvSpPr>
          <p:cNvPr id="72" name="panel:bg"/>
          <p:cNvSpPr/>
          <p:nvPr/>
        </p:nvSpPr>
        <p:spPr>
          <a:xfrm>
            <a:off x="8961120" y="1133856"/>
            <a:ext cx="2865120" cy="5065776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3" name="panel:heading"/>
          <p:cNvSpPr txBox="1"/>
          <p:nvPr/>
        </p:nvSpPr>
        <p:spPr>
          <a:xfrm>
            <a:off x="9089136" y="1261872"/>
            <a:ext cx="2609088" cy="21945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3274A"/>
                </a:solidFill>
                <a:latin typeface="Calibri"/>
              </a:rPr>
              <a:t>Considerations</a:t>
            </a:r>
          </a:p>
        </p:txBody>
      </p:sp>
      <p:sp>
        <p:nvSpPr>
          <p:cNvPr id="74" name="panel:body"/>
          <p:cNvSpPr txBox="1"/>
          <p:nvPr/>
        </p:nvSpPr>
        <p:spPr>
          <a:xfrm>
            <a:off x="9089136" y="1536192"/>
            <a:ext cx="2609088" cy="453542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Group Tax capacity for P2P country variants (H, Marcus Adeyemi, due 04 Sep)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P2P country tax variants exceed design assumption (H, Chiara Bellandi, due 11 Sep)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Regional finance teams available for UAT (H, Daniel Okonkwo, due 25 Sep)</a:t>
            </a:r>
          </a:p>
        </p:txBody>
      </p:sp>
      <p:sp>
        <p:nvSpPr>
          <p:cNvPr id="75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76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845820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A 20% reduction on a 42 EUR m base, with process standardisation carrying 40% of it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845820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Benefit case | FY26 finance cost base to Steady state FY28 | Value axis truncated so the levers are legible</a:t>
            </a:r>
          </a:p>
        </p:txBody>
      </p:sp>
      <p:sp>
        <p:nvSpPr>
          <p:cNvPr id="4" name="step0:bar"/>
          <p:cNvSpPr/>
          <p:nvPr/>
        </p:nvSpPr>
        <p:spPr>
          <a:xfrm>
            <a:off x="365760" y="1636328"/>
            <a:ext cx="1129937" cy="3850072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step0:value"/>
          <p:cNvSpPr txBox="1"/>
          <p:nvPr/>
        </p:nvSpPr>
        <p:spPr>
          <a:xfrm>
            <a:off x="365760" y="1325432"/>
            <a:ext cx="1129937" cy="274320"/>
          </a:xfrm>
          <a:prstGeom prst="rect">
            <a:avLst/>
          </a:prstGeom>
          <a:noFill/>
        </p:spPr>
        <p:txBody>
          <a:bodyPr wrap="none" anchor="b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42 EUR m</a:t>
            </a:r>
          </a:p>
        </p:txBody>
      </p:sp>
      <p:sp>
        <p:nvSpPr>
          <p:cNvPr id="6" name="step0:label"/>
          <p:cNvSpPr txBox="1"/>
          <p:nvPr/>
        </p:nvSpPr>
        <p:spPr>
          <a:xfrm>
            <a:off x="365760" y="5486400"/>
            <a:ext cx="1129937" cy="71323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1">
                <a:solidFill>
                  <a:srgbClr val="2B2E33"/>
                </a:solidFill>
                <a:latin typeface="Calibri"/>
              </a:rPr>
              <a:t>FY26 finance cost base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65760" y="1636328"/>
            <a:ext cx="1221377" cy="0"/>
          </a:xfrm>
          <a:prstGeom prst="line">
            <a:avLst/>
          </a:prstGeom>
          <a:ln w="9525">
            <a:solidFill>
              <a:srgbClr val="A0A1A3"/>
            </a:solidFill>
          </a:ln>
          <a:effectLst/>
        </p:spPr>
      </p:cxnSp>
      <p:sp>
        <p:nvSpPr>
          <p:cNvPr id="8" name="step1:bar"/>
          <p:cNvSpPr/>
          <p:nvPr/>
        </p:nvSpPr>
        <p:spPr>
          <a:xfrm>
            <a:off x="1587137" y="1636328"/>
            <a:ext cx="1129937" cy="1127497"/>
          </a:xfrm>
          <a:prstGeom prst="rect">
            <a:avLst/>
          </a:prstGeom>
          <a:solidFill>
            <a:srgbClr val="1F8A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step1:value"/>
          <p:cNvSpPr txBox="1"/>
          <p:nvPr/>
        </p:nvSpPr>
        <p:spPr>
          <a:xfrm>
            <a:off x="1587137" y="1325432"/>
            <a:ext cx="1129937" cy="274320"/>
          </a:xfrm>
          <a:prstGeom prst="rect">
            <a:avLst/>
          </a:prstGeom>
          <a:noFill/>
        </p:spPr>
        <p:txBody>
          <a:bodyPr wrap="none" anchor="b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F8A5B"/>
                </a:solidFill>
                <a:latin typeface="Calibri"/>
              </a:rPr>
              <a:t>-3.4 EUR m</a:t>
            </a:r>
          </a:p>
        </p:txBody>
      </p:sp>
      <p:sp>
        <p:nvSpPr>
          <p:cNvPr id="10" name="step1:label"/>
          <p:cNvSpPr txBox="1"/>
          <p:nvPr/>
        </p:nvSpPr>
        <p:spPr>
          <a:xfrm>
            <a:off x="1587137" y="5486400"/>
            <a:ext cx="1129937" cy="54864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Process standardisation and automation</a:t>
            </a:r>
          </a:p>
        </p:txBody>
      </p:sp>
      <p:sp>
        <p:nvSpPr>
          <p:cNvPr id="11" name="step1:caption"/>
          <p:cNvSpPr txBox="1"/>
          <p:nvPr/>
        </p:nvSpPr>
        <p:spPr>
          <a:xfrm>
            <a:off x="1587137" y="6035040"/>
            <a:ext cx="1129937" cy="164592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>
                <a:solidFill>
                  <a:srgbClr val="A0A1A3"/>
                </a:solidFill>
                <a:latin typeface="Calibri"/>
              </a:rPr>
              <a:t>medium confidence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587137" y="2763825"/>
            <a:ext cx="1221377" cy="0"/>
          </a:xfrm>
          <a:prstGeom prst="line">
            <a:avLst/>
          </a:prstGeom>
          <a:ln w="9525">
            <a:solidFill>
              <a:srgbClr val="A0A1A3"/>
            </a:solidFill>
          </a:ln>
          <a:effectLst/>
        </p:spPr>
      </p:cxnSp>
      <p:sp>
        <p:nvSpPr>
          <p:cNvPr id="13" name="step2:bar"/>
          <p:cNvSpPr/>
          <p:nvPr/>
        </p:nvSpPr>
        <p:spPr>
          <a:xfrm>
            <a:off x="2808514" y="2763825"/>
            <a:ext cx="1129937" cy="961689"/>
          </a:xfrm>
          <a:prstGeom prst="rect">
            <a:avLst/>
          </a:prstGeom>
          <a:solidFill>
            <a:srgbClr val="1F8A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step2:value"/>
          <p:cNvSpPr txBox="1"/>
          <p:nvPr/>
        </p:nvSpPr>
        <p:spPr>
          <a:xfrm>
            <a:off x="2808514" y="2452929"/>
            <a:ext cx="1129937" cy="274320"/>
          </a:xfrm>
          <a:prstGeom prst="rect">
            <a:avLst/>
          </a:prstGeom>
          <a:noFill/>
        </p:spPr>
        <p:txBody>
          <a:bodyPr wrap="none" anchor="b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F8A5B"/>
                </a:solidFill>
                <a:latin typeface="Calibri"/>
              </a:rPr>
              <a:t>-2.9 EUR m</a:t>
            </a:r>
          </a:p>
        </p:txBody>
      </p:sp>
      <p:sp>
        <p:nvSpPr>
          <p:cNvPr id="15" name="step2:label"/>
          <p:cNvSpPr txBox="1"/>
          <p:nvPr/>
        </p:nvSpPr>
        <p:spPr>
          <a:xfrm>
            <a:off x="2808514" y="5486400"/>
            <a:ext cx="1129937" cy="54864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Location footprint and labour arbitrage</a:t>
            </a:r>
          </a:p>
        </p:txBody>
      </p:sp>
      <p:sp>
        <p:nvSpPr>
          <p:cNvPr id="16" name="step2:caption"/>
          <p:cNvSpPr txBox="1"/>
          <p:nvPr/>
        </p:nvSpPr>
        <p:spPr>
          <a:xfrm>
            <a:off x="2808514" y="6035040"/>
            <a:ext cx="1129937" cy="164592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>
                <a:solidFill>
                  <a:srgbClr val="A0A1A3"/>
                </a:solidFill>
                <a:latin typeface="Calibri"/>
              </a:rPr>
              <a:t>high confidence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808514" y="3725514"/>
            <a:ext cx="1221377" cy="0"/>
          </a:xfrm>
          <a:prstGeom prst="line">
            <a:avLst/>
          </a:prstGeom>
          <a:ln w="9525">
            <a:solidFill>
              <a:srgbClr val="A0A1A3"/>
            </a:solidFill>
          </a:ln>
          <a:effectLst/>
        </p:spPr>
      </p:cxnSp>
      <p:sp>
        <p:nvSpPr>
          <p:cNvPr id="18" name="step3:bar"/>
          <p:cNvSpPr/>
          <p:nvPr/>
        </p:nvSpPr>
        <p:spPr>
          <a:xfrm>
            <a:off x="4029891" y="3725514"/>
            <a:ext cx="1129937" cy="464264"/>
          </a:xfrm>
          <a:prstGeom prst="rect">
            <a:avLst/>
          </a:prstGeom>
          <a:solidFill>
            <a:srgbClr val="1F8A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step3:value"/>
          <p:cNvSpPr txBox="1"/>
          <p:nvPr/>
        </p:nvSpPr>
        <p:spPr>
          <a:xfrm>
            <a:off x="4029891" y="3414618"/>
            <a:ext cx="1129937" cy="274320"/>
          </a:xfrm>
          <a:prstGeom prst="rect">
            <a:avLst/>
          </a:prstGeom>
          <a:noFill/>
        </p:spPr>
        <p:txBody>
          <a:bodyPr wrap="none" anchor="b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F8A5B"/>
                </a:solidFill>
                <a:latin typeface="Calibri"/>
              </a:rPr>
              <a:t>-1.4 EUR m</a:t>
            </a:r>
          </a:p>
        </p:txBody>
      </p:sp>
      <p:sp>
        <p:nvSpPr>
          <p:cNvPr id="20" name="step3:label"/>
          <p:cNvSpPr txBox="1"/>
          <p:nvPr/>
        </p:nvSpPr>
        <p:spPr>
          <a:xfrm>
            <a:off x="4029891" y="5486400"/>
            <a:ext cx="1129937" cy="54864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Span of control and organisation design</a:t>
            </a:r>
          </a:p>
        </p:txBody>
      </p:sp>
      <p:sp>
        <p:nvSpPr>
          <p:cNvPr id="21" name="step3:caption"/>
          <p:cNvSpPr txBox="1"/>
          <p:nvPr/>
        </p:nvSpPr>
        <p:spPr>
          <a:xfrm>
            <a:off x="4029891" y="6035040"/>
            <a:ext cx="1129937" cy="164592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>
                <a:solidFill>
                  <a:srgbClr val="A0A1A3"/>
                </a:solidFill>
                <a:latin typeface="Calibri"/>
              </a:rPr>
              <a:t>medium confidence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029891" y="4189778"/>
            <a:ext cx="1221377" cy="0"/>
          </a:xfrm>
          <a:prstGeom prst="line">
            <a:avLst/>
          </a:prstGeom>
          <a:ln w="9525">
            <a:solidFill>
              <a:srgbClr val="A0A1A3"/>
            </a:solidFill>
          </a:ln>
          <a:effectLst/>
        </p:spPr>
      </p:cxnSp>
      <p:sp>
        <p:nvSpPr>
          <p:cNvPr id="23" name="step4:bar"/>
          <p:cNvSpPr/>
          <p:nvPr/>
        </p:nvSpPr>
        <p:spPr>
          <a:xfrm>
            <a:off x="5251268" y="4189778"/>
            <a:ext cx="1129937" cy="298455"/>
          </a:xfrm>
          <a:prstGeom prst="rect">
            <a:avLst/>
          </a:prstGeom>
          <a:solidFill>
            <a:srgbClr val="1F8A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step4:value"/>
          <p:cNvSpPr txBox="1"/>
          <p:nvPr/>
        </p:nvSpPr>
        <p:spPr>
          <a:xfrm>
            <a:off x="5251268" y="3878882"/>
            <a:ext cx="1129937" cy="274320"/>
          </a:xfrm>
          <a:prstGeom prst="rect">
            <a:avLst/>
          </a:prstGeom>
          <a:noFill/>
        </p:spPr>
        <p:txBody>
          <a:bodyPr wrap="none" anchor="b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F8A5B"/>
                </a:solidFill>
                <a:latin typeface="Calibri"/>
              </a:rPr>
              <a:t>-0.9 EUR m</a:t>
            </a:r>
          </a:p>
        </p:txBody>
      </p:sp>
      <p:sp>
        <p:nvSpPr>
          <p:cNvPr id="25" name="step4:label"/>
          <p:cNvSpPr txBox="1"/>
          <p:nvPr/>
        </p:nvSpPr>
        <p:spPr>
          <a:xfrm>
            <a:off x="5251268" y="5486400"/>
            <a:ext cx="1129937" cy="54864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Technology and licence consolidation</a:t>
            </a:r>
          </a:p>
        </p:txBody>
      </p:sp>
      <p:sp>
        <p:nvSpPr>
          <p:cNvPr id="26" name="step4:caption"/>
          <p:cNvSpPr txBox="1"/>
          <p:nvPr/>
        </p:nvSpPr>
        <p:spPr>
          <a:xfrm>
            <a:off x="5251268" y="6035040"/>
            <a:ext cx="1129937" cy="164592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>
                <a:solidFill>
                  <a:srgbClr val="A0A1A3"/>
                </a:solidFill>
                <a:latin typeface="Calibri"/>
              </a:rPr>
              <a:t>low confidence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251268" y="4488233"/>
            <a:ext cx="1221377" cy="0"/>
          </a:xfrm>
          <a:prstGeom prst="line">
            <a:avLst/>
          </a:prstGeom>
          <a:ln w="9525">
            <a:solidFill>
              <a:srgbClr val="A0A1A3"/>
            </a:solidFill>
          </a:ln>
          <a:effectLst/>
        </p:spPr>
      </p:cxnSp>
      <p:sp>
        <p:nvSpPr>
          <p:cNvPr id="28" name="step5:bar"/>
          <p:cNvSpPr/>
          <p:nvPr/>
        </p:nvSpPr>
        <p:spPr>
          <a:xfrm>
            <a:off x="6472645" y="4455071"/>
            <a:ext cx="1129937" cy="33162"/>
          </a:xfrm>
          <a:prstGeom prst="rect">
            <a:avLst/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step5:value"/>
          <p:cNvSpPr txBox="1"/>
          <p:nvPr/>
        </p:nvSpPr>
        <p:spPr>
          <a:xfrm>
            <a:off x="6472645" y="4144175"/>
            <a:ext cx="1129937" cy="274320"/>
          </a:xfrm>
          <a:prstGeom prst="rect">
            <a:avLst/>
          </a:prstGeom>
          <a:noFill/>
        </p:spPr>
        <p:txBody>
          <a:bodyPr wrap="none" anchor="b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B23A2F"/>
                </a:solidFill>
                <a:latin typeface="Calibri"/>
              </a:rPr>
              <a:t>+0.1 EUR m</a:t>
            </a:r>
          </a:p>
        </p:txBody>
      </p:sp>
      <p:sp>
        <p:nvSpPr>
          <p:cNvPr id="30" name="step5:label"/>
          <p:cNvSpPr txBox="1"/>
          <p:nvPr/>
        </p:nvSpPr>
        <p:spPr>
          <a:xfrm>
            <a:off x="6472645" y="5486400"/>
            <a:ext cx="1129937" cy="54864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Hub run cost and retained coordination</a:t>
            </a:r>
          </a:p>
        </p:txBody>
      </p:sp>
      <p:sp>
        <p:nvSpPr>
          <p:cNvPr id="31" name="step5:caption"/>
          <p:cNvSpPr txBox="1"/>
          <p:nvPr/>
        </p:nvSpPr>
        <p:spPr>
          <a:xfrm>
            <a:off x="6472645" y="6035040"/>
            <a:ext cx="1129937" cy="164592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>
                <a:solidFill>
                  <a:srgbClr val="A0A1A3"/>
                </a:solidFill>
                <a:latin typeface="Calibri"/>
              </a:rPr>
              <a:t>high confidence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472645" y="4455071"/>
            <a:ext cx="1221377" cy="0"/>
          </a:xfrm>
          <a:prstGeom prst="line">
            <a:avLst/>
          </a:prstGeom>
          <a:ln w="9525">
            <a:solidFill>
              <a:srgbClr val="A0A1A3"/>
            </a:solidFill>
          </a:ln>
          <a:effectLst/>
        </p:spPr>
      </p:cxnSp>
      <p:sp>
        <p:nvSpPr>
          <p:cNvPr id="33" name="step6:bar"/>
          <p:cNvSpPr/>
          <p:nvPr/>
        </p:nvSpPr>
        <p:spPr>
          <a:xfrm>
            <a:off x="7694022" y="4455071"/>
            <a:ext cx="1129937" cy="1031329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step6:value"/>
          <p:cNvSpPr txBox="1"/>
          <p:nvPr/>
        </p:nvSpPr>
        <p:spPr>
          <a:xfrm>
            <a:off x="7694022" y="4144175"/>
            <a:ext cx="1129937" cy="274320"/>
          </a:xfrm>
          <a:prstGeom prst="rect">
            <a:avLst/>
          </a:prstGeom>
          <a:noFill/>
        </p:spPr>
        <p:txBody>
          <a:bodyPr wrap="none" anchor="b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33.5 EUR m</a:t>
            </a:r>
          </a:p>
        </p:txBody>
      </p:sp>
      <p:sp>
        <p:nvSpPr>
          <p:cNvPr id="35" name="step6:label"/>
          <p:cNvSpPr txBox="1"/>
          <p:nvPr/>
        </p:nvSpPr>
        <p:spPr>
          <a:xfrm>
            <a:off x="7694022" y="5486400"/>
            <a:ext cx="1129937" cy="71323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1">
                <a:solidFill>
                  <a:srgbClr val="2B2E33"/>
                </a:solidFill>
                <a:latin typeface="Calibri"/>
              </a:rPr>
              <a:t>Steady state FY28</a:t>
            </a:r>
          </a:p>
        </p:txBody>
      </p:sp>
      <p:sp>
        <p:nvSpPr>
          <p:cNvPr id="36" name="panel:bg"/>
          <p:cNvSpPr/>
          <p:nvPr/>
        </p:nvSpPr>
        <p:spPr>
          <a:xfrm>
            <a:off x="8961120" y="1133856"/>
            <a:ext cx="2865120" cy="5065776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panel:heading"/>
          <p:cNvSpPr txBox="1"/>
          <p:nvPr/>
        </p:nvSpPr>
        <p:spPr>
          <a:xfrm>
            <a:off x="9089136" y="1261872"/>
            <a:ext cx="2609088" cy="21945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3274A"/>
                </a:solidFill>
                <a:latin typeface="Calibri"/>
              </a:rPr>
              <a:t>Considerations</a:t>
            </a:r>
          </a:p>
        </p:txBody>
      </p:sp>
      <p:sp>
        <p:nvSpPr>
          <p:cNvPr id="38" name="panel:body"/>
          <p:cNvSpPr txBox="1"/>
          <p:nvPr/>
        </p:nvSpPr>
        <p:spPr>
          <a:xfrm>
            <a:off x="9089136" y="1536192"/>
            <a:ext cx="2609088" cy="453542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Process standardisation and automation is the largest single lever at 3.4 EUR m, owned by Marcus Adeyemi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0.9 EUR m of the case rests on low-confidence levers: technology and licence consolidation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The bridge includes the cost of running the new model: hub run cost and retained coordination at +0.1 EUR m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Group Tax capacity for P2P country variants (H, Marcus Adeyemi, due 04 Sep)</a:t>
            </a:r>
          </a:p>
        </p:txBody>
      </p:sp>
      <p:sp>
        <p:nvSpPr>
          <p:cNvPr id="39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40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leed: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bleed:accent"/>
          <p:cNvSpPr/>
          <p:nvPr/>
        </p:nvSpPr>
        <p:spPr>
          <a:xfrm>
            <a:off x="7071360" y="1280160"/>
            <a:ext cx="6583680" cy="6583680"/>
          </a:xfrm>
          <a:prstGeom prst="ellipse">
            <a:avLst/>
          </a:prstGeom>
          <a:solidFill>
            <a:srgbClr val="473D5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section:number"/>
          <p:cNvSpPr txBox="1"/>
          <p:nvPr/>
        </p:nvSpPr>
        <p:spPr>
          <a:xfrm>
            <a:off x="914400" y="1920240"/>
            <a:ext cx="2743200" cy="1755648"/>
          </a:xfrm>
          <a:prstGeom prst="rect">
            <a:avLst/>
          </a:prstGeom>
          <a:noFill/>
        </p:spPr>
        <p:txBody>
          <a:bodyPr wrap="square" anchor="ctr" lIns="0" rIns="0" tIns="64008" bIns="64008">
            <a:spAutoFit/>
          </a:bodyPr>
          <a:lstStyle/>
          <a:p>
            <a:pPr algn="l">
              <a:lnSpc>
                <a:spcPct val="85000"/>
              </a:lnSpc>
            </a:pPr>
            <a:r>
              <a:rPr sz="12350" b="1">
                <a:solidFill>
                  <a:srgbClr val="898296"/>
                </a:solidFill>
                <a:latin typeface="Calibri"/>
              </a:rPr>
              <a:t>2</a:t>
            </a:r>
          </a:p>
        </p:txBody>
      </p:sp>
      <p:sp>
        <p:nvSpPr>
          <p:cNvPr id="5" name="section:title"/>
          <p:cNvSpPr txBox="1"/>
          <p:nvPr/>
        </p:nvSpPr>
        <p:spPr>
          <a:xfrm>
            <a:off x="914400" y="3675888"/>
            <a:ext cx="6766560" cy="512064"/>
          </a:xfrm>
          <a:prstGeom prst="rect">
            <a:avLst/>
          </a:prstGeom>
          <a:noFill/>
        </p:spPr>
        <p:txBody>
          <a:bodyPr wrap="square" anchor="t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2450" b="1">
                <a:solidFill>
                  <a:srgbClr val="FFFFFF"/>
                </a:solidFill>
                <a:latin typeface="Calibri"/>
              </a:rPr>
              <a:t>Delivery plan</a:t>
            </a:r>
          </a:p>
        </p:txBody>
      </p:sp>
      <p:sp>
        <p:nvSpPr>
          <p:cNvPr id="6" name="section:kicker"/>
          <p:cNvSpPr txBox="1"/>
          <p:nvPr/>
        </p:nvSpPr>
        <p:spPr>
          <a:xfrm>
            <a:off x="914400" y="4315968"/>
            <a:ext cx="6766560" cy="347472"/>
          </a:xfrm>
          <a:prstGeom prst="rect">
            <a:avLst/>
          </a:prstGeom>
          <a:noFill/>
        </p:spPr>
        <p:txBody>
          <a:bodyPr wrap="square" anchor="t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B1ADBA"/>
                </a:solidFill>
                <a:latin typeface="Calibri"/>
              </a:rPr>
              <a:t>The roadmap and the gates it has to clear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845820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7 of 12 sub-streams complete into Gate 3; 5 do not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845820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Programme roadmap | February 2026 to January 2027 | Position as at week 2026-W35</a:t>
            </a:r>
          </a:p>
        </p:txBody>
      </p:sp>
      <p:sp>
        <p:nvSpPr>
          <p:cNvPr id="4" name="header:band"/>
          <p:cNvSpPr/>
          <p:nvPr/>
        </p:nvSpPr>
        <p:spPr>
          <a:xfrm>
            <a:off x="365760" y="1133856"/>
            <a:ext cx="8458200" cy="274320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header:Work package"/>
          <p:cNvSpPr txBox="1"/>
          <p:nvPr/>
        </p:nvSpPr>
        <p:spPr>
          <a:xfrm>
            <a:off x="365760" y="1133856"/>
            <a:ext cx="1024128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Work package</a:t>
            </a:r>
          </a:p>
        </p:txBody>
      </p:sp>
      <p:sp>
        <p:nvSpPr>
          <p:cNvPr id="6" name="header:Sub-stream"/>
          <p:cNvSpPr txBox="1"/>
          <p:nvPr/>
        </p:nvSpPr>
        <p:spPr>
          <a:xfrm>
            <a:off x="1389888" y="1133856"/>
            <a:ext cx="1481328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Sub-stream</a:t>
            </a:r>
          </a:p>
        </p:txBody>
      </p:sp>
      <p:sp>
        <p:nvSpPr>
          <p:cNvPr id="7" name="header:m0"/>
          <p:cNvSpPr txBox="1"/>
          <p:nvPr/>
        </p:nvSpPr>
        <p:spPr>
          <a:xfrm>
            <a:off x="2871216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Feb 26</a:t>
            </a:r>
          </a:p>
        </p:txBody>
      </p:sp>
      <p:sp>
        <p:nvSpPr>
          <p:cNvPr id="8" name="header:m1"/>
          <p:cNvSpPr txBox="1"/>
          <p:nvPr/>
        </p:nvSpPr>
        <p:spPr>
          <a:xfrm>
            <a:off x="3367278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Mar</a:t>
            </a:r>
          </a:p>
        </p:txBody>
      </p:sp>
      <p:sp>
        <p:nvSpPr>
          <p:cNvPr id="9" name="header:m2"/>
          <p:cNvSpPr txBox="1"/>
          <p:nvPr/>
        </p:nvSpPr>
        <p:spPr>
          <a:xfrm>
            <a:off x="3863340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Apr</a:t>
            </a:r>
          </a:p>
        </p:txBody>
      </p:sp>
      <p:sp>
        <p:nvSpPr>
          <p:cNvPr id="10" name="header:m3"/>
          <p:cNvSpPr txBox="1"/>
          <p:nvPr/>
        </p:nvSpPr>
        <p:spPr>
          <a:xfrm>
            <a:off x="4359402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May</a:t>
            </a:r>
          </a:p>
        </p:txBody>
      </p:sp>
      <p:sp>
        <p:nvSpPr>
          <p:cNvPr id="11" name="header:m4"/>
          <p:cNvSpPr txBox="1"/>
          <p:nvPr/>
        </p:nvSpPr>
        <p:spPr>
          <a:xfrm>
            <a:off x="4855464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Jun</a:t>
            </a:r>
          </a:p>
        </p:txBody>
      </p:sp>
      <p:sp>
        <p:nvSpPr>
          <p:cNvPr id="12" name="header:m5"/>
          <p:cNvSpPr txBox="1"/>
          <p:nvPr/>
        </p:nvSpPr>
        <p:spPr>
          <a:xfrm>
            <a:off x="5351526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Jul</a:t>
            </a:r>
          </a:p>
        </p:txBody>
      </p:sp>
      <p:sp>
        <p:nvSpPr>
          <p:cNvPr id="13" name="header:m6"/>
          <p:cNvSpPr txBox="1"/>
          <p:nvPr/>
        </p:nvSpPr>
        <p:spPr>
          <a:xfrm>
            <a:off x="5847588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Aug</a:t>
            </a:r>
          </a:p>
        </p:txBody>
      </p:sp>
      <p:sp>
        <p:nvSpPr>
          <p:cNvPr id="14" name="header:m7"/>
          <p:cNvSpPr txBox="1"/>
          <p:nvPr/>
        </p:nvSpPr>
        <p:spPr>
          <a:xfrm>
            <a:off x="6343650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Sep</a:t>
            </a:r>
          </a:p>
        </p:txBody>
      </p:sp>
      <p:sp>
        <p:nvSpPr>
          <p:cNvPr id="15" name="header:m8"/>
          <p:cNvSpPr txBox="1"/>
          <p:nvPr/>
        </p:nvSpPr>
        <p:spPr>
          <a:xfrm>
            <a:off x="6839712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Oct</a:t>
            </a:r>
          </a:p>
        </p:txBody>
      </p:sp>
      <p:sp>
        <p:nvSpPr>
          <p:cNvPr id="16" name="header:m9"/>
          <p:cNvSpPr txBox="1"/>
          <p:nvPr/>
        </p:nvSpPr>
        <p:spPr>
          <a:xfrm>
            <a:off x="7335774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Nov</a:t>
            </a:r>
          </a:p>
        </p:txBody>
      </p:sp>
      <p:sp>
        <p:nvSpPr>
          <p:cNvPr id="17" name="header:m10"/>
          <p:cNvSpPr txBox="1"/>
          <p:nvPr/>
        </p:nvSpPr>
        <p:spPr>
          <a:xfrm>
            <a:off x="7831836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Dec</a:t>
            </a:r>
          </a:p>
        </p:txBody>
      </p:sp>
      <p:sp>
        <p:nvSpPr>
          <p:cNvPr id="18" name="header:m11"/>
          <p:cNvSpPr txBox="1"/>
          <p:nvPr/>
        </p:nvSpPr>
        <p:spPr>
          <a:xfrm>
            <a:off x="8327898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Jan 27</a:t>
            </a:r>
          </a:p>
        </p:txBody>
      </p:sp>
      <p:sp>
        <p:nvSpPr>
          <p:cNvPr id="19" name="surface:row1tint"/>
          <p:cNvSpPr/>
          <p:nvPr/>
        </p:nvSpPr>
        <p:spPr>
          <a:xfrm>
            <a:off x="1389888" y="1778508"/>
            <a:ext cx="7434072" cy="3703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surface:row3tint"/>
          <p:cNvSpPr/>
          <p:nvPr/>
        </p:nvSpPr>
        <p:spPr>
          <a:xfrm>
            <a:off x="1389888" y="2519172"/>
            <a:ext cx="7434072" cy="3703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surface:row5tint"/>
          <p:cNvSpPr/>
          <p:nvPr/>
        </p:nvSpPr>
        <p:spPr>
          <a:xfrm>
            <a:off x="1389888" y="3259836"/>
            <a:ext cx="7434072" cy="3703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surface:row7tint"/>
          <p:cNvSpPr/>
          <p:nvPr/>
        </p:nvSpPr>
        <p:spPr>
          <a:xfrm>
            <a:off x="1389888" y="4000500"/>
            <a:ext cx="7434072" cy="3703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surface:row9tint"/>
          <p:cNvSpPr/>
          <p:nvPr/>
        </p:nvSpPr>
        <p:spPr>
          <a:xfrm>
            <a:off x="1389888" y="4741164"/>
            <a:ext cx="7434072" cy="3703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surface:row11tint"/>
          <p:cNvSpPr/>
          <p:nvPr/>
        </p:nvSpPr>
        <p:spPr>
          <a:xfrm>
            <a:off x="1389888" y="5481828"/>
            <a:ext cx="7434072" cy="3703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wp0:block"/>
          <p:cNvSpPr/>
          <p:nvPr/>
        </p:nvSpPr>
        <p:spPr>
          <a:xfrm>
            <a:off x="365760" y="1408176"/>
            <a:ext cx="1024128" cy="1110996"/>
          </a:xfrm>
          <a:prstGeom prst="rect">
            <a:avLst/>
          </a:prstGeom>
          <a:solidFill>
            <a:srgbClr val="EBE9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wp0:label"/>
          <p:cNvSpPr txBox="1"/>
          <p:nvPr/>
        </p:nvSpPr>
        <p:spPr>
          <a:xfrm>
            <a:off x="420624" y="1408176"/>
            <a:ext cx="914400" cy="111099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Operating Model &amp; Service Design</a:t>
            </a:r>
          </a:p>
        </p:txBody>
      </p:sp>
      <p:sp>
        <p:nvSpPr>
          <p:cNvPr id="27" name="wp3:block"/>
          <p:cNvSpPr/>
          <p:nvPr/>
        </p:nvSpPr>
        <p:spPr>
          <a:xfrm>
            <a:off x="365760" y="2519172"/>
            <a:ext cx="1024128" cy="1481328"/>
          </a:xfrm>
          <a:prstGeom prst="rect">
            <a:avLst/>
          </a:prstGeom>
          <a:solidFill>
            <a:srgbClr val="EBE9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wp3:label"/>
          <p:cNvSpPr txBox="1"/>
          <p:nvPr/>
        </p:nvSpPr>
        <p:spPr>
          <a:xfrm>
            <a:off x="420624" y="2519172"/>
            <a:ext cx="914400" cy="148132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Process Standardisation</a:t>
            </a:r>
          </a:p>
        </p:txBody>
      </p:sp>
      <p:sp>
        <p:nvSpPr>
          <p:cNvPr id="29" name="wp7:block"/>
          <p:cNvSpPr/>
          <p:nvPr/>
        </p:nvSpPr>
        <p:spPr>
          <a:xfrm>
            <a:off x="365760" y="4000500"/>
            <a:ext cx="1024128" cy="1110996"/>
          </a:xfrm>
          <a:prstGeom prst="rect">
            <a:avLst/>
          </a:prstGeom>
          <a:solidFill>
            <a:srgbClr val="EBE9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wp7:label"/>
          <p:cNvSpPr txBox="1"/>
          <p:nvPr/>
        </p:nvSpPr>
        <p:spPr>
          <a:xfrm>
            <a:off x="420624" y="4000500"/>
            <a:ext cx="914400" cy="111099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Technology &amp; Automation</a:t>
            </a:r>
          </a:p>
        </p:txBody>
      </p:sp>
      <p:sp>
        <p:nvSpPr>
          <p:cNvPr id="31" name="wp10:block"/>
          <p:cNvSpPr/>
          <p:nvPr/>
        </p:nvSpPr>
        <p:spPr>
          <a:xfrm>
            <a:off x="365760" y="5111496"/>
            <a:ext cx="1024128" cy="740664"/>
          </a:xfrm>
          <a:prstGeom prst="rect">
            <a:avLst/>
          </a:prstGeom>
          <a:solidFill>
            <a:srgbClr val="EBE9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wp10:label"/>
          <p:cNvSpPr txBox="1"/>
          <p:nvPr/>
        </p:nvSpPr>
        <p:spPr>
          <a:xfrm>
            <a:off x="420624" y="5111496"/>
            <a:ext cx="914400" cy="740664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Transition &amp; Change</a:t>
            </a:r>
          </a:p>
        </p:txBody>
      </p:sp>
      <p:sp>
        <p:nvSpPr>
          <p:cNvPr id="33" name="row0:sublabel"/>
          <p:cNvSpPr txBox="1"/>
          <p:nvPr/>
        </p:nvSpPr>
        <p:spPr>
          <a:xfrm>
            <a:off x="1444752" y="1408176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Service Catalogue &amp; SLAs</a:t>
            </a:r>
          </a:p>
        </p:txBody>
      </p:sp>
      <p:sp>
        <p:nvSpPr>
          <p:cNvPr id="34" name="row1:sublabel"/>
          <p:cNvSpPr txBox="1"/>
          <p:nvPr/>
        </p:nvSpPr>
        <p:spPr>
          <a:xfrm>
            <a:off x="1444752" y="1778508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Organisation &amp; Role Design</a:t>
            </a:r>
          </a:p>
        </p:txBody>
      </p:sp>
      <p:sp>
        <p:nvSpPr>
          <p:cNvPr id="35" name="row2:sublabel"/>
          <p:cNvSpPr txBox="1"/>
          <p:nvPr/>
        </p:nvSpPr>
        <p:spPr>
          <a:xfrm>
            <a:off x="1444752" y="2148840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Location &amp; Footprint Strategy</a:t>
            </a:r>
          </a:p>
        </p:txBody>
      </p:sp>
      <p:sp>
        <p:nvSpPr>
          <p:cNvPr id="36" name="row3:sublabel"/>
          <p:cNvSpPr txBox="1"/>
          <p:nvPr/>
        </p:nvSpPr>
        <p:spPr>
          <a:xfrm>
            <a:off x="1444752" y="2519172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Record to Report</a:t>
            </a:r>
          </a:p>
        </p:txBody>
      </p:sp>
      <p:sp>
        <p:nvSpPr>
          <p:cNvPr id="37" name="row4:sublabel"/>
          <p:cNvSpPr txBox="1"/>
          <p:nvPr/>
        </p:nvSpPr>
        <p:spPr>
          <a:xfrm>
            <a:off x="1444752" y="2889504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Purchase to Pay</a:t>
            </a:r>
          </a:p>
        </p:txBody>
      </p:sp>
      <p:sp>
        <p:nvSpPr>
          <p:cNvPr id="38" name="row5:sublabel"/>
          <p:cNvSpPr txBox="1"/>
          <p:nvPr/>
        </p:nvSpPr>
        <p:spPr>
          <a:xfrm>
            <a:off x="1444752" y="3259836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Order to Cash</a:t>
            </a:r>
          </a:p>
        </p:txBody>
      </p:sp>
      <p:sp>
        <p:nvSpPr>
          <p:cNvPr id="39" name="row6:sublabel"/>
          <p:cNvSpPr txBox="1"/>
          <p:nvPr/>
        </p:nvSpPr>
        <p:spPr>
          <a:xfrm>
            <a:off x="1444752" y="3630168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Master Data &amp; Controls</a:t>
            </a:r>
          </a:p>
        </p:txBody>
      </p:sp>
      <p:sp>
        <p:nvSpPr>
          <p:cNvPr id="40" name="row7:sublabel"/>
          <p:cNvSpPr txBox="1"/>
          <p:nvPr/>
        </p:nvSpPr>
        <p:spPr>
          <a:xfrm>
            <a:off x="1444752" y="4000500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ERP Template Alignment</a:t>
            </a:r>
          </a:p>
        </p:txBody>
      </p:sp>
      <p:sp>
        <p:nvSpPr>
          <p:cNvPr id="41" name="row8:sublabel"/>
          <p:cNvSpPr txBox="1"/>
          <p:nvPr/>
        </p:nvSpPr>
        <p:spPr>
          <a:xfrm>
            <a:off x="1444752" y="4370832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Workflow &amp; Intelligent Automation</a:t>
            </a:r>
          </a:p>
        </p:txBody>
      </p:sp>
      <p:sp>
        <p:nvSpPr>
          <p:cNvPr id="42" name="row9:sublabel"/>
          <p:cNvSpPr txBox="1"/>
          <p:nvPr/>
        </p:nvSpPr>
        <p:spPr>
          <a:xfrm>
            <a:off x="1444752" y="4741164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Reporting &amp; Analytics</a:t>
            </a:r>
          </a:p>
        </p:txBody>
      </p:sp>
      <p:sp>
        <p:nvSpPr>
          <p:cNvPr id="43" name="row10:sublabel"/>
          <p:cNvSpPr txBox="1"/>
          <p:nvPr/>
        </p:nvSpPr>
        <p:spPr>
          <a:xfrm>
            <a:off x="1444752" y="5111496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Knowledge Transfer &amp; Migration</a:t>
            </a:r>
          </a:p>
        </p:txBody>
      </p:sp>
      <p:sp>
        <p:nvSpPr>
          <p:cNvPr id="44" name="row11:sublabel"/>
          <p:cNvSpPr txBox="1"/>
          <p:nvPr/>
        </p:nvSpPr>
        <p:spPr>
          <a:xfrm>
            <a:off x="1444752" y="5481828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Change, Comms &amp; Training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3367278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46" name="Connector 45"/>
          <p:cNvCxnSpPr/>
          <p:nvPr/>
        </p:nvCxnSpPr>
        <p:spPr>
          <a:xfrm>
            <a:off x="3863340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47" name="Connector 46"/>
          <p:cNvCxnSpPr/>
          <p:nvPr/>
        </p:nvCxnSpPr>
        <p:spPr>
          <a:xfrm>
            <a:off x="4359402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48" name="Connector 47"/>
          <p:cNvCxnSpPr/>
          <p:nvPr/>
        </p:nvCxnSpPr>
        <p:spPr>
          <a:xfrm>
            <a:off x="4855464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49" name="Connector 48"/>
          <p:cNvCxnSpPr/>
          <p:nvPr/>
        </p:nvCxnSpPr>
        <p:spPr>
          <a:xfrm>
            <a:off x="5351526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50" name="Connector 49"/>
          <p:cNvCxnSpPr/>
          <p:nvPr/>
        </p:nvCxnSpPr>
        <p:spPr>
          <a:xfrm>
            <a:off x="5847588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51" name="Connector 50"/>
          <p:cNvCxnSpPr/>
          <p:nvPr/>
        </p:nvCxnSpPr>
        <p:spPr>
          <a:xfrm>
            <a:off x="6343650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52" name="Connector 51"/>
          <p:cNvCxnSpPr/>
          <p:nvPr/>
        </p:nvCxnSpPr>
        <p:spPr>
          <a:xfrm>
            <a:off x="6839712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53" name="Connector 52"/>
          <p:cNvCxnSpPr/>
          <p:nvPr/>
        </p:nvCxnSpPr>
        <p:spPr>
          <a:xfrm>
            <a:off x="7335774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54" name="Connector 53"/>
          <p:cNvCxnSpPr/>
          <p:nvPr/>
        </p:nvCxnSpPr>
        <p:spPr>
          <a:xfrm>
            <a:off x="7831836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55" name="Connector 54"/>
          <p:cNvCxnSpPr/>
          <p:nvPr/>
        </p:nvCxnSpPr>
        <p:spPr>
          <a:xfrm>
            <a:off x="8327898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56" name="Connector 55"/>
          <p:cNvCxnSpPr/>
          <p:nvPr/>
        </p:nvCxnSpPr>
        <p:spPr>
          <a:xfrm>
            <a:off x="8823960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sp>
        <p:nvSpPr>
          <p:cNvPr id="57" name="row0:bar0"/>
          <p:cNvSpPr/>
          <p:nvPr/>
        </p:nvSpPr>
        <p:spPr>
          <a:xfrm>
            <a:off x="3012948" y="1508166"/>
            <a:ext cx="1247242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Service definition</a:t>
            </a:r>
          </a:p>
        </p:txBody>
      </p:sp>
      <p:sp>
        <p:nvSpPr>
          <p:cNvPr id="58" name="row0:bar1"/>
          <p:cNvSpPr/>
          <p:nvPr/>
        </p:nvSpPr>
        <p:spPr>
          <a:xfrm>
            <a:off x="4293260" y="1508166"/>
            <a:ext cx="1554328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SLA negotiation</a:t>
            </a:r>
          </a:p>
        </p:txBody>
      </p:sp>
      <p:sp>
        <p:nvSpPr>
          <p:cNvPr id="59" name="row0:bar2"/>
          <p:cNvSpPr/>
          <p:nvPr/>
        </p:nvSpPr>
        <p:spPr>
          <a:xfrm>
            <a:off x="5879592" y="1508166"/>
            <a:ext cx="1216152" cy="170352"/>
          </a:xfrm>
          <a:prstGeom prst="roundRect">
            <a:avLst>
              <a:gd name="adj" fmla="val 10000"/>
            </a:avLst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Catalogue publication</a:t>
            </a:r>
          </a:p>
        </p:txBody>
      </p:sp>
      <p:sp>
        <p:nvSpPr>
          <p:cNvPr id="60" name="row0:bar3"/>
          <p:cNvSpPr/>
          <p:nvPr/>
        </p:nvSpPr>
        <p:spPr>
          <a:xfrm>
            <a:off x="7127748" y="1508166"/>
            <a:ext cx="1552194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184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Embed in service reviews</a:t>
            </a:r>
          </a:p>
        </p:txBody>
      </p:sp>
      <p:sp>
        <p:nvSpPr>
          <p:cNvPr id="61" name="row1:bar0"/>
          <p:cNvSpPr/>
          <p:nvPr/>
        </p:nvSpPr>
        <p:spPr>
          <a:xfrm>
            <a:off x="3012948" y="1878498"/>
            <a:ext cx="1474470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Role architecture</a:t>
            </a:r>
          </a:p>
        </p:txBody>
      </p:sp>
      <p:sp>
        <p:nvSpPr>
          <p:cNvPr id="62" name="row1:bar1"/>
          <p:cNvSpPr/>
          <p:nvPr/>
        </p:nvSpPr>
        <p:spPr>
          <a:xfrm>
            <a:off x="4519422" y="1878498"/>
            <a:ext cx="1552194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Structure &amp; spans</a:t>
            </a:r>
          </a:p>
        </p:txBody>
      </p:sp>
      <p:sp>
        <p:nvSpPr>
          <p:cNvPr id="63" name="row1:bar2"/>
          <p:cNvSpPr/>
          <p:nvPr/>
        </p:nvSpPr>
        <p:spPr>
          <a:xfrm>
            <a:off x="6103620" y="1878498"/>
            <a:ext cx="1562862" cy="170352"/>
          </a:xfrm>
          <a:prstGeom prst="roundRect">
            <a:avLst>
              <a:gd name="adj" fmla="val 10000"/>
            </a:avLst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Consultation &amp; selection</a:t>
            </a:r>
          </a:p>
        </p:txBody>
      </p:sp>
      <p:sp>
        <p:nvSpPr>
          <p:cNvPr id="64" name="row1:bar3"/>
          <p:cNvSpPr/>
          <p:nvPr/>
        </p:nvSpPr>
        <p:spPr>
          <a:xfrm>
            <a:off x="7699553" y="1878498"/>
            <a:ext cx="1092403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row2:bar0"/>
          <p:cNvSpPr/>
          <p:nvPr/>
        </p:nvSpPr>
        <p:spPr>
          <a:xfrm>
            <a:off x="3136964" y="2248830"/>
            <a:ext cx="1574482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Location assessment</a:t>
            </a:r>
          </a:p>
        </p:txBody>
      </p:sp>
      <p:sp>
        <p:nvSpPr>
          <p:cNvPr id="66" name="row2:bar1"/>
          <p:cNvSpPr/>
          <p:nvPr/>
        </p:nvSpPr>
        <p:spPr>
          <a:xfrm>
            <a:off x="4743450" y="2248830"/>
            <a:ext cx="1216152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Site selection &amp; business case</a:t>
            </a:r>
          </a:p>
        </p:txBody>
      </p:sp>
      <p:sp>
        <p:nvSpPr>
          <p:cNvPr id="67" name="row2:bar2"/>
          <p:cNvSpPr/>
          <p:nvPr/>
        </p:nvSpPr>
        <p:spPr>
          <a:xfrm>
            <a:off x="5991606" y="2248830"/>
            <a:ext cx="2128266" cy="170352"/>
          </a:xfrm>
          <a:prstGeom prst="roundRect">
            <a:avLst>
              <a:gd name="adj" fmla="val 10000"/>
            </a:avLst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Site build-out</a:t>
            </a:r>
          </a:p>
        </p:txBody>
      </p:sp>
      <p:sp>
        <p:nvSpPr>
          <p:cNvPr id="68" name="row3:bar0"/>
          <p:cNvSpPr/>
          <p:nvPr/>
        </p:nvSpPr>
        <p:spPr>
          <a:xfrm>
            <a:off x="3136964" y="2619162"/>
            <a:ext cx="1686496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Process design</a:t>
            </a:r>
          </a:p>
        </p:txBody>
      </p:sp>
      <p:sp>
        <p:nvSpPr>
          <p:cNvPr id="69" name="row3:bar1"/>
          <p:cNvSpPr/>
          <p:nvPr/>
        </p:nvSpPr>
        <p:spPr>
          <a:xfrm>
            <a:off x="4855464" y="2619162"/>
            <a:ext cx="1670075" cy="170352"/>
          </a:xfrm>
          <a:prstGeom prst="roundRect">
            <a:avLst>
              <a:gd name="adj" fmla="val 10000"/>
            </a:avLst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Control framework build</a:t>
            </a:r>
          </a:p>
        </p:txBody>
      </p:sp>
      <p:sp>
        <p:nvSpPr>
          <p:cNvPr id="70" name="row3:bar2"/>
          <p:cNvSpPr/>
          <p:nvPr/>
        </p:nvSpPr>
        <p:spPr>
          <a:xfrm>
            <a:off x="6558610" y="2619162"/>
            <a:ext cx="1223620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Test &amp; pilot close</a:t>
            </a:r>
          </a:p>
        </p:txBody>
      </p:sp>
      <p:sp>
        <p:nvSpPr>
          <p:cNvPr id="71" name="row3:bar3"/>
          <p:cNvSpPr/>
          <p:nvPr/>
        </p:nvSpPr>
        <p:spPr>
          <a:xfrm>
            <a:off x="7815301" y="2619162"/>
            <a:ext cx="976655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Global rollout</a:t>
            </a:r>
          </a:p>
        </p:txBody>
      </p:sp>
      <p:sp>
        <p:nvSpPr>
          <p:cNvPr id="72" name="row4:bar0"/>
          <p:cNvSpPr/>
          <p:nvPr/>
        </p:nvSpPr>
        <p:spPr>
          <a:xfrm>
            <a:off x="3136964" y="2989494"/>
            <a:ext cx="1686496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Process design</a:t>
            </a:r>
          </a:p>
        </p:txBody>
      </p:sp>
      <p:sp>
        <p:nvSpPr>
          <p:cNvPr id="73" name="row4:bar1"/>
          <p:cNvSpPr/>
          <p:nvPr/>
        </p:nvSpPr>
        <p:spPr>
          <a:xfrm>
            <a:off x="4855464" y="2989494"/>
            <a:ext cx="1901571" cy="170352"/>
          </a:xfrm>
          <a:prstGeom prst="roundRect">
            <a:avLst>
              <a:gd name="adj" fmla="val 10000"/>
            </a:avLst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Build &amp; configuration</a:t>
            </a:r>
          </a:p>
        </p:txBody>
      </p:sp>
      <p:sp>
        <p:nvSpPr>
          <p:cNvPr id="74" name="row4:bar2"/>
          <p:cNvSpPr/>
          <p:nvPr/>
        </p:nvSpPr>
        <p:spPr>
          <a:xfrm>
            <a:off x="6790106" y="2989494"/>
            <a:ext cx="1217752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Test &amp; UAT</a:t>
            </a:r>
          </a:p>
        </p:txBody>
      </p:sp>
      <p:sp>
        <p:nvSpPr>
          <p:cNvPr id="75" name="row4:bar3"/>
          <p:cNvSpPr/>
          <p:nvPr/>
        </p:nvSpPr>
        <p:spPr>
          <a:xfrm>
            <a:off x="8039862" y="2989494"/>
            <a:ext cx="752094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Global rollout</a:t>
            </a:r>
          </a:p>
        </p:txBody>
      </p:sp>
      <p:sp>
        <p:nvSpPr>
          <p:cNvPr id="76" name="row5:bar0"/>
          <p:cNvSpPr/>
          <p:nvPr/>
        </p:nvSpPr>
        <p:spPr>
          <a:xfrm>
            <a:off x="3383280" y="3359826"/>
            <a:ext cx="1670609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Process design</a:t>
            </a:r>
          </a:p>
        </p:txBody>
      </p:sp>
      <p:sp>
        <p:nvSpPr>
          <p:cNvPr id="77" name="row5:bar1"/>
          <p:cNvSpPr/>
          <p:nvPr/>
        </p:nvSpPr>
        <p:spPr>
          <a:xfrm>
            <a:off x="5086960" y="3359826"/>
            <a:ext cx="1670075" cy="170352"/>
          </a:xfrm>
          <a:prstGeom prst="roundRect">
            <a:avLst>
              <a:gd name="adj" fmla="val 10000"/>
            </a:avLst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Build &amp; configuration</a:t>
            </a:r>
          </a:p>
        </p:txBody>
      </p:sp>
      <p:sp>
        <p:nvSpPr>
          <p:cNvPr id="78" name="row5:bar2"/>
          <p:cNvSpPr/>
          <p:nvPr/>
        </p:nvSpPr>
        <p:spPr>
          <a:xfrm>
            <a:off x="6790106" y="3359826"/>
            <a:ext cx="1217752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Test &amp; UAT</a:t>
            </a:r>
          </a:p>
        </p:txBody>
      </p:sp>
      <p:sp>
        <p:nvSpPr>
          <p:cNvPr id="79" name="row5:bar3"/>
          <p:cNvSpPr/>
          <p:nvPr/>
        </p:nvSpPr>
        <p:spPr>
          <a:xfrm>
            <a:off x="8039862" y="3359826"/>
            <a:ext cx="752094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Global rollout</a:t>
            </a:r>
          </a:p>
        </p:txBody>
      </p:sp>
      <p:sp>
        <p:nvSpPr>
          <p:cNvPr id="80" name="row6:bar0"/>
          <p:cNvSpPr/>
          <p:nvPr/>
        </p:nvSpPr>
        <p:spPr>
          <a:xfrm>
            <a:off x="3383280" y="3730158"/>
            <a:ext cx="1902104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Data model design</a:t>
            </a:r>
          </a:p>
        </p:txBody>
      </p:sp>
      <p:sp>
        <p:nvSpPr>
          <p:cNvPr id="81" name="row6:bar1"/>
          <p:cNvSpPr/>
          <p:nvPr/>
        </p:nvSpPr>
        <p:spPr>
          <a:xfrm>
            <a:off x="5318455" y="3730158"/>
            <a:ext cx="1665275" cy="170352"/>
          </a:xfrm>
          <a:prstGeom prst="roundRect">
            <a:avLst>
              <a:gd name="adj" fmla="val 10000"/>
            </a:avLst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Cleansing &amp; governance build</a:t>
            </a:r>
          </a:p>
        </p:txBody>
      </p:sp>
      <p:sp>
        <p:nvSpPr>
          <p:cNvPr id="82" name="row6:bar2"/>
          <p:cNvSpPr/>
          <p:nvPr/>
        </p:nvSpPr>
        <p:spPr>
          <a:xfrm>
            <a:off x="7015734" y="3730158"/>
            <a:ext cx="1440180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Migration validation</a:t>
            </a:r>
          </a:p>
        </p:txBody>
      </p:sp>
      <p:sp>
        <p:nvSpPr>
          <p:cNvPr id="83" name="row7:bar0"/>
          <p:cNvSpPr/>
          <p:nvPr/>
        </p:nvSpPr>
        <p:spPr>
          <a:xfrm>
            <a:off x="3012948" y="4100490"/>
            <a:ext cx="1586484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Template gap analysis</a:t>
            </a:r>
          </a:p>
        </p:txBody>
      </p:sp>
      <p:sp>
        <p:nvSpPr>
          <p:cNvPr id="84" name="row7:bar1"/>
          <p:cNvSpPr/>
          <p:nvPr/>
        </p:nvSpPr>
        <p:spPr>
          <a:xfrm>
            <a:off x="4631436" y="4100490"/>
            <a:ext cx="1894103" cy="170352"/>
          </a:xfrm>
          <a:prstGeom prst="roundRect">
            <a:avLst>
              <a:gd name="adj" fmla="val 10000"/>
            </a:avLst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Template build</a:t>
            </a:r>
          </a:p>
        </p:txBody>
      </p:sp>
      <p:sp>
        <p:nvSpPr>
          <p:cNvPr id="85" name="row7:bar2"/>
          <p:cNvSpPr/>
          <p:nvPr/>
        </p:nvSpPr>
        <p:spPr>
          <a:xfrm>
            <a:off x="6558610" y="4100490"/>
            <a:ext cx="1337234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Integration test</a:t>
            </a:r>
          </a:p>
        </p:txBody>
      </p:sp>
      <p:sp>
        <p:nvSpPr>
          <p:cNvPr id="86" name="row7:bar3"/>
          <p:cNvSpPr/>
          <p:nvPr/>
        </p:nvSpPr>
        <p:spPr>
          <a:xfrm>
            <a:off x="7927848" y="4100490"/>
            <a:ext cx="864108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7" name="row8:bar0"/>
          <p:cNvSpPr/>
          <p:nvPr/>
        </p:nvSpPr>
        <p:spPr>
          <a:xfrm>
            <a:off x="3607308" y="4470822"/>
            <a:ext cx="1562329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Opportunity assessment</a:t>
            </a:r>
          </a:p>
        </p:txBody>
      </p:sp>
      <p:sp>
        <p:nvSpPr>
          <p:cNvPr id="88" name="row8:bar1"/>
          <p:cNvSpPr/>
          <p:nvPr/>
        </p:nvSpPr>
        <p:spPr>
          <a:xfrm>
            <a:off x="5202707" y="4470822"/>
            <a:ext cx="1669009" cy="170352"/>
          </a:xfrm>
          <a:prstGeom prst="roundRect">
            <a:avLst>
              <a:gd name="adj" fmla="val 10000"/>
            </a:avLst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Automation build wave 1</a:t>
            </a:r>
          </a:p>
        </p:txBody>
      </p:sp>
      <p:sp>
        <p:nvSpPr>
          <p:cNvPr id="89" name="row8:bar2"/>
          <p:cNvSpPr/>
          <p:nvPr/>
        </p:nvSpPr>
        <p:spPr>
          <a:xfrm>
            <a:off x="6903720" y="4470822"/>
            <a:ext cx="1664208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Automation build wave 2</a:t>
            </a:r>
          </a:p>
        </p:txBody>
      </p:sp>
      <p:sp>
        <p:nvSpPr>
          <p:cNvPr id="90" name="row9:bar0"/>
          <p:cNvSpPr/>
          <p:nvPr/>
        </p:nvSpPr>
        <p:spPr>
          <a:xfrm>
            <a:off x="3946017" y="4841154"/>
            <a:ext cx="1677543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Reporting design</a:t>
            </a:r>
          </a:p>
        </p:txBody>
      </p:sp>
      <p:sp>
        <p:nvSpPr>
          <p:cNvPr id="91" name="row9:bar1"/>
          <p:cNvSpPr/>
          <p:nvPr/>
        </p:nvSpPr>
        <p:spPr>
          <a:xfrm>
            <a:off x="5655564" y="4841154"/>
            <a:ext cx="1779422" cy="170352"/>
          </a:xfrm>
          <a:prstGeom prst="roundRect">
            <a:avLst>
              <a:gd name="adj" fmla="val 10000"/>
            </a:avLst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Data layer build</a:t>
            </a:r>
          </a:p>
        </p:txBody>
      </p:sp>
      <p:sp>
        <p:nvSpPr>
          <p:cNvPr id="92" name="row9:bar2"/>
          <p:cNvSpPr/>
          <p:nvPr/>
        </p:nvSpPr>
        <p:spPr>
          <a:xfrm>
            <a:off x="7468057" y="4841154"/>
            <a:ext cx="1211885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Dashboard build &amp; UAT</a:t>
            </a:r>
          </a:p>
        </p:txBody>
      </p:sp>
      <p:sp>
        <p:nvSpPr>
          <p:cNvPr id="93" name="row10:bar0"/>
          <p:cNvSpPr/>
          <p:nvPr/>
        </p:nvSpPr>
        <p:spPr>
          <a:xfrm>
            <a:off x="3946017" y="5155936"/>
            <a:ext cx="1789557" cy="130667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Wave planning</a:t>
            </a:r>
          </a:p>
        </p:txBody>
      </p:sp>
      <p:sp>
        <p:nvSpPr>
          <p:cNvPr id="94" name="row10:bar1"/>
          <p:cNvSpPr/>
          <p:nvPr/>
        </p:nvSpPr>
        <p:spPr>
          <a:xfrm>
            <a:off x="5767578" y="5155936"/>
            <a:ext cx="1552194" cy="130667"/>
          </a:xfrm>
          <a:prstGeom prst="roundRect">
            <a:avLst>
              <a:gd name="adj" fmla="val 10000"/>
            </a:avLst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none" lIns="400050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Wave 1 knowledge transfer</a:t>
            </a:r>
          </a:p>
        </p:txBody>
      </p:sp>
      <p:sp>
        <p:nvSpPr>
          <p:cNvPr id="95" name="row10:bar2"/>
          <p:cNvSpPr/>
          <p:nvPr/>
        </p:nvSpPr>
        <p:spPr>
          <a:xfrm>
            <a:off x="6903720" y="5306720"/>
            <a:ext cx="1216152" cy="130667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6" name="row10:bar3"/>
          <p:cNvSpPr/>
          <p:nvPr/>
        </p:nvSpPr>
        <p:spPr>
          <a:xfrm>
            <a:off x="7815301" y="5155936"/>
            <a:ext cx="976655" cy="130667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7" name="row11:bar0"/>
          <p:cNvSpPr/>
          <p:nvPr/>
        </p:nvSpPr>
        <p:spPr>
          <a:xfrm>
            <a:off x="3607308" y="5581818"/>
            <a:ext cx="1678076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Change impact assessment</a:t>
            </a:r>
          </a:p>
        </p:txBody>
      </p:sp>
      <p:sp>
        <p:nvSpPr>
          <p:cNvPr id="98" name="row11:bar1"/>
          <p:cNvSpPr/>
          <p:nvPr/>
        </p:nvSpPr>
        <p:spPr>
          <a:xfrm>
            <a:off x="5318455" y="5581818"/>
            <a:ext cx="1889303" cy="170352"/>
          </a:xfrm>
          <a:prstGeom prst="roundRect">
            <a:avLst>
              <a:gd name="adj" fmla="val 10000"/>
            </a:avLst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Curriculum build</a:t>
            </a:r>
          </a:p>
        </p:txBody>
      </p:sp>
      <p:sp>
        <p:nvSpPr>
          <p:cNvPr id="99" name="row11:bar2"/>
          <p:cNvSpPr/>
          <p:nvPr/>
        </p:nvSpPr>
        <p:spPr>
          <a:xfrm>
            <a:off x="7239762" y="5581818"/>
            <a:ext cx="1552194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637946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Delivery &amp; readiness</a:t>
            </a:r>
          </a:p>
        </p:txBody>
      </p:sp>
      <p:sp>
        <p:nvSpPr>
          <p:cNvPr id="100" name="marker:row0ms0"/>
          <p:cNvSpPr/>
          <p:nvPr/>
        </p:nvSpPr>
        <p:spPr>
          <a:xfrm>
            <a:off x="4186504" y="1536192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1" name="marker:row0ms1"/>
          <p:cNvSpPr/>
          <p:nvPr/>
        </p:nvSpPr>
        <p:spPr>
          <a:xfrm>
            <a:off x="5774436" y="1536192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2" name="marker:row0ms2"/>
          <p:cNvSpPr/>
          <p:nvPr/>
        </p:nvSpPr>
        <p:spPr>
          <a:xfrm>
            <a:off x="7477048" y="1536192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3" name="marker:row1ms0"/>
          <p:cNvSpPr/>
          <p:nvPr/>
        </p:nvSpPr>
        <p:spPr>
          <a:xfrm>
            <a:off x="4414266" y="1906524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4" name="marker:row1ms1"/>
          <p:cNvSpPr/>
          <p:nvPr/>
        </p:nvSpPr>
        <p:spPr>
          <a:xfrm>
            <a:off x="7246620" y="1906524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5" name="marker:row1ms2"/>
          <p:cNvSpPr/>
          <p:nvPr/>
        </p:nvSpPr>
        <p:spPr>
          <a:xfrm>
            <a:off x="7934706" y="1906524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6" name="marker:row2ms0"/>
          <p:cNvSpPr/>
          <p:nvPr/>
        </p:nvSpPr>
        <p:spPr>
          <a:xfrm>
            <a:off x="4638294" y="2276856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7" name="marker:row2ms1"/>
          <p:cNvSpPr/>
          <p:nvPr/>
        </p:nvSpPr>
        <p:spPr>
          <a:xfrm>
            <a:off x="5886450" y="2276856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8" name="marker:row2ms2"/>
          <p:cNvSpPr/>
          <p:nvPr/>
        </p:nvSpPr>
        <p:spPr>
          <a:xfrm>
            <a:off x="7022592" y="2276856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9" name="marker:row2ms3"/>
          <p:cNvSpPr/>
          <p:nvPr/>
        </p:nvSpPr>
        <p:spPr>
          <a:xfrm>
            <a:off x="8046720" y="2276856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0" name="marker:row3ms0"/>
          <p:cNvSpPr/>
          <p:nvPr/>
        </p:nvSpPr>
        <p:spPr>
          <a:xfrm>
            <a:off x="4750308" y="2647188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1" name="marker:row3ms1"/>
          <p:cNvSpPr/>
          <p:nvPr/>
        </p:nvSpPr>
        <p:spPr>
          <a:xfrm>
            <a:off x="6451854" y="2647188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2" name="marker:row3ms2"/>
          <p:cNvSpPr/>
          <p:nvPr/>
        </p:nvSpPr>
        <p:spPr>
          <a:xfrm>
            <a:off x="7708544" y="2647188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3" name="marker:row4ms0"/>
          <p:cNvSpPr/>
          <p:nvPr/>
        </p:nvSpPr>
        <p:spPr>
          <a:xfrm>
            <a:off x="6683349" y="3017520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4" name="marker:row4ms1"/>
          <p:cNvSpPr/>
          <p:nvPr/>
        </p:nvSpPr>
        <p:spPr>
          <a:xfrm>
            <a:off x="7934706" y="3017520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5" name="marker:row5ms0"/>
          <p:cNvSpPr/>
          <p:nvPr/>
        </p:nvSpPr>
        <p:spPr>
          <a:xfrm>
            <a:off x="4980203" y="3387852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6" name="marker:row5ms1"/>
          <p:cNvSpPr/>
          <p:nvPr/>
        </p:nvSpPr>
        <p:spPr>
          <a:xfrm>
            <a:off x="6683349" y="3387852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7" name="marker:row6ms0"/>
          <p:cNvSpPr/>
          <p:nvPr/>
        </p:nvSpPr>
        <p:spPr>
          <a:xfrm>
            <a:off x="5211699" y="3758184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8" name="marker:row6ms1"/>
          <p:cNvSpPr/>
          <p:nvPr/>
        </p:nvSpPr>
        <p:spPr>
          <a:xfrm>
            <a:off x="6910578" y="3758184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9" name="marker:row6ms2"/>
          <p:cNvSpPr/>
          <p:nvPr/>
        </p:nvSpPr>
        <p:spPr>
          <a:xfrm>
            <a:off x="8382762" y="3758184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0" name="marker:row7ms0"/>
          <p:cNvSpPr/>
          <p:nvPr/>
        </p:nvSpPr>
        <p:spPr>
          <a:xfrm>
            <a:off x="4526280" y="4128516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1" name="marker:row7ms1"/>
          <p:cNvSpPr/>
          <p:nvPr/>
        </p:nvSpPr>
        <p:spPr>
          <a:xfrm>
            <a:off x="6451854" y="4128516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2" name="marker:row7ms2"/>
          <p:cNvSpPr/>
          <p:nvPr/>
        </p:nvSpPr>
        <p:spPr>
          <a:xfrm>
            <a:off x="7822692" y="4128516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3" name="marker:row7ms3"/>
          <p:cNvSpPr/>
          <p:nvPr/>
        </p:nvSpPr>
        <p:spPr>
          <a:xfrm>
            <a:off x="8382762" y="4128516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4" name="marker:row8ms0"/>
          <p:cNvSpPr/>
          <p:nvPr/>
        </p:nvSpPr>
        <p:spPr>
          <a:xfrm>
            <a:off x="5095951" y="4498848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5" name="marker:row8ms1"/>
          <p:cNvSpPr/>
          <p:nvPr/>
        </p:nvSpPr>
        <p:spPr>
          <a:xfrm>
            <a:off x="6798564" y="4498848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6" name="marker:row8ms2"/>
          <p:cNvSpPr/>
          <p:nvPr/>
        </p:nvSpPr>
        <p:spPr>
          <a:xfrm>
            <a:off x="8494776" y="4498848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7" name="marker:row9ms0"/>
          <p:cNvSpPr/>
          <p:nvPr/>
        </p:nvSpPr>
        <p:spPr>
          <a:xfrm>
            <a:off x="5550408" y="4869180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8" name="marker:row9ms1"/>
          <p:cNvSpPr/>
          <p:nvPr/>
        </p:nvSpPr>
        <p:spPr>
          <a:xfrm>
            <a:off x="7361301" y="4869180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9" name="marker:row9ms2"/>
          <p:cNvSpPr/>
          <p:nvPr/>
        </p:nvSpPr>
        <p:spPr>
          <a:xfrm>
            <a:off x="8606790" y="4869180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0" name="marker:row10ms0"/>
          <p:cNvSpPr/>
          <p:nvPr/>
        </p:nvSpPr>
        <p:spPr>
          <a:xfrm>
            <a:off x="5662422" y="5239512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1" name="marker:row10ms1"/>
          <p:cNvSpPr/>
          <p:nvPr/>
        </p:nvSpPr>
        <p:spPr>
          <a:xfrm>
            <a:off x="5998464" y="5239512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2" name="marker:row10ms2"/>
          <p:cNvSpPr/>
          <p:nvPr/>
        </p:nvSpPr>
        <p:spPr>
          <a:xfrm>
            <a:off x="7246620" y="5239512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3" name="marker:row10ms3"/>
          <p:cNvSpPr/>
          <p:nvPr/>
        </p:nvSpPr>
        <p:spPr>
          <a:xfrm>
            <a:off x="8046720" y="5239512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4" name="marker:row10ms4"/>
          <p:cNvSpPr/>
          <p:nvPr/>
        </p:nvSpPr>
        <p:spPr>
          <a:xfrm>
            <a:off x="8709660" y="5239512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5" name="marker:row11ms0"/>
          <p:cNvSpPr/>
          <p:nvPr/>
        </p:nvSpPr>
        <p:spPr>
          <a:xfrm>
            <a:off x="5211699" y="5609844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6" name="marker:row11ms1"/>
          <p:cNvSpPr/>
          <p:nvPr/>
        </p:nvSpPr>
        <p:spPr>
          <a:xfrm>
            <a:off x="7134606" y="5609844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7" name="marker:row11ms2"/>
          <p:cNvSpPr/>
          <p:nvPr/>
        </p:nvSpPr>
        <p:spPr>
          <a:xfrm>
            <a:off x="7708544" y="5609844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cxnSp>
        <p:nvCxnSpPr>
          <p:cNvPr id="138" name="Connector 137"/>
          <p:cNvCxnSpPr/>
          <p:nvPr/>
        </p:nvCxnSpPr>
        <p:spPr>
          <a:xfrm>
            <a:off x="6279642" y="1408176"/>
            <a:ext cx="0" cy="4443984"/>
          </a:xfrm>
          <a:prstGeom prst="line">
            <a:avLst/>
          </a:prstGeom>
          <a:ln w="19050">
            <a:solidFill>
              <a:srgbClr val="6E5B8E"/>
            </a:solidFill>
          </a:ln>
          <a:effectLst/>
        </p:spPr>
      </p:cxnSp>
      <p:sp>
        <p:nvSpPr>
          <p:cNvPr id="139" name="legend0:swatch"/>
          <p:cNvSpPr/>
          <p:nvPr/>
        </p:nvSpPr>
        <p:spPr>
          <a:xfrm>
            <a:off x="365760" y="6053328"/>
            <a:ext cx="182880" cy="731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0" name="legend0:label"/>
          <p:cNvSpPr txBox="1"/>
          <p:nvPr/>
        </p:nvSpPr>
        <p:spPr>
          <a:xfrm>
            <a:off x="603504" y="5980176"/>
            <a:ext cx="455574" cy="219456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Complete</a:t>
            </a:r>
          </a:p>
        </p:txBody>
      </p:sp>
      <p:sp>
        <p:nvSpPr>
          <p:cNvPr id="141" name="legend1:swatch"/>
          <p:cNvSpPr/>
          <p:nvPr/>
        </p:nvSpPr>
        <p:spPr>
          <a:xfrm>
            <a:off x="1296822" y="6053328"/>
            <a:ext cx="182880" cy="73152"/>
          </a:xfrm>
          <a:prstGeom prst="roundRect">
            <a:avLst>
              <a:gd name="adj" fmla="val 10000"/>
            </a:avLst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2" name="legend1:label"/>
          <p:cNvSpPr txBox="1"/>
          <p:nvPr/>
        </p:nvSpPr>
        <p:spPr>
          <a:xfrm>
            <a:off x="1534566" y="5980176"/>
            <a:ext cx="512470" cy="219456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In progress</a:t>
            </a:r>
          </a:p>
        </p:txBody>
      </p:sp>
      <p:sp>
        <p:nvSpPr>
          <p:cNvPr id="143" name="legend2:swatch"/>
          <p:cNvSpPr/>
          <p:nvPr/>
        </p:nvSpPr>
        <p:spPr>
          <a:xfrm>
            <a:off x="2284780" y="6053328"/>
            <a:ext cx="182880" cy="731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4" name="legend2:label"/>
          <p:cNvSpPr txBox="1"/>
          <p:nvPr/>
        </p:nvSpPr>
        <p:spPr>
          <a:xfrm>
            <a:off x="2522524" y="5980176"/>
            <a:ext cx="389940" cy="219456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Planned</a:t>
            </a:r>
          </a:p>
        </p:txBody>
      </p:sp>
      <p:sp>
        <p:nvSpPr>
          <p:cNvPr id="145" name="legend3:swatch"/>
          <p:cNvSpPr/>
          <p:nvPr/>
        </p:nvSpPr>
        <p:spPr>
          <a:xfrm>
            <a:off x="3150208" y="6053328"/>
            <a:ext cx="182880" cy="73152"/>
          </a:xfrm>
          <a:prstGeom prst="roundRect">
            <a:avLst>
              <a:gd name="adj" fmla="val 10000"/>
            </a:avLst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6" name="legend3:label"/>
          <p:cNvSpPr txBox="1"/>
          <p:nvPr/>
        </p:nvSpPr>
        <p:spPr>
          <a:xfrm>
            <a:off x="3387952" y="5980176"/>
            <a:ext cx="315366" cy="219456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At risk</a:t>
            </a:r>
          </a:p>
        </p:txBody>
      </p:sp>
      <p:sp>
        <p:nvSpPr>
          <p:cNvPr id="147" name="legend4:swatch"/>
          <p:cNvSpPr/>
          <p:nvPr/>
        </p:nvSpPr>
        <p:spPr>
          <a:xfrm>
            <a:off x="3977638" y="6035040"/>
            <a:ext cx="109728" cy="109728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8" name="legend4:label"/>
          <p:cNvSpPr txBox="1"/>
          <p:nvPr/>
        </p:nvSpPr>
        <p:spPr>
          <a:xfrm>
            <a:off x="4178806" y="5980176"/>
            <a:ext cx="470103" cy="219456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Milestone</a:t>
            </a:r>
          </a:p>
        </p:txBody>
      </p:sp>
      <p:cxnSp>
        <p:nvCxnSpPr>
          <p:cNvPr id="149" name="Connector 148"/>
          <p:cNvCxnSpPr/>
          <p:nvPr/>
        </p:nvCxnSpPr>
        <p:spPr>
          <a:xfrm>
            <a:off x="4978093" y="6024067"/>
            <a:ext cx="0" cy="175565"/>
          </a:xfrm>
          <a:prstGeom prst="line">
            <a:avLst/>
          </a:prstGeom>
          <a:ln w="19050">
            <a:solidFill>
              <a:srgbClr val="6E5B8E"/>
            </a:solidFill>
          </a:ln>
          <a:effectLst/>
        </p:spPr>
      </p:cxnSp>
      <p:sp>
        <p:nvSpPr>
          <p:cNvPr id="150" name="legend5:label"/>
          <p:cNvSpPr txBox="1"/>
          <p:nvPr/>
        </p:nvSpPr>
        <p:spPr>
          <a:xfrm>
            <a:off x="5124397" y="5980176"/>
            <a:ext cx="671068" cy="219456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Reporting date</a:t>
            </a:r>
          </a:p>
        </p:txBody>
      </p:sp>
      <p:sp>
        <p:nvSpPr>
          <p:cNvPr id="151" name="panel:bg"/>
          <p:cNvSpPr/>
          <p:nvPr/>
        </p:nvSpPr>
        <p:spPr>
          <a:xfrm>
            <a:off x="8961120" y="1133856"/>
            <a:ext cx="2865120" cy="5065776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2" name="panel:heading"/>
          <p:cNvSpPr txBox="1"/>
          <p:nvPr/>
        </p:nvSpPr>
        <p:spPr>
          <a:xfrm>
            <a:off x="9089136" y="1261872"/>
            <a:ext cx="2609088" cy="21945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3274A"/>
                </a:solidFill>
                <a:latin typeface="Calibri"/>
              </a:rPr>
              <a:t>Considerations</a:t>
            </a:r>
          </a:p>
        </p:txBody>
      </p:sp>
      <p:sp>
        <p:nvSpPr>
          <p:cNvPr id="153" name="panel:body"/>
          <p:cNvSpPr txBox="1"/>
          <p:nvPr/>
        </p:nvSpPr>
        <p:spPr>
          <a:xfrm>
            <a:off x="9089136" y="1536192"/>
            <a:ext cx="2609088" cy="453542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Group Tax capacity for P2P country variants (H, Marcus Adeyemi, due 04 Sep)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P2P country tax variants exceed design assumption (H, Chiara Bellandi, due 11 Sep)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Regional finance teams available for UAT (H, Daniel Okonkwo, due 25 Sep)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Hub trainer capacity constrains overlapping migration waves (H, Yusuf Demirci, due 05 Oct)</a:t>
            </a:r>
          </a:p>
        </p:txBody>
      </p:sp>
      <p:sp>
        <p:nvSpPr>
          <p:cNvPr id="154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155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1146048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Gate 3 on 11 September is at risk; the 2 gates behind it are passed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1146048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Stage gate criteria | Position as at week 2026-W35 (28 Aug 2026)</a:t>
            </a:r>
          </a:p>
        </p:txBody>
      </p:sp>
      <p:sp>
        <p:nvSpPr>
          <p:cNvPr id="4" name="col0:box"/>
          <p:cNvSpPr/>
          <p:nvPr/>
        </p:nvSpPr>
        <p:spPr>
          <a:xfrm>
            <a:off x="365760" y="1133856"/>
            <a:ext cx="2182368" cy="5065776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col0:head"/>
          <p:cNvSpPr/>
          <p:nvPr/>
        </p:nvSpPr>
        <p:spPr>
          <a:xfrm>
            <a:off x="365760" y="1133856"/>
            <a:ext cx="2182368" cy="566928"/>
          </a:xfrm>
          <a:prstGeom prst="rect">
            <a:avLst/>
          </a:prstGeom>
          <a:solidFill>
            <a:srgbClr val="1F8A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col0:question"/>
          <p:cNvSpPr txBox="1"/>
          <p:nvPr/>
        </p:nvSpPr>
        <p:spPr>
          <a:xfrm>
            <a:off x="457200" y="1133856"/>
            <a:ext cx="1999488" cy="402336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Gate 1: Mobilisation complete</a:t>
            </a:r>
          </a:p>
        </p:txBody>
      </p:sp>
      <p:sp>
        <p:nvSpPr>
          <p:cNvPr id="7" name="col0:caption"/>
          <p:cNvSpPr txBox="1"/>
          <p:nvPr/>
        </p:nvSpPr>
        <p:spPr>
          <a:xfrm>
            <a:off x="457200" y="1536192"/>
            <a:ext cx="1999488" cy="164592"/>
          </a:xfrm>
          <a:prstGeom prst="rect">
            <a:avLst/>
          </a:prstGeom>
          <a:noFill/>
        </p:spPr>
        <p:txBody>
          <a:bodyPr wrap="non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>
                <a:solidFill>
                  <a:srgbClr val="FFFFFF"/>
                </a:solidFill>
                <a:latin typeface="Calibri"/>
              </a:rPr>
              <a:t>13 Mar 2026 - passed</a:t>
            </a:r>
          </a:p>
        </p:txBody>
      </p:sp>
      <p:sp>
        <p:nvSpPr>
          <p:cNvPr id="8" name="col0:label"/>
          <p:cNvSpPr txBox="1"/>
          <p:nvPr/>
        </p:nvSpPr>
        <p:spPr>
          <a:xfrm>
            <a:off x="457200" y="1792224"/>
            <a:ext cx="1999488" cy="18288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>
                <a:solidFill>
                  <a:srgbClr val="6E5B8E"/>
                </a:solidFill>
                <a:latin typeface="Calibri"/>
              </a:rPr>
              <a:t>Characteristics:</a:t>
            </a:r>
          </a:p>
        </p:txBody>
      </p:sp>
      <p:sp>
        <p:nvSpPr>
          <p:cNvPr id="9" name="col0:body"/>
          <p:cNvSpPr txBox="1"/>
          <p:nvPr/>
        </p:nvSpPr>
        <p:spPr>
          <a:xfrm>
            <a:off x="457200" y="1975104"/>
            <a:ext cx="1999488" cy="413308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Programme team mobilised and funded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Baseline scope and benefit case approved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Governance and cadence in place</a:t>
            </a:r>
          </a:p>
        </p:txBody>
      </p:sp>
      <p:sp>
        <p:nvSpPr>
          <p:cNvPr id="10" name="col1:box"/>
          <p:cNvSpPr/>
          <p:nvPr/>
        </p:nvSpPr>
        <p:spPr>
          <a:xfrm>
            <a:off x="2685288" y="1133856"/>
            <a:ext cx="2182368" cy="5065776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col1:head"/>
          <p:cNvSpPr/>
          <p:nvPr/>
        </p:nvSpPr>
        <p:spPr>
          <a:xfrm>
            <a:off x="2685288" y="1133856"/>
            <a:ext cx="2182368" cy="566928"/>
          </a:xfrm>
          <a:prstGeom prst="rect">
            <a:avLst/>
          </a:prstGeom>
          <a:solidFill>
            <a:srgbClr val="1F8A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col1:question"/>
          <p:cNvSpPr txBox="1"/>
          <p:nvPr/>
        </p:nvSpPr>
        <p:spPr>
          <a:xfrm>
            <a:off x="2776728" y="1133856"/>
            <a:ext cx="1999488" cy="402336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Gate 2: Design sign-off</a:t>
            </a:r>
          </a:p>
        </p:txBody>
      </p:sp>
      <p:sp>
        <p:nvSpPr>
          <p:cNvPr id="13" name="col1:caption"/>
          <p:cNvSpPr txBox="1"/>
          <p:nvPr/>
        </p:nvSpPr>
        <p:spPr>
          <a:xfrm>
            <a:off x="2776728" y="1536192"/>
            <a:ext cx="1999488" cy="164592"/>
          </a:xfrm>
          <a:prstGeom prst="rect">
            <a:avLst/>
          </a:prstGeom>
          <a:noFill/>
        </p:spPr>
        <p:txBody>
          <a:bodyPr wrap="non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>
                <a:solidFill>
                  <a:srgbClr val="FFFFFF"/>
                </a:solidFill>
                <a:latin typeface="Calibri"/>
              </a:rPr>
              <a:t>29 May 2026 - passed</a:t>
            </a:r>
          </a:p>
        </p:txBody>
      </p:sp>
      <p:sp>
        <p:nvSpPr>
          <p:cNvPr id="14" name="col1:label"/>
          <p:cNvSpPr txBox="1"/>
          <p:nvPr/>
        </p:nvSpPr>
        <p:spPr>
          <a:xfrm>
            <a:off x="2776728" y="1792224"/>
            <a:ext cx="1999488" cy="18288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>
                <a:solidFill>
                  <a:srgbClr val="6E5B8E"/>
                </a:solidFill>
                <a:latin typeface="Calibri"/>
              </a:rPr>
              <a:t>Characteristics:</a:t>
            </a:r>
          </a:p>
        </p:txBody>
      </p:sp>
      <p:sp>
        <p:nvSpPr>
          <p:cNvPr id="15" name="col1:body"/>
          <p:cNvSpPr txBox="1"/>
          <p:nvPr/>
        </p:nvSpPr>
        <p:spPr>
          <a:xfrm>
            <a:off x="2776728" y="1975104"/>
            <a:ext cx="1999488" cy="413308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End-to-end process designs approved by all Global Process Owners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Target operating model and role architecture agreed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Design decision log closed or dispositioned</a:t>
            </a:r>
          </a:p>
        </p:txBody>
      </p:sp>
      <p:sp>
        <p:nvSpPr>
          <p:cNvPr id="16" name="col2:box"/>
          <p:cNvSpPr/>
          <p:nvPr/>
        </p:nvSpPr>
        <p:spPr>
          <a:xfrm>
            <a:off x="5004816" y="1133856"/>
            <a:ext cx="2182368" cy="5065776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col2:head"/>
          <p:cNvSpPr/>
          <p:nvPr/>
        </p:nvSpPr>
        <p:spPr>
          <a:xfrm>
            <a:off x="5004816" y="1133856"/>
            <a:ext cx="2182368" cy="566928"/>
          </a:xfrm>
          <a:prstGeom prst="rect">
            <a:avLst/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col2:question"/>
          <p:cNvSpPr txBox="1"/>
          <p:nvPr/>
        </p:nvSpPr>
        <p:spPr>
          <a:xfrm>
            <a:off x="5096256" y="1133856"/>
            <a:ext cx="1999488" cy="402336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Gate 3: Build complete</a:t>
            </a:r>
          </a:p>
        </p:txBody>
      </p:sp>
      <p:sp>
        <p:nvSpPr>
          <p:cNvPr id="19" name="col2:caption"/>
          <p:cNvSpPr txBox="1"/>
          <p:nvPr/>
        </p:nvSpPr>
        <p:spPr>
          <a:xfrm>
            <a:off x="5096256" y="1536192"/>
            <a:ext cx="1999488" cy="164592"/>
          </a:xfrm>
          <a:prstGeom prst="rect">
            <a:avLst/>
          </a:prstGeom>
          <a:noFill/>
        </p:spPr>
        <p:txBody>
          <a:bodyPr wrap="non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>
                <a:solidFill>
                  <a:srgbClr val="FFFFFF"/>
                </a:solidFill>
                <a:latin typeface="Calibri"/>
              </a:rPr>
              <a:t>11 Sep 2026 - at-risk</a:t>
            </a:r>
          </a:p>
        </p:txBody>
      </p:sp>
      <p:sp>
        <p:nvSpPr>
          <p:cNvPr id="20" name="col2:label"/>
          <p:cNvSpPr txBox="1"/>
          <p:nvPr/>
        </p:nvSpPr>
        <p:spPr>
          <a:xfrm>
            <a:off x="5096256" y="1792224"/>
            <a:ext cx="1999488" cy="18288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>
                <a:solidFill>
                  <a:srgbClr val="6E5B8E"/>
                </a:solidFill>
                <a:latin typeface="Calibri"/>
              </a:rPr>
              <a:t>Characteristics:</a:t>
            </a:r>
          </a:p>
        </p:txBody>
      </p:sp>
      <p:sp>
        <p:nvSpPr>
          <p:cNvPr id="21" name="col2:body"/>
          <p:cNvSpPr txBox="1"/>
          <p:nvPr/>
        </p:nvSpPr>
        <p:spPr>
          <a:xfrm>
            <a:off x="5096256" y="1975104"/>
            <a:ext cx="1999488" cy="413308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ERP template build complete and unit tested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Control framework built and walked through with External Audit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P2P country tax variants configured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Wave 1 automations in pre-production</a:t>
            </a:r>
          </a:p>
        </p:txBody>
      </p:sp>
      <p:sp>
        <p:nvSpPr>
          <p:cNvPr id="22" name="col3:box"/>
          <p:cNvSpPr/>
          <p:nvPr/>
        </p:nvSpPr>
        <p:spPr>
          <a:xfrm>
            <a:off x="7324344" y="1133856"/>
            <a:ext cx="2182368" cy="5065776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col3:head"/>
          <p:cNvSpPr/>
          <p:nvPr/>
        </p:nvSpPr>
        <p:spPr>
          <a:xfrm>
            <a:off x="7324344" y="1133856"/>
            <a:ext cx="2182368" cy="566928"/>
          </a:xfrm>
          <a:prstGeom prst="rect">
            <a:avLst/>
          </a:prstGeom>
          <a:solidFill>
            <a:srgbClr val="6E5B8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col3:question"/>
          <p:cNvSpPr txBox="1"/>
          <p:nvPr/>
        </p:nvSpPr>
        <p:spPr>
          <a:xfrm>
            <a:off x="7415784" y="1133856"/>
            <a:ext cx="1999488" cy="402336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Gate 4: Go-live readiness</a:t>
            </a:r>
          </a:p>
        </p:txBody>
      </p:sp>
      <p:sp>
        <p:nvSpPr>
          <p:cNvPr id="25" name="col3:caption"/>
          <p:cNvSpPr txBox="1"/>
          <p:nvPr/>
        </p:nvSpPr>
        <p:spPr>
          <a:xfrm>
            <a:off x="7415784" y="1536192"/>
            <a:ext cx="1999488" cy="164592"/>
          </a:xfrm>
          <a:prstGeom prst="rect">
            <a:avLst/>
          </a:prstGeom>
          <a:noFill/>
        </p:spPr>
        <p:txBody>
          <a:bodyPr wrap="non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>
                <a:solidFill>
                  <a:srgbClr val="FFFFFF"/>
                </a:solidFill>
                <a:latin typeface="Calibri"/>
              </a:rPr>
              <a:t>20 Nov 2026 - upcoming</a:t>
            </a:r>
          </a:p>
        </p:txBody>
      </p:sp>
      <p:sp>
        <p:nvSpPr>
          <p:cNvPr id="26" name="col3:label"/>
          <p:cNvSpPr txBox="1"/>
          <p:nvPr/>
        </p:nvSpPr>
        <p:spPr>
          <a:xfrm>
            <a:off x="7415784" y="1792224"/>
            <a:ext cx="1999488" cy="18288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>
                <a:solidFill>
                  <a:srgbClr val="6E5B8E"/>
                </a:solidFill>
                <a:latin typeface="Calibri"/>
              </a:rPr>
              <a:t>Characteristics:</a:t>
            </a:r>
          </a:p>
        </p:txBody>
      </p:sp>
      <p:sp>
        <p:nvSpPr>
          <p:cNvPr id="27" name="col3:body"/>
          <p:cNvSpPr txBox="1"/>
          <p:nvPr/>
        </p:nvSpPr>
        <p:spPr>
          <a:xfrm>
            <a:off x="7415784" y="1975104"/>
            <a:ext cx="1999488" cy="413308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Integration and user acceptance testing signed off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Wave 1 knowledge transfer complete and stability review passed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Selection complete and hub roles appointed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Cutover and fallback plans rehearsed</a:t>
            </a:r>
          </a:p>
        </p:txBody>
      </p:sp>
      <p:sp>
        <p:nvSpPr>
          <p:cNvPr id="28" name="col4:box"/>
          <p:cNvSpPr/>
          <p:nvPr/>
        </p:nvSpPr>
        <p:spPr>
          <a:xfrm>
            <a:off x="9643872" y="1133856"/>
            <a:ext cx="2182368" cy="5065776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col4:head"/>
          <p:cNvSpPr/>
          <p:nvPr/>
        </p:nvSpPr>
        <p:spPr>
          <a:xfrm>
            <a:off x="9643872" y="1133856"/>
            <a:ext cx="2182368" cy="566928"/>
          </a:xfrm>
          <a:prstGeom prst="rect">
            <a:avLst/>
          </a:prstGeom>
          <a:solidFill>
            <a:srgbClr val="6E5B8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col4:question"/>
          <p:cNvSpPr txBox="1"/>
          <p:nvPr/>
        </p:nvSpPr>
        <p:spPr>
          <a:xfrm>
            <a:off x="9735312" y="1133856"/>
            <a:ext cx="1999488" cy="402336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Gate 5: Hypercare exit</a:t>
            </a:r>
          </a:p>
        </p:txBody>
      </p:sp>
      <p:sp>
        <p:nvSpPr>
          <p:cNvPr id="31" name="col4:caption"/>
          <p:cNvSpPr txBox="1"/>
          <p:nvPr/>
        </p:nvSpPr>
        <p:spPr>
          <a:xfrm>
            <a:off x="9735312" y="1536192"/>
            <a:ext cx="1999488" cy="164592"/>
          </a:xfrm>
          <a:prstGeom prst="rect">
            <a:avLst/>
          </a:prstGeom>
          <a:noFill/>
        </p:spPr>
        <p:txBody>
          <a:bodyPr wrap="non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>
                <a:solidFill>
                  <a:srgbClr val="FFFFFF"/>
                </a:solidFill>
                <a:latin typeface="Calibri"/>
              </a:rPr>
              <a:t>22 Jan 2027 - upcoming</a:t>
            </a:r>
          </a:p>
        </p:txBody>
      </p:sp>
      <p:sp>
        <p:nvSpPr>
          <p:cNvPr id="32" name="col4:label"/>
          <p:cNvSpPr txBox="1"/>
          <p:nvPr/>
        </p:nvSpPr>
        <p:spPr>
          <a:xfrm>
            <a:off x="9735312" y="1792224"/>
            <a:ext cx="1999488" cy="18288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>
                <a:solidFill>
                  <a:srgbClr val="6E5B8E"/>
                </a:solidFill>
                <a:latin typeface="Calibri"/>
              </a:rPr>
              <a:t>Characteristics:</a:t>
            </a:r>
          </a:p>
        </p:txBody>
      </p:sp>
      <p:sp>
        <p:nvSpPr>
          <p:cNvPr id="33" name="col4:body"/>
          <p:cNvSpPr txBox="1"/>
          <p:nvPr/>
        </p:nvSpPr>
        <p:spPr>
          <a:xfrm>
            <a:off x="9735312" y="1975104"/>
            <a:ext cx="1999488" cy="413308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All three waves live and stable for four consecutive weeks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SLAs met for two consecutive service review cycles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Benefit run-rate tracking within 10% of the case</a:t>
            </a:r>
          </a:p>
        </p:txBody>
      </p:sp>
      <p:sp>
        <p:nvSpPr>
          <p:cNvPr id="34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35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leed: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bleed:accent"/>
          <p:cNvSpPr/>
          <p:nvPr/>
        </p:nvSpPr>
        <p:spPr>
          <a:xfrm>
            <a:off x="7071360" y="1280160"/>
            <a:ext cx="6583680" cy="6583680"/>
          </a:xfrm>
          <a:prstGeom prst="ellipse">
            <a:avLst/>
          </a:prstGeom>
          <a:solidFill>
            <a:srgbClr val="473D5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section:number"/>
          <p:cNvSpPr txBox="1"/>
          <p:nvPr/>
        </p:nvSpPr>
        <p:spPr>
          <a:xfrm>
            <a:off x="914400" y="1920240"/>
            <a:ext cx="2743200" cy="1755648"/>
          </a:xfrm>
          <a:prstGeom prst="rect">
            <a:avLst/>
          </a:prstGeom>
          <a:noFill/>
        </p:spPr>
        <p:txBody>
          <a:bodyPr wrap="square" anchor="ctr" lIns="0" rIns="0" tIns="64008" bIns="64008">
            <a:spAutoFit/>
          </a:bodyPr>
          <a:lstStyle/>
          <a:p>
            <a:pPr algn="l">
              <a:lnSpc>
                <a:spcPct val="85000"/>
              </a:lnSpc>
            </a:pPr>
            <a:r>
              <a:rPr sz="12350" b="1">
                <a:solidFill>
                  <a:srgbClr val="898296"/>
                </a:solidFill>
                <a:latin typeface="Calibri"/>
              </a:rPr>
              <a:t>3</a:t>
            </a:r>
          </a:p>
        </p:txBody>
      </p:sp>
      <p:sp>
        <p:nvSpPr>
          <p:cNvPr id="5" name="section:title"/>
          <p:cNvSpPr txBox="1"/>
          <p:nvPr/>
        </p:nvSpPr>
        <p:spPr>
          <a:xfrm>
            <a:off x="914400" y="3675888"/>
            <a:ext cx="6766560" cy="512064"/>
          </a:xfrm>
          <a:prstGeom prst="rect">
            <a:avLst/>
          </a:prstGeom>
          <a:noFill/>
        </p:spPr>
        <p:txBody>
          <a:bodyPr wrap="square" anchor="t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2450" b="1">
                <a:solidFill>
                  <a:srgbClr val="FFFFFF"/>
                </a:solidFill>
                <a:latin typeface="Calibri"/>
              </a:rPr>
              <a:t>Work packages</a:t>
            </a:r>
          </a:p>
        </p:txBody>
      </p:sp>
      <p:sp>
        <p:nvSpPr>
          <p:cNvPr id="6" name="section:kicker"/>
          <p:cNvSpPr txBox="1"/>
          <p:nvPr/>
        </p:nvSpPr>
        <p:spPr>
          <a:xfrm>
            <a:off x="914400" y="4315968"/>
            <a:ext cx="6766560" cy="347472"/>
          </a:xfrm>
          <a:prstGeom prst="rect">
            <a:avLst/>
          </a:prstGeom>
          <a:noFill/>
        </p:spPr>
        <p:txBody>
          <a:bodyPr wrap="square" anchor="t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B1ADBA"/>
                </a:solidFill>
                <a:latin typeface="Calibri"/>
              </a:rPr>
              <a:t>Charter and current position for each work package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845820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2 of 3 sub-streams are on track; Organisation &amp; Role Design needs a decision this month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845820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Work package 1 - Operating Model &amp; Service Design | Charter and current position</a:t>
            </a:r>
          </a:p>
        </p:txBody>
      </p:sp>
      <p:sp>
        <p:nvSpPr>
          <p:cNvPr id="4" name="col0:header"/>
          <p:cNvSpPr/>
          <p:nvPr/>
        </p:nvSpPr>
        <p:spPr>
          <a:xfrm>
            <a:off x="868680" y="1133856"/>
            <a:ext cx="2560320" cy="40233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col0:badge"/>
          <p:cNvSpPr/>
          <p:nvPr/>
        </p:nvSpPr>
        <p:spPr>
          <a:xfrm>
            <a:off x="960120" y="121615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33274A"/>
                </a:solidFill>
                <a:latin typeface="Calibri"/>
              </a:rPr>
              <a:t>1.1</a:t>
            </a:r>
          </a:p>
        </p:txBody>
      </p:sp>
      <p:sp>
        <p:nvSpPr>
          <p:cNvPr id="6" name="col0:name"/>
          <p:cNvSpPr txBox="1"/>
          <p:nvPr/>
        </p:nvSpPr>
        <p:spPr>
          <a:xfrm>
            <a:off x="1261872" y="1133856"/>
            <a:ext cx="2075688" cy="40233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Service Catalogue &amp; SLAs</a:t>
            </a:r>
          </a:p>
        </p:txBody>
      </p:sp>
      <p:sp>
        <p:nvSpPr>
          <p:cNvPr id="7" name="col1:header"/>
          <p:cNvSpPr/>
          <p:nvPr/>
        </p:nvSpPr>
        <p:spPr>
          <a:xfrm>
            <a:off x="3566160" y="1133856"/>
            <a:ext cx="2560320" cy="40233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col1:badge"/>
          <p:cNvSpPr/>
          <p:nvPr/>
        </p:nvSpPr>
        <p:spPr>
          <a:xfrm>
            <a:off x="3657600" y="121615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33274A"/>
                </a:solidFill>
                <a:latin typeface="Calibri"/>
              </a:rPr>
              <a:t>1.2</a:t>
            </a:r>
          </a:p>
        </p:txBody>
      </p:sp>
      <p:sp>
        <p:nvSpPr>
          <p:cNvPr id="9" name="col1:name"/>
          <p:cNvSpPr txBox="1"/>
          <p:nvPr/>
        </p:nvSpPr>
        <p:spPr>
          <a:xfrm>
            <a:off x="3959352" y="1133856"/>
            <a:ext cx="2075688" cy="40233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Organisation &amp; Role Design</a:t>
            </a:r>
          </a:p>
        </p:txBody>
      </p:sp>
      <p:sp>
        <p:nvSpPr>
          <p:cNvPr id="10" name="col2:header"/>
          <p:cNvSpPr/>
          <p:nvPr/>
        </p:nvSpPr>
        <p:spPr>
          <a:xfrm>
            <a:off x="6263640" y="1133856"/>
            <a:ext cx="2560320" cy="40233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col2:badge"/>
          <p:cNvSpPr/>
          <p:nvPr/>
        </p:nvSpPr>
        <p:spPr>
          <a:xfrm>
            <a:off x="6355080" y="121615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33274A"/>
                </a:solidFill>
                <a:latin typeface="Calibri"/>
              </a:rPr>
              <a:t>1.3</a:t>
            </a:r>
          </a:p>
        </p:txBody>
      </p:sp>
      <p:sp>
        <p:nvSpPr>
          <p:cNvPr id="12" name="col2:name"/>
          <p:cNvSpPr txBox="1"/>
          <p:nvPr/>
        </p:nvSpPr>
        <p:spPr>
          <a:xfrm>
            <a:off x="6656832" y="1133856"/>
            <a:ext cx="2075688" cy="40233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Location &amp; Footprint Strategy</a:t>
            </a:r>
          </a:p>
        </p:txBody>
      </p:sp>
      <p:sp>
        <p:nvSpPr>
          <p:cNvPr id="13" name="activities:strip"/>
          <p:cNvSpPr/>
          <p:nvPr/>
        </p:nvSpPr>
        <p:spPr>
          <a:xfrm>
            <a:off x="365760" y="1673352"/>
            <a:ext cx="365760" cy="2639018"/>
          </a:xfrm>
          <a:prstGeom prst="rect">
            <a:avLst/>
          </a:prstGeom>
          <a:solidFill>
            <a:srgbClr val="EBE9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activities:list0"/>
          <p:cNvSpPr/>
          <p:nvPr/>
        </p:nvSpPr>
        <p:spPr>
          <a:xfrm>
            <a:off x="475488" y="1764792"/>
            <a:ext cx="146304" cy="182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activities:list1"/>
          <p:cNvSpPr/>
          <p:nvPr/>
        </p:nvSpPr>
        <p:spPr>
          <a:xfrm>
            <a:off x="475488" y="1813560"/>
            <a:ext cx="146304" cy="182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activities:list2"/>
          <p:cNvSpPr/>
          <p:nvPr/>
        </p:nvSpPr>
        <p:spPr>
          <a:xfrm>
            <a:off x="475488" y="1862328"/>
            <a:ext cx="90708" cy="182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activities:caption"/>
          <p:cNvSpPr txBox="1"/>
          <p:nvPr/>
        </p:nvSpPr>
        <p:spPr>
          <a:xfrm>
            <a:off x="365760" y="1984248"/>
            <a:ext cx="365760" cy="2273258"/>
          </a:xfrm>
          <a:prstGeom prst="rect">
            <a:avLst/>
          </a:prstGeom>
          <a:noFill/>
        </p:spPr>
        <p:txBody>
          <a:bodyPr wrap="none" vert="vert270" anchor="ctr" lIns="64008" rIns="64008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Key activities</a:t>
            </a:r>
          </a:p>
        </p:txBody>
      </p:sp>
      <p:sp>
        <p:nvSpPr>
          <p:cNvPr id="18" name="outcomes:strip"/>
          <p:cNvSpPr/>
          <p:nvPr/>
        </p:nvSpPr>
        <p:spPr>
          <a:xfrm>
            <a:off x="365760" y="4449530"/>
            <a:ext cx="365760" cy="1750102"/>
          </a:xfrm>
          <a:prstGeom prst="rect">
            <a:avLst/>
          </a:prstGeom>
          <a:solidFill>
            <a:srgbClr val="EBE9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utcomes:ring-outer"/>
          <p:cNvSpPr/>
          <p:nvPr/>
        </p:nvSpPr>
        <p:spPr>
          <a:xfrm>
            <a:off x="475488" y="4540970"/>
            <a:ext cx="146304" cy="146304"/>
          </a:xfrm>
          <a:prstGeom prst="ellipse">
            <a:avLst/>
          </a:prstGeom>
          <a:noFill/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utcomes:ring-inner"/>
          <p:cNvSpPr/>
          <p:nvPr/>
        </p:nvSpPr>
        <p:spPr>
          <a:xfrm>
            <a:off x="524256" y="4589738"/>
            <a:ext cx="48768" cy="48768"/>
          </a:xfrm>
          <a:prstGeom prst="ellipse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utcomes:caption"/>
          <p:cNvSpPr txBox="1"/>
          <p:nvPr/>
        </p:nvSpPr>
        <p:spPr>
          <a:xfrm>
            <a:off x="365760" y="4760426"/>
            <a:ext cx="365760" cy="1384342"/>
          </a:xfrm>
          <a:prstGeom prst="rect">
            <a:avLst/>
          </a:prstGeom>
          <a:noFill/>
        </p:spPr>
        <p:txBody>
          <a:bodyPr wrap="none" vert="vert270" anchor="ctr" lIns="64008" rIns="64008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Outcomes</a:t>
            </a:r>
          </a:p>
        </p:txBody>
      </p:sp>
      <p:sp>
        <p:nvSpPr>
          <p:cNvPr id="22" name="col0act:cell"/>
          <p:cNvSpPr/>
          <p:nvPr/>
        </p:nvSpPr>
        <p:spPr>
          <a:xfrm>
            <a:off x="868680" y="1673352"/>
            <a:ext cx="2560320" cy="263901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col0act:text"/>
          <p:cNvSpPr txBox="1"/>
          <p:nvPr/>
        </p:nvSpPr>
        <p:spPr>
          <a:xfrm>
            <a:off x="868680" y="1673352"/>
            <a:ext cx="2560320" cy="263901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Published catalogue v1.2 covering all 46 services with owner, SLA and unit cost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Closed the last four SLA exceptions with the Nordics and Brazil controllers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Agreed the KPI baseline set (14 measures) with Group Finance Policy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Ran the service-review dry run with the WP2 process owners</a:t>
            </a:r>
          </a:p>
        </p:txBody>
      </p:sp>
      <p:sp>
        <p:nvSpPr>
          <p:cNvPr id="24" name="col0out:cell"/>
          <p:cNvSpPr/>
          <p:nvPr/>
        </p:nvSpPr>
        <p:spPr>
          <a:xfrm>
            <a:off x="868680" y="4449530"/>
            <a:ext cx="2560320" cy="17501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col0out:text"/>
          <p:cNvSpPr txBox="1"/>
          <p:nvPr/>
        </p:nvSpPr>
        <p:spPr>
          <a:xfrm>
            <a:off x="868680" y="4449530"/>
            <a:ext cx="2560320" cy="175010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A costed catalogue of 46 services with agreed SLAs and a KPI baseline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78% complete, rated green at 2026-W35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Next: Service review cycle 1 run to the new SLAs on 13 Nov 2026</a:t>
            </a:r>
          </a:p>
        </p:txBody>
      </p:sp>
      <p:sp>
        <p:nvSpPr>
          <p:cNvPr id="26" name="col1act:cell"/>
          <p:cNvSpPr/>
          <p:nvPr/>
        </p:nvSpPr>
        <p:spPr>
          <a:xfrm>
            <a:off x="3566160" y="1673352"/>
            <a:ext cx="2560320" cy="263901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col1act:text"/>
          <p:cNvSpPr txBox="1"/>
          <p:nvPr/>
        </p:nvSpPr>
        <p:spPr>
          <a:xfrm>
            <a:off x="3566160" y="1673352"/>
            <a:ext cx="2560320" cy="263901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Completed role profiles for all 640 target roles and banded them with HR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Opened works council consultation in Germany and the Netherlands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Modelled three span-of-control scenarios for the hub leadership layer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Mapped 512 of 640 incumbents to target roles; 128 remain unresolved</a:t>
            </a:r>
          </a:p>
        </p:txBody>
      </p:sp>
      <p:sp>
        <p:nvSpPr>
          <p:cNvPr id="28" name="col1out:cell"/>
          <p:cNvSpPr/>
          <p:nvPr/>
        </p:nvSpPr>
        <p:spPr>
          <a:xfrm>
            <a:off x="3566160" y="4449530"/>
            <a:ext cx="2560320" cy="17501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col1out:text"/>
          <p:cNvSpPr txBox="1"/>
          <p:nvPr/>
        </p:nvSpPr>
        <p:spPr>
          <a:xfrm>
            <a:off x="3566160" y="4449530"/>
            <a:ext cx="2560320" cy="175010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Target structure, role profiles and span-of-control model for 640 GBS roles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61% complete, rated amber at 2026-W35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Next: Consultation concluded in all regions on 30 Oct 2026</a:t>
            </a:r>
          </a:p>
        </p:txBody>
      </p:sp>
      <p:sp>
        <p:nvSpPr>
          <p:cNvPr id="30" name="col2act:cell"/>
          <p:cNvSpPr/>
          <p:nvPr/>
        </p:nvSpPr>
        <p:spPr>
          <a:xfrm>
            <a:off x="6263640" y="1673352"/>
            <a:ext cx="2560320" cy="263901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col2act:text"/>
          <p:cNvSpPr txBox="1"/>
          <p:nvPr/>
        </p:nvSpPr>
        <p:spPr>
          <a:xfrm>
            <a:off x="6263640" y="1673352"/>
            <a:ext cx="2560320" cy="263901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Signed the Krakow lease; fit-out contractor mobilised on site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Closed the Kuala Lumpur headcount ramp plan with Workplace &amp; Real Estate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Refreshed the footprint business case with actual salary benchmarks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Confirmed nearshore Bogota as the Americas coverage option</a:t>
            </a:r>
          </a:p>
        </p:txBody>
      </p:sp>
      <p:sp>
        <p:nvSpPr>
          <p:cNvPr id="32" name="col2out:cell"/>
          <p:cNvSpPr/>
          <p:nvPr/>
        </p:nvSpPr>
        <p:spPr>
          <a:xfrm>
            <a:off x="6263640" y="4449530"/>
            <a:ext cx="2560320" cy="17501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col2out:text"/>
          <p:cNvSpPr txBox="1"/>
          <p:nvPr/>
        </p:nvSpPr>
        <p:spPr>
          <a:xfrm>
            <a:off x="6263640" y="4449530"/>
            <a:ext cx="2560320" cy="175010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Confirm the two-hub-plus-nearshore footprint and secure the site build-out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72% complete, rated green at 2026-W35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Next: Krakow fit-out handover on 16 Oct 2026</a:t>
            </a:r>
          </a:p>
        </p:txBody>
      </p:sp>
      <p:sp>
        <p:nvSpPr>
          <p:cNvPr id="34" name="panel:bg"/>
          <p:cNvSpPr/>
          <p:nvPr/>
        </p:nvSpPr>
        <p:spPr>
          <a:xfrm>
            <a:off x="8961120" y="1133856"/>
            <a:ext cx="2865120" cy="5065776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panel:heading"/>
          <p:cNvSpPr txBox="1"/>
          <p:nvPr/>
        </p:nvSpPr>
        <p:spPr>
          <a:xfrm>
            <a:off x="9089136" y="1261872"/>
            <a:ext cx="2609088" cy="21945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3274A"/>
                </a:solidFill>
                <a:latin typeface="Calibri"/>
              </a:rPr>
              <a:t>Considerations</a:t>
            </a:r>
          </a:p>
        </p:txBody>
      </p:sp>
      <p:sp>
        <p:nvSpPr>
          <p:cNvPr id="36" name="panel:body"/>
          <p:cNvSpPr txBox="1"/>
          <p:nvPr/>
        </p:nvSpPr>
        <p:spPr>
          <a:xfrm>
            <a:off x="9089136" y="1536192"/>
            <a:ext cx="2609088" cy="453542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Works council consultation extends the selection window (H, Tobias Lindqvist, due 20 Nov)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128 incumbents not yet mapped to target roles (M, Tobias Lindqvist, due 25 Sep)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Krakow fit-out completion gates wave 1 onboarding (M, Priya Raghunathan, due 16 Oct)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Retention of critical knowledge holders through selection (M, Tobias Lindqvist, due 30 Oct)</a:t>
            </a:r>
          </a:p>
        </p:txBody>
      </p:sp>
      <p:sp>
        <p:nvSpPr>
          <p:cNvPr id="37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38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845820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2 of 4 sub-streams are on track; Purchase to Pay holds the critical path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845820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Work package 2 - Process Standardisation | Charter and current position</a:t>
            </a:r>
          </a:p>
        </p:txBody>
      </p:sp>
      <p:sp>
        <p:nvSpPr>
          <p:cNvPr id="4" name="col0:header"/>
          <p:cNvSpPr/>
          <p:nvPr/>
        </p:nvSpPr>
        <p:spPr>
          <a:xfrm>
            <a:off x="868680" y="1133856"/>
            <a:ext cx="1885950" cy="40233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col0:badge"/>
          <p:cNvSpPr/>
          <p:nvPr/>
        </p:nvSpPr>
        <p:spPr>
          <a:xfrm>
            <a:off x="960120" y="121615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33274A"/>
                </a:solidFill>
                <a:latin typeface="Calibri"/>
              </a:rPr>
              <a:t>2.1</a:t>
            </a:r>
          </a:p>
        </p:txBody>
      </p:sp>
      <p:sp>
        <p:nvSpPr>
          <p:cNvPr id="6" name="col0:name"/>
          <p:cNvSpPr txBox="1"/>
          <p:nvPr/>
        </p:nvSpPr>
        <p:spPr>
          <a:xfrm>
            <a:off x="1261872" y="1133856"/>
            <a:ext cx="1401318" cy="40233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Record to Report</a:t>
            </a:r>
          </a:p>
        </p:txBody>
      </p:sp>
      <p:sp>
        <p:nvSpPr>
          <p:cNvPr id="7" name="col1:header"/>
          <p:cNvSpPr/>
          <p:nvPr/>
        </p:nvSpPr>
        <p:spPr>
          <a:xfrm>
            <a:off x="2891790" y="1133856"/>
            <a:ext cx="1885950" cy="40233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col1:badge"/>
          <p:cNvSpPr/>
          <p:nvPr/>
        </p:nvSpPr>
        <p:spPr>
          <a:xfrm>
            <a:off x="2983230" y="121615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33274A"/>
                </a:solidFill>
                <a:latin typeface="Calibri"/>
              </a:rPr>
              <a:t>2.2</a:t>
            </a:r>
          </a:p>
        </p:txBody>
      </p:sp>
      <p:sp>
        <p:nvSpPr>
          <p:cNvPr id="9" name="col1:name"/>
          <p:cNvSpPr txBox="1"/>
          <p:nvPr/>
        </p:nvSpPr>
        <p:spPr>
          <a:xfrm>
            <a:off x="3284982" y="1133856"/>
            <a:ext cx="1401318" cy="40233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Purchase to Pay</a:t>
            </a:r>
          </a:p>
        </p:txBody>
      </p:sp>
      <p:sp>
        <p:nvSpPr>
          <p:cNvPr id="10" name="col2:header"/>
          <p:cNvSpPr/>
          <p:nvPr/>
        </p:nvSpPr>
        <p:spPr>
          <a:xfrm>
            <a:off x="4914900" y="1133856"/>
            <a:ext cx="1885950" cy="40233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col2:badge"/>
          <p:cNvSpPr/>
          <p:nvPr/>
        </p:nvSpPr>
        <p:spPr>
          <a:xfrm>
            <a:off x="5006340" y="121615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33274A"/>
                </a:solidFill>
                <a:latin typeface="Calibri"/>
              </a:rPr>
              <a:t>2.3</a:t>
            </a:r>
          </a:p>
        </p:txBody>
      </p:sp>
      <p:sp>
        <p:nvSpPr>
          <p:cNvPr id="12" name="col2:name"/>
          <p:cNvSpPr txBox="1"/>
          <p:nvPr/>
        </p:nvSpPr>
        <p:spPr>
          <a:xfrm>
            <a:off x="5308092" y="1133856"/>
            <a:ext cx="1401318" cy="40233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Order to Cash</a:t>
            </a:r>
          </a:p>
        </p:txBody>
      </p:sp>
      <p:sp>
        <p:nvSpPr>
          <p:cNvPr id="13" name="col3:header"/>
          <p:cNvSpPr/>
          <p:nvPr/>
        </p:nvSpPr>
        <p:spPr>
          <a:xfrm>
            <a:off x="6938010" y="1133856"/>
            <a:ext cx="1885950" cy="40233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col3:badge"/>
          <p:cNvSpPr/>
          <p:nvPr/>
        </p:nvSpPr>
        <p:spPr>
          <a:xfrm>
            <a:off x="7029450" y="121615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33274A"/>
                </a:solidFill>
                <a:latin typeface="Calibri"/>
              </a:rPr>
              <a:t>2.4</a:t>
            </a:r>
          </a:p>
        </p:txBody>
      </p:sp>
      <p:sp>
        <p:nvSpPr>
          <p:cNvPr id="15" name="col3:name"/>
          <p:cNvSpPr txBox="1"/>
          <p:nvPr/>
        </p:nvSpPr>
        <p:spPr>
          <a:xfrm>
            <a:off x="7331202" y="1133856"/>
            <a:ext cx="1401318" cy="40233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Master Data &amp; Controls</a:t>
            </a:r>
          </a:p>
        </p:txBody>
      </p:sp>
      <p:sp>
        <p:nvSpPr>
          <p:cNvPr id="16" name="activities:strip"/>
          <p:cNvSpPr/>
          <p:nvPr/>
        </p:nvSpPr>
        <p:spPr>
          <a:xfrm>
            <a:off x="365760" y="1673352"/>
            <a:ext cx="365760" cy="2716838"/>
          </a:xfrm>
          <a:prstGeom prst="rect">
            <a:avLst/>
          </a:prstGeom>
          <a:solidFill>
            <a:srgbClr val="EBE9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activities:list0"/>
          <p:cNvSpPr/>
          <p:nvPr/>
        </p:nvSpPr>
        <p:spPr>
          <a:xfrm>
            <a:off x="475488" y="1764792"/>
            <a:ext cx="146304" cy="182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activities:list1"/>
          <p:cNvSpPr/>
          <p:nvPr/>
        </p:nvSpPr>
        <p:spPr>
          <a:xfrm>
            <a:off x="475488" y="1813560"/>
            <a:ext cx="146304" cy="182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activities:list2"/>
          <p:cNvSpPr/>
          <p:nvPr/>
        </p:nvSpPr>
        <p:spPr>
          <a:xfrm>
            <a:off x="475488" y="1862328"/>
            <a:ext cx="90708" cy="182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activities:caption"/>
          <p:cNvSpPr txBox="1"/>
          <p:nvPr/>
        </p:nvSpPr>
        <p:spPr>
          <a:xfrm>
            <a:off x="365760" y="1984248"/>
            <a:ext cx="365760" cy="2351078"/>
          </a:xfrm>
          <a:prstGeom prst="rect">
            <a:avLst/>
          </a:prstGeom>
          <a:noFill/>
        </p:spPr>
        <p:txBody>
          <a:bodyPr wrap="none" vert="vert270" anchor="ctr" lIns="64008" rIns="64008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Key activities</a:t>
            </a:r>
          </a:p>
        </p:txBody>
      </p:sp>
      <p:sp>
        <p:nvSpPr>
          <p:cNvPr id="21" name="outcomes:strip"/>
          <p:cNvSpPr/>
          <p:nvPr/>
        </p:nvSpPr>
        <p:spPr>
          <a:xfrm>
            <a:off x="365760" y="4527350"/>
            <a:ext cx="365760" cy="1672282"/>
          </a:xfrm>
          <a:prstGeom prst="rect">
            <a:avLst/>
          </a:prstGeom>
          <a:solidFill>
            <a:srgbClr val="EBE9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outcomes:ring-outer"/>
          <p:cNvSpPr/>
          <p:nvPr/>
        </p:nvSpPr>
        <p:spPr>
          <a:xfrm>
            <a:off x="475488" y="4618790"/>
            <a:ext cx="146304" cy="146304"/>
          </a:xfrm>
          <a:prstGeom prst="ellipse">
            <a:avLst/>
          </a:prstGeom>
          <a:noFill/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utcomes:ring-inner"/>
          <p:cNvSpPr/>
          <p:nvPr/>
        </p:nvSpPr>
        <p:spPr>
          <a:xfrm>
            <a:off x="524256" y="4667558"/>
            <a:ext cx="48768" cy="48768"/>
          </a:xfrm>
          <a:prstGeom prst="ellipse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utcomes:caption"/>
          <p:cNvSpPr txBox="1"/>
          <p:nvPr/>
        </p:nvSpPr>
        <p:spPr>
          <a:xfrm>
            <a:off x="365760" y="4838246"/>
            <a:ext cx="365760" cy="1306522"/>
          </a:xfrm>
          <a:prstGeom prst="rect">
            <a:avLst/>
          </a:prstGeom>
          <a:noFill/>
        </p:spPr>
        <p:txBody>
          <a:bodyPr wrap="none" vert="vert270" anchor="ctr" lIns="64008" rIns="64008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Outcomes</a:t>
            </a:r>
          </a:p>
        </p:txBody>
      </p:sp>
      <p:sp>
        <p:nvSpPr>
          <p:cNvPr id="25" name="col0act:cell"/>
          <p:cNvSpPr/>
          <p:nvPr/>
        </p:nvSpPr>
        <p:spPr>
          <a:xfrm>
            <a:off x="868680" y="1673352"/>
            <a:ext cx="1885950" cy="271683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col0act:text"/>
          <p:cNvSpPr txBox="1"/>
          <p:nvPr/>
        </p:nvSpPr>
        <p:spPr>
          <a:xfrm>
            <a:off x="868680" y="1673352"/>
            <a:ext cx="1885950" cy="271683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Standardised the close calendar to a 5+2 day cycle across all five regions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Rebuilt the journal taxonomy; 214 entry types reduced to 61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Completed control design for the close cycle and walked it through with External Audit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Agreed the account reconciliation threshold policy with Internal Controls</a:t>
            </a:r>
          </a:p>
        </p:txBody>
      </p:sp>
      <p:sp>
        <p:nvSpPr>
          <p:cNvPr id="27" name="col0out:cell"/>
          <p:cNvSpPr/>
          <p:nvPr/>
        </p:nvSpPr>
        <p:spPr>
          <a:xfrm>
            <a:off x="868680" y="4527350"/>
            <a:ext cx="1885950" cy="1672282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col0out:text"/>
          <p:cNvSpPr txBox="1"/>
          <p:nvPr/>
        </p:nvSpPr>
        <p:spPr>
          <a:xfrm>
            <a:off x="868680" y="4527350"/>
            <a:ext cx="1885950" cy="167228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One global close calendar, standard journal taxonomy and a rebuilt control set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74% complete, rated green at 2026-W35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Next: Control framework complete on 11 Sep 2026</a:t>
            </a:r>
          </a:p>
        </p:txBody>
      </p:sp>
      <p:sp>
        <p:nvSpPr>
          <p:cNvPr id="29" name="col1act:cell"/>
          <p:cNvSpPr/>
          <p:nvPr/>
        </p:nvSpPr>
        <p:spPr>
          <a:xfrm>
            <a:off x="2891790" y="1673352"/>
            <a:ext cx="1885950" cy="271683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col1act:text"/>
          <p:cNvSpPr txBox="1"/>
          <p:nvPr/>
        </p:nvSpPr>
        <p:spPr>
          <a:xfrm>
            <a:off x="2891790" y="1673352"/>
            <a:ext cx="1885950" cy="271683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Locked the three-way match tolerance policy across all regions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Reworked the invoice exception taxonomy after the tax logic finding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Rebuilt the Italy and Spain e-invoicing variants with Group Tax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Completed supplier master de-duplication design with WP2 Master Data</a:t>
            </a:r>
          </a:p>
        </p:txBody>
      </p:sp>
      <p:sp>
        <p:nvSpPr>
          <p:cNvPr id="31" name="col1out:cell"/>
          <p:cNvSpPr/>
          <p:nvPr/>
        </p:nvSpPr>
        <p:spPr>
          <a:xfrm>
            <a:off x="2891790" y="4527350"/>
            <a:ext cx="1885950" cy="1672282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col1out:text"/>
          <p:cNvSpPr txBox="1"/>
          <p:nvPr/>
        </p:nvSpPr>
        <p:spPr>
          <a:xfrm>
            <a:off x="2891790" y="4527350"/>
            <a:ext cx="1885950" cy="167228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Single P2P flow with touchless invoice processing and one supplier master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52% complete, rated red at 2026-W35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Next: P2P build complete on 25 Sep 2026</a:t>
            </a:r>
          </a:p>
        </p:txBody>
      </p:sp>
      <p:sp>
        <p:nvSpPr>
          <p:cNvPr id="33" name="col2act:cell"/>
          <p:cNvSpPr/>
          <p:nvPr/>
        </p:nvSpPr>
        <p:spPr>
          <a:xfrm>
            <a:off x="4914900" y="1673352"/>
            <a:ext cx="1885950" cy="271683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col2act:text"/>
          <p:cNvSpPr txBox="1"/>
          <p:nvPr/>
        </p:nvSpPr>
        <p:spPr>
          <a:xfrm>
            <a:off x="4914900" y="1673352"/>
            <a:ext cx="1885950" cy="271683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Agreed a single dunning policy with the five regional credit committees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Designed the cash application matching rules with Treasury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Completed the billing consolidation design for the two legacy entities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Baselined DSO at 54 days as the benefit measurement start point</a:t>
            </a:r>
          </a:p>
        </p:txBody>
      </p:sp>
      <p:sp>
        <p:nvSpPr>
          <p:cNvPr id="35" name="col2out:cell"/>
          <p:cNvSpPr/>
          <p:nvPr/>
        </p:nvSpPr>
        <p:spPr>
          <a:xfrm>
            <a:off x="4914900" y="4527350"/>
            <a:ext cx="1885950" cy="1672282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col2out:text"/>
          <p:cNvSpPr txBox="1"/>
          <p:nvPr/>
        </p:nvSpPr>
        <p:spPr>
          <a:xfrm>
            <a:off x="4914900" y="4527350"/>
            <a:ext cx="1885950" cy="167228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Standard billing, collections and cash application with one dunning policy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68% complete, rated green at 2026-W35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Next: O2C build complete on 25 Sep 2026</a:t>
            </a:r>
          </a:p>
        </p:txBody>
      </p:sp>
      <p:sp>
        <p:nvSpPr>
          <p:cNvPr id="37" name="col3act:cell"/>
          <p:cNvSpPr/>
          <p:nvPr/>
        </p:nvSpPr>
        <p:spPr>
          <a:xfrm>
            <a:off x="6938010" y="1673352"/>
            <a:ext cx="1885950" cy="271683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col3act:text"/>
          <p:cNvSpPr txBox="1"/>
          <p:nvPr/>
        </p:nvSpPr>
        <p:spPr>
          <a:xfrm>
            <a:off x="6938010" y="1673352"/>
            <a:ext cx="1885950" cy="271683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Published the governed data model for vendor, customer and chart of accounts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Profiled the legacy vendor master; 23% of records fail the new validation rules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Stood up the data stewardship model with named owners per domain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Agreed the cleansing cut-off date with WP4 migration planning</a:t>
            </a:r>
          </a:p>
        </p:txBody>
      </p:sp>
      <p:sp>
        <p:nvSpPr>
          <p:cNvPr id="39" name="col3out:cell"/>
          <p:cNvSpPr/>
          <p:nvPr/>
        </p:nvSpPr>
        <p:spPr>
          <a:xfrm>
            <a:off x="6938010" y="4527350"/>
            <a:ext cx="1885950" cy="1672282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col3out:text"/>
          <p:cNvSpPr txBox="1"/>
          <p:nvPr/>
        </p:nvSpPr>
        <p:spPr>
          <a:xfrm>
            <a:off x="6938010" y="4527350"/>
            <a:ext cx="1885950" cy="167228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One governed master data model for vendor, customer and chart of accounts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57% complete, rated amber at 2026-W35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Next: Master data cleansing cut-off on 09 Oct 2026</a:t>
            </a:r>
          </a:p>
        </p:txBody>
      </p:sp>
      <p:sp>
        <p:nvSpPr>
          <p:cNvPr id="41" name="panel:bg"/>
          <p:cNvSpPr/>
          <p:nvPr/>
        </p:nvSpPr>
        <p:spPr>
          <a:xfrm>
            <a:off x="8961120" y="1133856"/>
            <a:ext cx="2865120" cy="5065776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panel:heading"/>
          <p:cNvSpPr txBox="1"/>
          <p:nvPr/>
        </p:nvSpPr>
        <p:spPr>
          <a:xfrm>
            <a:off x="9089136" y="1261872"/>
            <a:ext cx="2609088" cy="21945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3274A"/>
                </a:solidFill>
                <a:latin typeface="Calibri"/>
              </a:rPr>
              <a:t>Considerations</a:t>
            </a:r>
          </a:p>
        </p:txBody>
      </p:sp>
      <p:sp>
        <p:nvSpPr>
          <p:cNvPr id="43" name="panel:body"/>
          <p:cNvSpPr txBox="1"/>
          <p:nvPr/>
        </p:nvSpPr>
        <p:spPr>
          <a:xfrm>
            <a:off x="9089136" y="1536192"/>
            <a:ext cx="2609088" cy="453542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Group Tax capacity for P2P country variants (H, Marcus Adeyemi, due 04 Sep)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P2P country tax variants exceed design assumption (H, Chiara Bellandi, due 11 Sep)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Regional finance teams available for UAT (H, Daniel Okonkwo, due 25 Sep)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Legacy vendor data quality below the migration threshold (H, Anneke de Vries, due 09 Oct)</a:t>
            </a:r>
          </a:p>
        </p:txBody>
      </p:sp>
      <p:sp>
        <p:nvSpPr>
          <p:cNvPr id="44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45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845820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2 of 3 sub-streams are on track; Workflow &amp; Intelligent Automation needs a decision this month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845820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Work package 3 - Technology &amp; Automation | Charter and current position</a:t>
            </a:r>
          </a:p>
        </p:txBody>
      </p:sp>
      <p:sp>
        <p:nvSpPr>
          <p:cNvPr id="4" name="col0:header"/>
          <p:cNvSpPr/>
          <p:nvPr/>
        </p:nvSpPr>
        <p:spPr>
          <a:xfrm>
            <a:off x="868680" y="1133856"/>
            <a:ext cx="2560320" cy="40233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col0:badge"/>
          <p:cNvSpPr/>
          <p:nvPr/>
        </p:nvSpPr>
        <p:spPr>
          <a:xfrm>
            <a:off x="960120" y="121615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33274A"/>
                </a:solidFill>
                <a:latin typeface="Calibri"/>
              </a:rPr>
              <a:t>3.1</a:t>
            </a:r>
          </a:p>
        </p:txBody>
      </p:sp>
      <p:sp>
        <p:nvSpPr>
          <p:cNvPr id="6" name="col0:name"/>
          <p:cNvSpPr txBox="1"/>
          <p:nvPr/>
        </p:nvSpPr>
        <p:spPr>
          <a:xfrm>
            <a:off x="1261872" y="1133856"/>
            <a:ext cx="2075688" cy="40233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ERP Template Alignment</a:t>
            </a:r>
          </a:p>
        </p:txBody>
      </p:sp>
      <p:sp>
        <p:nvSpPr>
          <p:cNvPr id="7" name="col1:header"/>
          <p:cNvSpPr/>
          <p:nvPr/>
        </p:nvSpPr>
        <p:spPr>
          <a:xfrm>
            <a:off x="3566160" y="1133856"/>
            <a:ext cx="2560320" cy="40233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col1:badge"/>
          <p:cNvSpPr/>
          <p:nvPr/>
        </p:nvSpPr>
        <p:spPr>
          <a:xfrm>
            <a:off x="3657600" y="121615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33274A"/>
                </a:solidFill>
                <a:latin typeface="Calibri"/>
              </a:rPr>
              <a:t>3.2</a:t>
            </a:r>
          </a:p>
        </p:txBody>
      </p:sp>
      <p:sp>
        <p:nvSpPr>
          <p:cNvPr id="9" name="col1:name"/>
          <p:cNvSpPr txBox="1"/>
          <p:nvPr/>
        </p:nvSpPr>
        <p:spPr>
          <a:xfrm>
            <a:off x="3959352" y="1133856"/>
            <a:ext cx="2075688" cy="40233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Workflow &amp; Intelligent Automation</a:t>
            </a:r>
          </a:p>
        </p:txBody>
      </p:sp>
      <p:sp>
        <p:nvSpPr>
          <p:cNvPr id="10" name="col2:header"/>
          <p:cNvSpPr/>
          <p:nvPr/>
        </p:nvSpPr>
        <p:spPr>
          <a:xfrm>
            <a:off x="6263640" y="1133856"/>
            <a:ext cx="2560320" cy="40233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col2:badge"/>
          <p:cNvSpPr/>
          <p:nvPr/>
        </p:nvSpPr>
        <p:spPr>
          <a:xfrm>
            <a:off x="6355080" y="121615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33274A"/>
                </a:solidFill>
                <a:latin typeface="Calibri"/>
              </a:rPr>
              <a:t>3.3</a:t>
            </a:r>
          </a:p>
        </p:txBody>
      </p:sp>
      <p:sp>
        <p:nvSpPr>
          <p:cNvPr id="12" name="col2:name"/>
          <p:cNvSpPr txBox="1"/>
          <p:nvPr/>
        </p:nvSpPr>
        <p:spPr>
          <a:xfrm>
            <a:off x="6656832" y="1133856"/>
            <a:ext cx="2075688" cy="40233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Reporting &amp; Analytics</a:t>
            </a:r>
          </a:p>
        </p:txBody>
      </p:sp>
      <p:sp>
        <p:nvSpPr>
          <p:cNvPr id="13" name="activities:strip"/>
          <p:cNvSpPr/>
          <p:nvPr/>
        </p:nvSpPr>
        <p:spPr>
          <a:xfrm>
            <a:off x="365760" y="1673352"/>
            <a:ext cx="365760" cy="2639018"/>
          </a:xfrm>
          <a:prstGeom prst="rect">
            <a:avLst/>
          </a:prstGeom>
          <a:solidFill>
            <a:srgbClr val="EBE9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activities:list0"/>
          <p:cNvSpPr/>
          <p:nvPr/>
        </p:nvSpPr>
        <p:spPr>
          <a:xfrm>
            <a:off x="475488" y="1764792"/>
            <a:ext cx="146304" cy="182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activities:list1"/>
          <p:cNvSpPr/>
          <p:nvPr/>
        </p:nvSpPr>
        <p:spPr>
          <a:xfrm>
            <a:off x="475488" y="1813560"/>
            <a:ext cx="146304" cy="182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activities:list2"/>
          <p:cNvSpPr/>
          <p:nvPr/>
        </p:nvSpPr>
        <p:spPr>
          <a:xfrm>
            <a:off x="475488" y="1862328"/>
            <a:ext cx="90708" cy="182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activities:caption"/>
          <p:cNvSpPr txBox="1"/>
          <p:nvPr/>
        </p:nvSpPr>
        <p:spPr>
          <a:xfrm>
            <a:off x="365760" y="1984248"/>
            <a:ext cx="365760" cy="2273258"/>
          </a:xfrm>
          <a:prstGeom prst="rect">
            <a:avLst/>
          </a:prstGeom>
          <a:noFill/>
        </p:spPr>
        <p:txBody>
          <a:bodyPr wrap="none" vert="vert270" anchor="ctr" lIns="64008" rIns="64008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Key activities</a:t>
            </a:r>
          </a:p>
        </p:txBody>
      </p:sp>
      <p:sp>
        <p:nvSpPr>
          <p:cNvPr id="18" name="outcomes:strip"/>
          <p:cNvSpPr/>
          <p:nvPr/>
        </p:nvSpPr>
        <p:spPr>
          <a:xfrm>
            <a:off x="365760" y="4449530"/>
            <a:ext cx="365760" cy="1750102"/>
          </a:xfrm>
          <a:prstGeom prst="rect">
            <a:avLst/>
          </a:prstGeom>
          <a:solidFill>
            <a:srgbClr val="EBE9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utcomes:ring-outer"/>
          <p:cNvSpPr/>
          <p:nvPr/>
        </p:nvSpPr>
        <p:spPr>
          <a:xfrm>
            <a:off x="475488" y="4540970"/>
            <a:ext cx="146304" cy="146304"/>
          </a:xfrm>
          <a:prstGeom prst="ellipse">
            <a:avLst/>
          </a:prstGeom>
          <a:noFill/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utcomes:ring-inner"/>
          <p:cNvSpPr/>
          <p:nvPr/>
        </p:nvSpPr>
        <p:spPr>
          <a:xfrm>
            <a:off x="524256" y="4589738"/>
            <a:ext cx="48768" cy="48768"/>
          </a:xfrm>
          <a:prstGeom prst="ellipse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utcomes:caption"/>
          <p:cNvSpPr txBox="1"/>
          <p:nvPr/>
        </p:nvSpPr>
        <p:spPr>
          <a:xfrm>
            <a:off x="365760" y="4760426"/>
            <a:ext cx="365760" cy="1384342"/>
          </a:xfrm>
          <a:prstGeom prst="rect">
            <a:avLst/>
          </a:prstGeom>
          <a:noFill/>
        </p:spPr>
        <p:txBody>
          <a:bodyPr wrap="none" vert="vert270" anchor="ctr" lIns="64008" rIns="64008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Outcomes</a:t>
            </a:r>
          </a:p>
        </p:txBody>
      </p:sp>
      <p:sp>
        <p:nvSpPr>
          <p:cNvPr id="22" name="col0act:cell"/>
          <p:cNvSpPr/>
          <p:nvPr/>
        </p:nvSpPr>
        <p:spPr>
          <a:xfrm>
            <a:off x="868680" y="1673352"/>
            <a:ext cx="2560320" cy="263901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col0act:text"/>
          <p:cNvSpPr txBox="1"/>
          <p:nvPr/>
        </p:nvSpPr>
        <p:spPr>
          <a:xfrm>
            <a:off x="868680" y="1673352"/>
            <a:ext cx="2560320" cy="263901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Closed 96 of 118 template gaps; the remainder are localisation-only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Passed the Group IT Architecture design authority review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Completed the chart of accounts alignment with WP2 Master Data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Built the interface inventory for the 31 downstream systems</a:t>
            </a:r>
          </a:p>
        </p:txBody>
      </p:sp>
      <p:sp>
        <p:nvSpPr>
          <p:cNvPr id="24" name="col0out:cell"/>
          <p:cNvSpPr/>
          <p:nvPr/>
        </p:nvSpPr>
        <p:spPr>
          <a:xfrm>
            <a:off x="868680" y="4449530"/>
            <a:ext cx="2560320" cy="17501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col0out:text"/>
          <p:cNvSpPr txBox="1"/>
          <p:nvPr/>
        </p:nvSpPr>
        <p:spPr>
          <a:xfrm>
            <a:off x="868680" y="4449530"/>
            <a:ext cx="2560320" cy="175010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Collapse four regional ERP variants onto one global template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71% complete, rated green at 2026-W35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Next: ERP template build complete on 11 Sep 2026</a:t>
            </a:r>
          </a:p>
        </p:txBody>
      </p:sp>
      <p:sp>
        <p:nvSpPr>
          <p:cNvPr id="26" name="col1act:cell"/>
          <p:cNvSpPr/>
          <p:nvPr/>
        </p:nvSpPr>
        <p:spPr>
          <a:xfrm>
            <a:off x="3566160" y="1673352"/>
            <a:ext cx="2560320" cy="263901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col1act:text"/>
          <p:cNvSpPr txBox="1"/>
          <p:nvPr/>
        </p:nvSpPr>
        <p:spPr>
          <a:xfrm>
            <a:off x="3566160" y="1673352"/>
            <a:ext cx="2560320" cy="263901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Delivered 11 of 18 wave 1 automations into the pre-production environment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Passed the Information Security review for the document extraction service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Re-scoped four P2P automations pending the tax variant rework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Established the automation change-control process with the Automation CoE</a:t>
            </a:r>
          </a:p>
        </p:txBody>
      </p:sp>
      <p:sp>
        <p:nvSpPr>
          <p:cNvPr id="28" name="col1out:cell"/>
          <p:cNvSpPr/>
          <p:nvPr/>
        </p:nvSpPr>
        <p:spPr>
          <a:xfrm>
            <a:off x="3566160" y="4449530"/>
            <a:ext cx="2560320" cy="17501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col1out:text"/>
          <p:cNvSpPr txBox="1"/>
          <p:nvPr/>
        </p:nvSpPr>
        <p:spPr>
          <a:xfrm>
            <a:off x="3566160" y="4449530"/>
            <a:ext cx="2560320" cy="175010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Automate 38 candidate steps across P2P, O2C and R2R with a governed pipeline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55% complete, rated amber at 2026-W35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Next: Wave 1 automations in production on 02 Oct 2026</a:t>
            </a:r>
          </a:p>
        </p:txBody>
      </p:sp>
      <p:sp>
        <p:nvSpPr>
          <p:cNvPr id="30" name="col2act:cell"/>
          <p:cNvSpPr/>
          <p:nvPr/>
        </p:nvSpPr>
        <p:spPr>
          <a:xfrm>
            <a:off x="6263640" y="1673352"/>
            <a:ext cx="2560320" cy="263901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col2act:text"/>
          <p:cNvSpPr txBox="1"/>
          <p:nvPr/>
        </p:nvSpPr>
        <p:spPr>
          <a:xfrm>
            <a:off x="6263640" y="1673352"/>
            <a:ext cx="2560320" cy="263901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Signed off the reporting design against the WP1 KPI baseline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Built the cost-to-serve model down to service level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Stood up the data layer for SLA measurement in the test environment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Agreed the single source of truth for headcount with HR Organisation Design</a:t>
            </a:r>
          </a:p>
        </p:txBody>
      </p:sp>
      <p:sp>
        <p:nvSpPr>
          <p:cNvPr id="32" name="col2out:cell"/>
          <p:cNvSpPr/>
          <p:nvPr/>
        </p:nvSpPr>
        <p:spPr>
          <a:xfrm>
            <a:off x="6263640" y="4449530"/>
            <a:ext cx="2560320" cy="17501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col2out:text"/>
          <p:cNvSpPr txBox="1"/>
          <p:nvPr/>
        </p:nvSpPr>
        <p:spPr>
          <a:xfrm>
            <a:off x="6263640" y="4449530"/>
            <a:ext cx="2560320" cy="175010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One performance layer: SLA, KPI and cost-to-serve reporting for the service reviews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48% complete, rated green at 2026-W35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Next: Data layer live in test on 06 Nov 2026</a:t>
            </a:r>
          </a:p>
        </p:txBody>
      </p:sp>
      <p:sp>
        <p:nvSpPr>
          <p:cNvPr id="34" name="panel:bg"/>
          <p:cNvSpPr/>
          <p:nvPr/>
        </p:nvSpPr>
        <p:spPr>
          <a:xfrm>
            <a:off x="8961120" y="1133856"/>
            <a:ext cx="2865120" cy="5065776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panel:heading"/>
          <p:cNvSpPr txBox="1"/>
          <p:nvPr/>
        </p:nvSpPr>
        <p:spPr>
          <a:xfrm>
            <a:off x="9089136" y="1261872"/>
            <a:ext cx="2609088" cy="21945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3274A"/>
                </a:solidFill>
                <a:latin typeface="Calibri"/>
              </a:rPr>
              <a:t>Considerations</a:t>
            </a:r>
          </a:p>
        </p:txBody>
      </p:sp>
      <p:sp>
        <p:nvSpPr>
          <p:cNvPr id="36" name="panel:body"/>
          <p:cNvSpPr txBox="1"/>
          <p:nvPr/>
        </p:nvSpPr>
        <p:spPr>
          <a:xfrm>
            <a:off x="9089136" y="1536192"/>
            <a:ext cx="2609088" cy="453542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Information Security review of the automation platform (M, Sofia Marchetti, due 30 Sep)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Wave 1 automation delivery four items behind plan (M, Sofia Marchetti, due 02 Oct)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Single global cutover weekend leaves no fallback window (M, Rahul Menon, due 04 Dec)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Benefit baseline holds at the FY26 cost base (M, Jonas Brenner, due 18 Dec)</a:t>
            </a:r>
          </a:p>
        </p:txBody>
      </p:sp>
      <p:sp>
        <p:nvSpPr>
          <p:cNvPr id="37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38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leed: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bleed:accent"/>
          <p:cNvSpPr/>
          <p:nvPr/>
        </p:nvSpPr>
        <p:spPr>
          <a:xfrm>
            <a:off x="7071360" y="1280160"/>
            <a:ext cx="6583680" cy="6583680"/>
          </a:xfrm>
          <a:prstGeom prst="ellipse">
            <a:avLst/>
          </a:prstGeom>
          <a:solidFill>
            <a:srgbClr val="473D5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section:number"/>
          <p:cNvSpPr txBox="1"/>
          <p:nvPr/>
        </p:nvSpPr>
        <p:spPr>
          <a:xfrm>
            <a:off x="914400" y="1920240"/>
            <a:ext cx="2743200" cy="1755648"/>
          </a:xfrm>
          <a:prstGeom prst="rect">
            <a:avLst/>
          </a:prstGeom>
          <a:noFill/>
        </p:spPr>
        <p:txBody>
          <a:bodyPr wrap="square" anchor="ctr" lIns="0" rIns="0" tIns="64008" bIns="64008">
            <a:spAutoFit/>
          </a:bodyPr>
          <a:lstStyle/>
          <a:p>
            <a:pPr algn="l">
              <a:lnSpc>
                <a:spcPct val="85000"/>
              </a:lnSpc>
            </a:pPr>
            <a:r>
              <a:rPr sz="12350" b="1">
                <a:solidFill>
                  <a:srgbClr val="898296"/>
                </a:solidFill>
                <a:latin typeface="Calibri"/>
              </a:rPr>
              <a:t>4</a:t>
            </a:r>
          </a:p>
        </p:txBody>
      </p:sp>
      <p:sp>
        <p:nvSpPr>
          <p:cNvPr id="5" name="section:title"/>
          <p:cNvSpPr txBox="1"/>
          <p:nvPr/>
        </p:nvSpPr>
        <p:spPr>
          <a:xfrm>
            <a:off x="914400" y="3675888"/>
            <a:ext cx="6766560" cy="512064"/>
          </a:xfrm>
          <a:prstGeom prst="rect">
            <a:avLst/>
          </a:prstGeom>
          <a:noFill/>
        </p:spPr>
        <p:txBody>
          <a:bodyPr wrap="square" anchor="t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2450" b="1">
                <a:solidFill>
                  <a:srgbClr val="FFFFFF"/>
                </a:solidFill>
                <a:latin typeface="Calibri"/>
              </a:rPr>
              <a:t>Governance</a:t>
            </a:r>
          </a:p>
        </p:txBody>
      </p:sp>
      <p:sp>
        <p:nvSpPr>
          <p:cNvPr id="6" name="section:kicker"/>
          <p:cNvSpPr txBox="1"/>
          <p:nvPr/>
        </p:nvSpPr>
        <p:spPr>
          <a:xfrm>
            <a:off x="914400" y="4315968"/>
            <a:ext cx="6766560" cy="347472"/>
          </a:xfrm>
          <a:prstGeom prst="rect">
            <a:avLst/>
          </a:prstGeom>
          <a:noFill/>
        </p:spPr>
        <p:txBody>
          <a:bodyPr wrap="square" anchor="t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B1ADBA"/>
                </a:solidFill>
                <a:latin typeface="Calibri"/>
              </a:rPr>
              <a:t>Who decides, who delivers, and who has to be consulted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845820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Decision rights sit with the steering committee; delivery sits with 4 work packages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845820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Programme governance | Weekly programme board, Tuesday</a:t>
            </a:r>
          </a:p>
        </p:txBody>
      </p:sp>
      <p:sp>
        <p:nvSpPr>
          <p:cNvPr id="4" name="steerco:box"/>
          <p:cNvSpPr/>
          <p:nvPr/>
        </p:nvSpPr>
        <p:spPr>
          <a:xfrm>
            <a:off x="2125980" y="1133856"/>
            <a:ext cx="493776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steerco:head"/>
          <p:cNvSpPr/>
          <p:nvPr/>
        </p:nvSpPr>
        <p:spPr>
          <a:xfrm>
            <a:off x="2125980" y="1133856"/>
            <a:ext cx="4937760" cy="237744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steerco:title"/>
          <p:cNvSpPr txBox="1"/>
          <p:nvPr/>
        </p:nvSpPr>
        <p:spPr>
          <a:xfrm>
            <a:off x="2199132" y="1133856"/>
            <a:ext cx="2717597" cy="237744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>
                <a:solidFill>
                  <a:srgbClr val="FFFFFF"/>
                </a:solidFill>
                <a:latin typeface="Calibri"/>
              </a:rPr>
              <a:t>Steering committee</a:t>
            </a:r>
          </a:p>
        </p:txBody>
      </p:sp>
      <p:sp>
        <p:nvSpPr>
          <p:cNvPr id="7" name="steerco:caption"/>
          <p:cNvSpPr txBox="1"/>
          <p:nvPr/>
        </p:nvSpPr>
        <p:spPr>
          <a:xfrm>
            <a:off x="4916729" y="1133856"/>
            <a:ext cx="2000707" cy="237744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B1ADBA"/>
                </a:solidFill>
                <a:latin typeface="Calibri"/>
              </a:rPr>
              <a:t>Monthly, third Thursday</a:t>
            </a:r>
          </a:p>
        </p:txBody>
      </p:sp>
      <p:sp>
        <p:nvSpPr>
          <p:cNvPr id="8" name="steerco:members0"/>
          <p:cNvSpPr txBox="1"/>
          <p:nvPr/>
        </p:nvSpPr>
        <p:spPr>
          <a:xfrm>
            <a:off x="2199132" y="1444752"/>
            <a:ext cx="2327148" cy="45720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600" b="0">
                <a:solidFill>
                  <a:srgbClr val="2B2E33"/>
                </a:solidFill>
                <a:latin typeface="Calibri"/>
              </a:rPr>
              <a:t>Helena Marchand - Chief Financial Officer</a:t>
            </a:r>
          </a:p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600" b="0">
                <a:solidFill>
                  <a:srgbClr val="2B2E33"/>
                </a:solidFill>
                <a:latin typeface="Calibri"/>
              </a:rPr>
              <a:t>Arun Sethi - Group Financial Controller</a:t>
            </a:r>
          </a:p>
          <a:p>
            <a:pPr algn="l">
              <a:lnSpc>
                <a:spcPct val="100000"/>
              </a:lnSpc>
            </a:pPr>
            <a:r>
              <a:rPr sz="600" b="0">
                <a:solidFill>
                  <a:srgbClr val="2B2E33"/>
                </a:solidFill>
                <a:latin typeface="Calibri"/>
              </a:rPr>
              <a:t>Katrin Osei - Chief Human Resources Officer</a:t>
            </a:r>
          </a:p>
        </p:txBody>
      </p:sp>
      <p:sp>
        <p:nvSpPr>
          <p:cNvPr id="9" name="steerco:members1"/>
          <p:cNvSpPr txBox="1"/>
          <p:nvPr/>
        </p:nvSpPr>
        <p:spPr>
          <a:xfrm>
            <a:off x="4663440" y="1444752"/>
            <a:ext cx="2327148" cy="45720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600" b="0">
                <a:solidFill>
                  <a:srgbClr val="2B2E33"/>
                </a:solidFill>
                <a:latin typeface="Calibri"/>
              </a:rPr>
              <a:t>Peer Wallenberg - Chief Information Officer</a:t>
            </a:r>
          </a:p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600" b="0">
                <a:solidFill>
                  <a:srgbClr val="2B2E33"/>
                </a:solidFill>
                <a:latin typeface="Calibri"/>
              </a:rPr>
              <a:t>Maria Fontana - Regional CFO, Europe</a:t>
            </a:r>
          </a:p>
          <a:p>
            <a:pPr algn="l">
              <a:lnSpc>
                <a:spcPct val="100000"/>
              </a:lnSpc>
            </a:pPr>
            <a:r>
              <a:rPr sz="600" b="0">
                <a:solidFill>
                  <a:srgbClr val="2B2E33"/>
                </a:solidFill>
                <a:latin typeface="Calibri"/>
              </a:rPr>
              <a:t>Sam Okada - Regional CFO, Asia Pacific</a:t>
            </a:r>
          </a:p>
        </p:txBody>
      </p:sp>
      <p:sp>
        <p:nvSpPr>
          <p:cNvPr id="10" name="pmo:box"/>
          <p:cNvSpPr/>
          <p:nvPr/>
        </p:nvSpPr>
        <p:spPr>
          <a:xfrm>
            <a:off x="2125980" y="2212848"/>
            <a:ext cx="493776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pmo:head"/>
          <p:cNvSpPr/>
          <p:nvPr/>
        </p:nvSpPr>
        <p:spPr>
          <a:xfrm>
            <a:off x="2125980" y="2212848"/>
            <a:ext cx="4937760" cy="237744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pmo:title"/>
          <p:cNvSpPr txBox="1"/>
          <p:nvPr/>
        </p:nvSpPr>
        <p:spPr>
          <a:xfrm>
            <a:off x="2199132" y="2212848"/>
            <a:ext cx="2717597" cy="237744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>
                <a:solidFill>
                  <a:srgbClr val="FFFFFF"/>
                </a:solidFill>
                <a:latin typeface="Calibri"/>
              </a:rPr>
              <a:t>Programme management</a:t>
            </a:r>
          </a:p>
        </p:txBody>
      </p:sp>
      <p:sp>
        <p:nvSpPr>
          <p:cNvPr id="13" name="pmo:caption"/>
          <p:cNvSpPr txBox="1"/>
          <p:nvPr/>
        </p:nvSpPr>
        <p:spPr>
          <a:xfrm>
            <a:off x="4916729" y="2212848"/>
            <a:ext cx="2000707" cy="237744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B1ADBA"/>
                </a:solidFill>
                <a:latin typeface="Calibri"/>
              </a:rPr>
              <a:t>Weekly programme board, Tuesday</a:t>
            </a:r>
          </a:p>
        </p:txBody>
      </p:sp>
      <p:sp>
        <p:nvSpPr>
          <p:cNvPr id="14" name="pmo:members0"/>
          <p:cNvSpPr txBox="1"/>
          <p:nvPr/>
        </p:nvSpPr>
        <p:spPr>
          <a:xfrm>
            <a:off x="2199132" y="2523744"/>
            <a:ext cx="2327148" cy="38404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600" b="0">
                <a:solidFill>
                  <a:srgbClr val="2B2E33"/>
                </a:solidFill>
                <a:latin typeface="Calibri"/>
              </a:rPr>
              <a:t>Nadia Bergström - Programme Director</a:t>
            </a:r>
          </a:p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600" b="0">
                <a:solidFill>
                  <a:srgbClr val="2B2E33"/>
                </a:solidFill>
                <a:latin typeface="Calibri"/>
              </a:rPr>
              <a:t>Felix Aumann - Programme Manager</a:t>
            </a:r>
          </a:p>
          <a:p>
            <a:pPr algn="l">
              <a:lnSpc>
                <a:spcPct val="100000"/>
              </a:lnSpc>
            </a:pPr>
            <a:r>
              <a:rPr sz="600" b="0">
                <a:solidFill>
                  <a:srgbClr val="2B2E33"/>
                </a:solidFill>
                <a:latin typeface="Calibri"/>
              </a:rPr>
              <a:t>Grace Adeyinka - PMO Lead</a:t>
            </a:r>
          </a:p>
        </p:txBody>
      </p:sp>
      <p:sp>
        <p:nvSpPr>
          <p:cNvPr id="15" name="pmo:members1"/>
          <p:cNvSpPr txBox="1"/>
          <p:nvPr/>
        </p:nvSpPr>
        <p:spPr>
          <a:xfrm>
            <a:off x="4663440" y="2523744"/>
            <a:ext cx="2327148" cy="38404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600" b="0">
                <a:solidFill>
                  <a:srgbClr val="2B2E33"/>
                </a:solidFill>
                <a:latin typeface="Calibri"/>
              </a:rPr>
              <a:t>Tomasz Wieczorek - Benefits &amp; Reporting Lead</a:t>
            </a:r>
          </a:p>
          <a:p>
            <a:pPr algn="l">
              <a:lnSpc>
                <a:spcPct val="100000"/>
              </a:lnSpc>
            </a:pPr>
            <a:r>
              <a:rPr sz="600" b="0">
                <a:solidFill>
                  <a:srgbClr val="2B2E33"/>
                </a:solidFill>
                <a:latin typeface="Calibri"/>
              </a:rPr>
              <a:t>Ravi Balakrishnan - Risk &amp; Assurance Lead</a:t>
            </a:r>
          </a:p>
        </p:txBody>
      </p:sp>
      <p:sp>
        <p:nvSpPr>
          <p:cNvPr id="16" name="unit0:box"/>
          <p:cNvSpPr/>
          <p:nvPr/>
        </p:nvSpPr>
        <p:spPr>
          <a:xfrm>
            <a:off x="365760" y="3529584"/>
            <a:ext cx="2011680" cy="267004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unit0:head"/>
          <p:cNvSpPr/>
          <p:nvPr/>
        </p:nvSpPr>
        <p:spPr>
          <a:xfrm>
            <a:off x="365760" y="3529584"/>
            <a:ext cx="2011680" cy="29260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unit0:badge"/>
          <p:cNvSpPr/>
          <p:nvPr/>
        </p:nvSpPr>
        <p:spPr>
          <a:xfrm>
            <a:off x="438912" y="3557016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1</a:t>
            </a:r>
          </a:p>
        </p:txBody>
      </p:sp>
      <p:sp>
        <p:nvSpPr>
          <p:cNvPr id="19" name="unit0:name"/>
          <p:cNvSpPr txBox="1"/>
          <p:nvPr/>
        </p:nvSpPr>
        <p:spPr>
          <a:xfrm>
            <a:off x="731520" y="3529584"/>
            <a:ext cx="1572768" cy="29260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750" b="1">
                <a:solidFill>
                  <a:srgbClr val="FFFFFF"/>
                </a:solidFill>
                <a:latin typeface="Calibri"/>
              </a:rPr>
              <a:t>Operating Model &amp; Service Design</a:t>
            </a:r>
          </a:p>
        </p:txBody>
      </p:sp>
      <p:sp>
        <p:nvSpPr>
          <p:cNvPr id="20" name="unit0:Core team"/>
          <p:cNvSpPr txBox="1"/>
          <p:nvPr/>
        </p:nvSpPr>
        <p:spPr>
          <a:xfrm>
            <a:off x="438912" y="3895344"/>
            <a:ext cx="1865376" cy="155448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6E5B8E"/>
                </a:solidFill>
                <a:latin typeface="Calibri"/>
              </a:rPr>
              <a:t>CORE TEAM</a:t>
            </a:r>
          </a:p>
        </p:txBody>
      </p:sp>
      <p:sp>
        <p:nvSpPr>
          <p:cNvPr id="21" name="unit0:Core teamlist"/>
          <p:cNvSpPr txBox="1"/>
          <p:nvPr/>
        </p:nvSpPr>
        <p:spPr>
          <a:xfrm>
            <a:off x="438912" y="4050792"/>
            <a:ext cx="1865376" cy="79552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GBS Design Office (8 FTE, dedicated)</a:t>
            </a:r>
          </a:p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Finance Operating Model (4 FTE, dedicated)</a:t>
            </a:r>
          </a:p>
          <a:p>
            <a:pPr algn="l" marL="109728" indent="-109728">
              <a:lnSpc>
                <a:spcPct val="100000"/>
              </a:lnSpc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HR Organisation Design (2 FTE, 50% allocation)</a:t>
            </a:r>
          </a:p>
        </p:txBody>
      </p:sp>
      <p:sp>
        <p:nvSpPr>
          <p:cNvPr id="22" name="unit0:Contributing teams"/>
          <p:cNvSpPr txBox="1"/>
          <p:nvPr/>
        </p:nvSpPr>
        <p:spPr>
          <a:xfrm>
            <a:off x="438912" y="4910328"/>
            <a:ext cx="1865376" cy="155448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6E5B8E"/>
                </a:solidFill>
                <a:latin typeface="Calibri"/>
              </a:rPr>
              <a:t>CONTRIBUTING TEAMS</a:t>
            </a:r>
          </a:p>
        </p:txBody>
      </p:sp>
      <p:sp>
        <p:nvSpPr>
          <p:cNvPr id="23" name="unit0:Contributing teamslist"/>
          <p:cNvSpPr txBox="1"/>
          <p:nvPr/>
        </p:nvSpPr>
        <p:spPr>
          <a:xfrm>
            <a:off x="438912" y="5065776"/>
            <a:ext cx="1865376" cy="106070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Group Finance Policy</a:t>
            </a:r>
          </a:p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Regional Controllers (5) (consulted per region)</a:t>
            </a:r>
          </a:p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Workplace &amp; Real Estate</a:t>
            </a:r>
          </a:p>
          <a:p>
            <a:pPr algn="l" marL="109728" indent="-109728">
              <a:lnSpc>
                <a:spcPct val="100000"/>
              </a:lnSpc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Legal &amp; Employee Relations</a:t>
            </a:r>
          </a:p>
        </p:txBody>
      </p:sp>
      <p:sp>
        <p:nvSpPr>
          <p:cNvPr id="24" name="unit1:box"/>
          <p:cNvSpPr/>
          <p:nvPr/>
        </p:nvSpPr>
        <p:spPr>
          <a:xfrm>
            <a:off x="2514600" y="3529584"/>
            <a:ext cx="2011680" cy="267004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unit1:head"/>
          <p:cNvSpPr/>
          <p:nvPr/>
        </p:nvSpPr>
        <p:spPr>
          <a:xfrm>
            <a:off x="2514600" y="3529584"/>
            <a:ext cx="2011680" cy="29260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unit1:badge"/>
          <p:cNvSpPr/>
          <p:nvPr/>
        </p:nvSpPr>
        <p:spPr>
          <a:xfrm>
            <a:off x="2587752" y="3557016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2</a:t>
            </a:r>
          </a:p>
        </p:txBody>
      </p:sp>
      <p:sp>
        <p:nvSpPr>
          <p:cNvPr id="27" name="unit1:name"/>
          <p:cNvSpPr txBox="1"/>
          <p:nvPr/>
        </p:nvSpPr>
        <p:spPr>
          <a:xfrm>
            <a:off x="2880360" y="3529584"/>
            <a:ext cx="1572768" cy="29260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750" b="1">
                <a:solidFill>
                  <a:srgbClr val="FFFFFF"/>
                </a:solidFill>
                <a:latin typeface="Calibri"/>
              </a:rPr>
              <a:t>Process Standardisation</a:t>
            </a:r>
          </a:p>
        </p:txBody>
      </p:sp>
      <p:sp>
        <p:nvSpPr>
          <p:cNvPr id="28" name="unit1:Core team"/>
          <p:cNvSpPr txBox="1"/>
          <p:nvPr/>
        </p:nvSpPr>
        <p:spPr>
          <a:xfrm>
            <a:off x="2587752" y="3895344"/>
            <a:ext cx="1865376" cy="155448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6E5B8E"/>
                </a:solidFill>
                <a:latin typeface="Calibri"/>
              </a:rPr>
              <a:t>CORE TEAM</a:t>
            </a:r>
          </a:p>
        </p:txBody>
      </p:sp>
      <p:sp>
        <p:nvSpPr>
          <p:cNvPr id="29" name="unit1:Core teamlist"/>
          <p:cNvSpPr txBox="1"/>
          <p:nvPr/>
        </p:nvSpPr>
        <p:spPr>
          <a:xfrm>
            <a:off x="2587752" y="4050792"/>
            <a:ext cx="1865376" cy="79552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Global Process Owners (4) (1 per E2E process)</a:t>
            </a:r>
          </a:p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Process Design Team (11 FTE, dedicated)</a:t>
            </a:r>
          </a:p>
          <a:p>
            <a:pPr algn="l" marL="109728" indent="-109728">
              <a:lnSpc>
                <a:spcPct val="100000"/>
              </a:lnSpc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Internal Controls (3 FTE, dedicated)</a:t>
            </a:r>
          </a:p>
        </p:txBody>
      </p:sp>
      <p:sp>
        <p:nvSpPr>
          <p:cNvPr id="30" name="unit1:Contributing teams"/>
          <p:cNvSpPr txBox="1"/>
          <p:nvPr/>
        </p:nvSpPr>
        <p:spPr>
          <a:xfrm>
            <a:off x="2587752" y="4910328"/>
            <a:ext cx="1865376" cy="155448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6E5B8E"/>
                </a:solidFill>
                <a:latin typeface="Calibri"/>
              </a:rPr>
              <a:t>CONTRIBUTING TEAMS</a:t>
            </a:r>
          </a:p>
        </p:txBody>
      </p:sp>
      <p:sp>
        <p:nvSpPr>
          <p:cNvPr id="31" name="unit1:Contributing teamslist"/>
          <p:cNvSpPr txBox="1"/>
          <p:nvPr/>
        </p:nvSpPr>
        <p:spPr>
          <a:xfrm>
            <a:off x="2587752" y="5065776"/>
            <a:ext cx="1865376" cy="106070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Regional Finance Teams (design workshops + UAT)</a:t>
            </a:r>
          </a:p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Group Tax (P2P and O2C tax logic)</a:t>
            </a:r>
          </a:p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Treasury (O2C cash application)</a:t>
            </a:r>
          </a:p>
          <a:p>
            <a:pPr algn="l" marL="109728" indent="-109728">
              <a:lnSpc>
                <a:spcPct val="100000"/>
              </a:lnSpc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External Audit (control framework review)</a:t>
            </a:r>
          </a:p>
        </p:txBody>
      </p:sp>
      <p:sp>
        <p:nvSpPr>
          <p:cNvPr id="32" name="unit2:box"/>
          <p:cNvSpPr/>
          <p:nvPr/>
        </p:nvSpPr>
        <p:spPr>
          <a:xfrm>
            <a:off x="4663440" y="3529584"/>
            <a:ext cx="2011680" cy="267004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unit2:head"/>
          <p:cNvSpPr/>
          <p:nvPr/>
        </p:nvSpPr>
        <p:spPr>
          <a:xfrm>
            <a:off x="4663440" y="3529584"/>
            <a:ext cx="2011680" cy="29260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unit2:badge"/>
          <p:cNvSpPr/>
          <p:nvPr/>
        </p:nvSpPr>
        <p:spPr>
          <a:xfrm>
            <a:off x="4736592" y="3557016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3</a:t>
            </a:r>
          </a:p>
        </p:txBody>
      </p:sp>
      <p:sp>
        <p:nvSpPr>
          <p:cNvPr id="35" name="unit2:name"/>
          <p:cNvSpPr txBox="1"/>
          <p:nvPr/>
        </p:nvSpPr>
        <p:spPr>
          <a:xfrm>
            <a:off x="5029200" y="3529584"/>
            <a:ext cx="1572768" cy="29260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750" b="1">
                <a:solidFill>
                  <a:srgbClr val="FFFFFF"/>
                </a:solidFill>
                <a:latin typeface="Calibri"/>
              </a:rPr>
              <a:t>Technology &amp; Automation</a:t>
            </a:r>
          </a:p>
        </p:txBody>
      </p:sp>
      <p:sp>
        <p:nvSpPr>
          <p:cNvPr id="36" name="unit2:Core team"/>
          <p:cNvSpPr txBox="1"/>
          <p:nvPr/>
        </p:nvSpPr>
        <p:spPr>
          <a:xfrm>
            <a:off x="4736592" y="3895344"/>
            <a:ext cx="1865376" cy="155448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6E5B8E"/>
                </a:solidFill>
                <a:latin typeface="Calibri"/>
              </a:rPr>
              <a:t>CORE TEAM</a:t>
            </a:r>
          </a:p>
        </p:txBody>
      </p:sp>
      <p:sp>
        <p:nvSpPr>
          <p:cNvPr id="37" name="unit2:Core teamlist"/>
          <p:cNvSpPr txBox="1"/>
          <p:nvPr/>
        </p:nvSpPr>
        <p:spPr>
          <a:xfrm>
            <a:off x="4736592" y="4050792"/>
            <a:ext cx="1865376" cy="79552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ERP Template Team (9 FTE, dedicated)</a:t>
            </a:r>
          </a:p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Automation CoE (5 FTE, dedicated)</a:t>
            </a:r>
          </a:p>
          <a:p>
            <a:pPr algn="l" marL="109728" indent="-109728">
              <a:lnSpc>
                <a:spcPct val="100000"/>
              </a:lnSpc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Data &amp; Analytics (4 FTE, dedicated)</a:t>
            </a:r>
          </a:p>
        </p:txBody>
      </p:sp>
      <p:sp>
        <p:nvSpPr>
          <p:cNvPr id="38" name="unit2:Contributing teams"/>
          <p:cNvSpPr txBox="1"/>
          <p:nvPr/>
        </p:nvSpPr>
        <p:spPr>
          <a:xfrm>
            <a:off x="4736592" y="4910328"/>
            <a:ext cx="1865376" cy="155448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6E5B8E"/>
                </a:solidFill>
                <a:latin typeface="Calibri"/>
              </a:rPr>
              <a:t>CONTRIBUTING TEAMS</a:t>
            </a:r>
          </a:p>
        </p:txBody>
      </p:sp>
      <p:sp>
        <p:nvSpPr>
          <p:cNvPr id="39" name="unit2:Contributing teamslist"/>
          <p:cNvSpPr txBox="1"/>
          <p:nvPr/>
        </p:nvSpPr>
        <p:spPr>
          <a:xfrm>
            <a:off x="4736592" y="5065776"/>
            <a:ext cx="1865376" cy="106070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Group IT Architecture (design authority)</a:t>
            </a:r>
          </a:p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Information Security (gated reviews)</a:t>
            </a:r>
          </a:p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Platform Vendor (statement of work)</a:t>
            </a:r>
          </a:p>
          <a:p>
            <a:pPr algn="l" marL="109728" indent="-109728">
              <a:lnSpc>
                <a:spcPct val="100000"/>
              </a:lnSpc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Regional IT (5) (cutover support)</a:t>
            </a:r>
          </a:p>
        </p:txBody>
      </p:sp>
      <p:sp>
        <p:nvSpPr>
          <p:cNvPr id="40" name="unit3:box"/>
          <p:cNvSpPr/>
          <p:nvPr/>
        </p:nvSpPr>
        <p:spPr>
          <a:xfrm>
            <a:off x="6812280" y="3529584"/>
            <a:ext cx="2011680" cy="267004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unit3:head"/>
          <p:cNvSpPr/>
          <p:nvPr/>
        </p:nvSpPr>
        <p:spPr>
          <a:xfrm>
            <a:off x="6812280" y="3529584"/>
            <a:ext cx="2011680" cy="29260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unit3:badge"/>
          <p:cNvSpPr/>
          <p:nvPr/>
        </p:nvSpPr>
        <p:spPr>
          <a:xfrm>
            <a:off x="6885432" y="3557016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4</a:t>
            </a:r>
          </a:p>
        </p:txBody>
      </p:sp>
      <p:sp>
        <p:nvSpPr>
          <p:cNvPr id="43" name="unit3:name"/>
          <p:cNvSpPr txBox="1"/>
          <p:nvPr/>
        </p:nvSpPr>
        <p:spPr>
          <a:xfrm>
            <a:off x="7178040" y="3529584"/>
            <a:ext cx="1572768" cy="29260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750" b="1">
                <a:solidFill>
                  <a:srgbClr val="FFFFFF"/>
                </a:solidFill>
                <a:latin typeface="Calibri"/>
              </a:rPr>
              <a:t>Transition &amp; Change</a:t>
            </a:r>
          </a:p>
        </p:txBody>
      </p:sp>
      <p:sp>
        <p:nvSpPr>
          <p:cNvPr id="44" name="unit3:Core team"/>
          <p:cNvSpPr txBox="1"/>
          <p:nvPr/>
        </p:nvSpPr>
        <p:spPr>
          <a:xfrm>
            <a:off x="6885432" y="3895344"/>
            <a:ext cx="1865376" cy="155448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6E5B8E"/>
                </a:solidFill>
                <a:latin typeface="Calibri"/>
              </a:rPr>
              <a:t>CORE TEAM</a:t>
            </a:r>
          </a:p>
        </p:txBody>
      </p:sp>
      <p:sp>
        <p:nvSpPr>
          <p:cNvPr id="45" name="unit3:Core teamlist"/>
          <p:cNvSpPr txBox="1"/>
          <p:nvPr/>
        </p:nvSpPr>
        <p:spPr>
          <a:xfrm>
            <a:off x="6885432" y="4050792"/>
            <a:ext cx="1865376" cy="79552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Transition Management Office (6 FTE, dedicated)</a:t>
            </a:r>
          </a:p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Change &amp; Communications (4 FTE, dedicated)</a:t>
            </a:r>
          </a:p>
          <a:p>
            <a:pPr algn="l" marL="109728" indent="-109728">
              <a:lnSpc>
                <a:spcPct val="100000"/>
              </a:lnSpc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Training Design (3 FTE, dedicated)</a:t>
            </a:r>
          </a:p>
        </p:txBody>
      </p:sp>
      <p:sp>
        <p:nvSpPr>
          <p:cNvPr id="46" name="unit3:Contributing teams"/>
          <p:cNvSpPr txBox="1"/>
          <p:nvPr/>
        </p:nvSpPr>
        <p:spPr>
          <a:xfrm>
            <a:off x="6885432" y="4910328"/>
            <a:ext cx="1865376" cy="155448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6E5B8E"/>
                </a:solidFill>
                <a:latin typeface="Calibri"/>
              </a:rPr>
              <a:t>CONTRIBUTING TEAMS</a:t>
            </a:r>
          </a:p>
        </p:txBody>
      </p:sp>
      <p:sp>
        <p:nvSpPr>
          <p:cNvPr id="47" name="unit3:Contributing teamslist"/>
          <p:cNvSpPr txBox="1"/>
          <p:nvPr/>
        </p:nvSpPr>
        <p:spPr>
          <a:xfrm>
            <a:off x="6885432" y="5065776"/>
            <a:ext cx="1865376" cy="106070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Retained Finance Leads (5) (wave sign-off)</a:t>
            </a:r>
          </a:p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Hub Operations Leadership</a:t>
            </a:r>
          </a:p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Legal &amp; Employee Relations</a:t>
            </a:r>
          </a:p>
          <a:p>
            <a:pPr algn="l" marL="109728" indent="-109728">
              <a:lnSpc>
                <a:spcPct val="100000"/>
              </a:lnSpc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Internal Communications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4594860" y="1975104"/>
            <a:ext cx="0" cy="237744"/>
          </a:xfrm>
          <a:prstGeom prst="line">
            <a:avLst/>
          </a:prstGeom>
          <a:ln w="12700">
            <a:solidFill>
              <a:srgbClr val="6E5B8E"/>
            </a:solidFill>
          </a:ln>
          <a:effectLst/>
        </p:spPr>
      </p:cxnSp>
      <p:cxnSp>
        <p:nvCxnSpPr>
          <p:cNvPr id="49" name="Connector 48"/>
          <p:cNvCxnSpPr/>
          <p:nvPr/>
        </p:nvCxnSpPr>
        <p:spPr>
          <a:xfrm>
            <a:off x="4594860" y="2980944"/>
            <a:ext cx="0" cy="274320"/>
          </a:xfrm>
          <a:prstGeom prst="line">
            <a:avLst/>
          </a:prstGeom>
          <a:ln w="12700">
            <a:solidFill>
              <a:srgbClr val="6E5B8E"/>
            </a:solidFill>
          </a:ln>
          <a:effectLst/>
        </p:spPr>
      </p:cxnSp>
      <p:cxnSp>
        <p:nvCxnSpPr>
          <p:cNvPr id="50" name="Connector 49"/>
          <p:cNvCxnSpPr/>
          <p:nvPr/>
        </p:nvCxnSpPr>
        <p:spPr>
          <a:xfrm>
            <a:off x="1371600" y="3255264"/>
            <a:ext cx="6446520" cy="0"/>
          </a:xfrm>
          <a:prstGeom prst="line">
            <a:avLst/>
          </a:prstGeom>
          <a:ln w="12700">
            <a:solidFill>
              <a:srgbClr val="6E5B8E"/>
            </a:solidFill>
          </a:ln>
          <a:effectLst/>
        </p:spPr>
      </p:cxnSp>
      <p:cxnSp>
        <p:nvCxnSpPr>
          <p:cNvPr id="51" name="Connector 50"/>
          <p:cNvCxnSpPr/>
          <p:nvPr/>
        </p:nvCxnSpPr>
        <p:spPr>
          <a:xfrm>
            <a:off x="1371600" y="3255264"/>
            <a:ext cx="0" cy="274320"/>
          </a:xfrm>
          <a:prstGeom prst="line">
            <a:avLst/>
          </a:prstGeom>
          <a:ln w="12700">
            <a:solidFill>
              <a:srgbClr val="6E5B8E"/>
            </a:solidFill>
          </a:ln>
          <a:effectLst/>
        </p:spPr>
      </p:cxnSp>
      <p:cxnSp>
        <p:nvCxnSpPr>
          <p:cNvPr id="52" name="Connector 51"/>
          <p:cNvCxnSpPr/>
          <p:nvPr/>
        </p:nvCxnSpPr>
        <p:spPr>
          <a:xfrm>
            <a:off x="3520440" y="3255264"/>
            <a:ext cx="0" cy="274320"/>
          </a:xfrm>
          <a:prstGeom prst="line">
            <a:avLst/>
          </a:prstGeom>
          <a:ln w="12700">
            <a:solidFill>
              <a:srgbClr val="6E5B8E"/>
            </a:solidFill>
          </a:ln>
          <a:effectLst/>
        </p:spPr>
      </p:cxnSp>
      <p:cxnSp>
        <p:nvCxnSpPr>
          <p:cNvPr id="53" name="Connector 52"/>
          <p:cNvCxnSpPr/>
          <p:nvPr/>
        </p:nvCxnSpPr>
        <p:spPr>
          <a:xfrm>
            <a:off x="5669280" y="3255264"/>
            <a:ext cx="0" cy="274320"/>
          </a:xfrm>
          <a:prstGeom prst="line">
            <a:avLst/>
          </a:prstGeom>
          <a:ln w="12700">
            <a:solidFill>
              <a:srgbClr val="6E5B8E"/>
            </a:solidFill>
          </a:ln>
          <a:effectLst/>
        </p:spPr>
      </p:cxnSp>
      <p:cxnSp>
        <p:nvCxnSpPr>
          <p:cNvPr id="54" name="Connector 53"/>
          <p:cNvCxnSpPr/>
          <p:nvPr/>
        </p:nvCxnSpPr>
        <p:spPr>
          <a:xfrm>
            <a:off x="7818120" y="3255264"/>
            <a:ext cx="0" cy="274320"/>
          </a:xfrm>
          <a:prstGeom prst="line">
            <a:avLst/>
          </a:prstGeom>
          <a:ln w="12700">
            <a:solidFill>
              <a:srgbClr val="6E5B8E"/>
            </a:solidFill>
          </a:ln>
          <a:effectLst/>
        </p:spPr>
      </p:cxnSp>
      <p:sp>
        <p:nvSpPr>
          <p:cNvPr id="55" name="panel:bg"/>
          <p:cNvSpPr/>
          <p:nvPr/>
        </p:nvSpPr>
        <p:spPr>
          <a:xfrm>
            <a:off x="8961120" y="1133856"/>
            <a:ext cx="2865120" cy="5065776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6" name="panel:heading"/>
          <p:cNvSpPr txBox="1"/>
          <p:nvPr/>
        </p:nvSpPr>
        <p:spPr>
          <a:xfrm>
            <a:off x="9089136" y="1261872"/>
            <a:ext cx="2609088" cy="21945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3274A"/>
                </a:solidFill>
                <a:latin typeface="Calibri"/>
              </a:rPr>
              <a:t>Comments</a:t>
            </a:r>
          </a:p>
        </p:txBody>
      </p:sp>
      <p:sp>
        <p:nvSpPr>
          <p:cNvPr id="57" name="panel:body"/>
          <p:cNvSpPr txBox="1"/>
          <p:nvPr/>
        </p:nvSpPr>
        <p:spPr>
          <a:xfrm>
            <a:off x="9089136" y="1536192"/>
            <a:ext cx="2609088" cy="453542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Steering committee meets monthly; two additional decision points are scheduled around Gate 3 and Gate 4.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Programme board reviews RAID weekly and escalates any high-severity item open beyond 14 days.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Work package leads hold delegated authority up to EUR 250k and one week of schedule float.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Regional CFOs sign off wave readiness for their own entities; the CFO signs the global go / no-go.</a:t>
            </a:r>
          </a:p>
        </p:txBody>
      </p:sp>
      <p:sp>
        <p:nvSpPr>
          <p:cNvPr id="58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59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leed: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bleed:accent"/>
          <p:cNvSpPr/>
          <p:nvPr/>
        </p:nvSpPr>
        <p:spPr>
          <a:xfrm>
            <a:off x="7071360" y="1280160"/>
            <a:ext cx="6583680" cy="6583680"/>
          </a:xfrm>
          <a:prstGeom prst="ellipse">
            <a:avLst/>
          </a:prstGeom>
          <a:solidFill>
            <a:srgbClr val="473D5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section:number"/>
          <p:cNvSpPr txBox="1"/>
          <p:nvPr/>
        </p:nvSpPr>
        <p:spPr>
          <a:xfrm>
            <a:off x="914400" y="1920240"/>
            <a:ext cx="2743200" cy="1755648"/>
          </a:xfrm>
          <a:prstGeom prst="rect">
            <a:avLst/>
          </a:prstGeom>
          <a:noFill/>
        </p:spPr>
        <p:txBody>
          <a:bodyPr wrap="square" anchor="ctr" lIns="0" rIns="0" tIns="64008" bIns="64008">
            <a:spAutoFit/>
          </a:bodyPr>
          <a:lstStyle/>
          <a:p>
            <a:pPr algn="l">
              <a:lnSpc>
                <a:spcPct val="85000"/>
              </a:lnSpc>
            </a:pPr>
            <a:r>
              <a:rPr sz="12350" b="1">
                <a:solidFill>
                  <a:srgbClr val="898296"/>
                </a:solidFill>
                <a:latin typeface="Calibri"/>
              </a:rPr>
              <a:t>5</a:t>
            </a:r>
          </a:p>
        </p:txBody>
      </p:sp>
      <p:sp>
        <p:nvSpPr>
          <p:cNvPr id="5" name="section:title"/>
          <p:cNvSpPr txBox="1"/>
          <p:nvPr/>
        </p:nvSpPr>
        <p:spPr>
          <a:xfrm>
            <a:off x="914400" y="3675888"/>
            <a:ext cx="6766560" cy="512064"/>
          </a:xfrm>
          <a:prstGeom prst="rect">
            <a:avLst/>
          </a:prstGeom>
          <a:noFill/>
        </p:spPr>
        <p:txBody>
          <a:bodyPr wrap="square" anchor="t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2450" b="1">
                <a:solidFill>
                  <a:srgbClr val="FFFFFF"/>
                </a:solidFill>
                <a:latin typeface="Calibri"/>
              </a:rPr>
              <a:t>Appendix</a:t>
            </a:r>
          </a:p>
        </p:txBody>
      </p:sp>
      <p:sp>
        <p:nvSpPr>
          <p:cNvPr id="6" name="section:kicker"/>
          <p:cNvSpPr txBox="1"/>
          <p:nvPr/>
        </p:nvSpPr>
        <p:spPr>
          <a:xfrm>
            <a:off x="914400" y="4315968"/>
            <a:ext cx="6766560" cy="347472"/>
          </a:xfrm>
          <a:prstGeom prst="rect">
            <a:avLst/>
          </a:prstGeom>
          <a:noFill/>
        </p:spPr>
        <p:txBody>
          <a:bodyPr wrap="square" anchor="t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B1ADBA"/>
                </a:solidFill>
                <a:latin typeface="Calibri"/>
              </a:rPr>
              <a:t>The full RAID log, in support of the position above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1146048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7 of 18 open items are high severity and carry the programme's exposure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1146048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Full RAID log | Week 2026-W35 | Page 1 of 2 | 18 open items, worst first within each type</a:t>
            </a:r>
          </a:p>
        </p:txBody>
      </p:sp>
      <p:graphicFrame>
        <p:nvGraphicFramePr>
          <p:cNvPr id="4" name="raid:table"/>
          <p:cNvGraphicFramePr>
            <a:graphicFrameLocks noGrp="1"/>
          </p:cNvGraphicFramePr>
          <p:nvPr/>
        </p:nvGraphicFramePr>
        <p:xfrm>
          <a:off x="365760" y="1133856"/>
          <a:ext cx="11460477" cy="3749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15721"/>
                <a:gridCol w="595944"/>
                <a:gridCol w="3438144"/>
                <a:gridCol w="1489862"/>
                <a:gridCol w="893917"/>
                <a:gridCol w="4526889"/>
              </a:tblGrid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Due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Mitigation and next step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B2E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gridSpan="5"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33274A"/>
                          </a:solidFill>
                          <a:latin typeface="Calibri"/>
                        </a:rPr>
                        <a:t>Risks (6)</a:t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R-01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P2P country tax variants exceed design assumption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Chiara Bellandi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11 Sep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Two Group Tax analysts released to P2P through October; conditional Gate 3 pass proposed for P2P only.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R-03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Hub trainer capacity constrains overlapping migration waves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Yusuf Demirci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05 Oct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Contract trainer capacity costed and put to the steering committee; resequencing wave 3 held as fallback.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R-04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Legacy vendor data quality below the migration threshold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Anneke de Vries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09 Oct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Three additional data stewards requested; automated duplicate detection brought forward.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R-02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Works council consultation extends the selection window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Tobias Lindqvist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20 Nov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Weekly tracking with Legal &amp; Employee Relations; parallel-running Dutch selection under review.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R-05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Retention of critical knowledge holders through selection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Tobias Lindqvist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30 Oct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Retention framework drafted with HR; knowledge capture prioritised for the 34 named roles.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R-06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Single global cutover weekend leaves no fallback window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Rahul Menon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04 Dec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Two full cutover rehearsals scheduled; go / no-go checkpoint set at hour 12.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B2E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gridSpan="5"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33274A"/>
                          </a:solidFill>
                          <a:latin typeface="Calibri"/>
                        </a:rPr>
                        <a:t>Issues (3)</a:t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514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I-02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Intercompany invoice routing design reopened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Chiara Bellandi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18 Sep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Decision paper to the Global Process Owner forum on 2026-09-04.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I-04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128 incumbents not yet mapped to target roles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Tobias Lindqvist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25 Sep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Regional HR leads to complete mapping ahead of consultation opening in each region.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I-01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Wave 1 automation delivery four items behind plan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Sofia Marchetti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02 Oct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Four automations proposed for wave 2; wave 1 benefit shortfall of 0.8 FTE accepted.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6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1146048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7 of 18 open items are high severity and carry the programme's exposure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1146048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Full RAID log | Week 2026-W35 | Page 2 of 2 | 18 open items, worst first within each type</a:t>
            </a:r>
          </a:p>
        </p:txBody>
      </p:sp>
      <p:graphicFrame>
        <p:nvGraphicFramePr>
          <p:cNvPr id="4" name="raid:table"/>
          <p:cNvGraphicFramePr>
            <a:graphicFrameLocks noGrp="1"/>
          </p:cNvGraphicFramePr>
          <p:nvPr/>
        </p:nvGraphicFramePr>
        <p:xfrm>
          <a:off x="365760" y="1133856"/>
          <a:ext cx="11460477" cy="37810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15721"/>
                <a:gridCol w="595944"/>
                <a:gridCol w="3438144"/>
                <a:gridCol w="1489862"/>
                <a:gridCol w="893917"/>
                <a:gridCol w="4526889"/>
              </a:tblGrid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Due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Mitigation and next step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B2E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gridSpan="5"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33274A"/>
                          </a:solidFill>
                          <a:latin typeface="Calibri"/>
                        </a:rPr>
                        <a:t>Issues (continued)</a:t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514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L</a:t>
                      </a:r>
                    </a:p>
                  </a:txBody>
                  <a:tcPr marL="54864" marR="54864" marT="27432" marB="27432" anchor="ctr">
                    <a:solidFill>
                      <a:srgbClr val="1F8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I-03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Three training modules require rework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Laura Nkemelu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23 Oct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Rework scheduled into the September sprint; no impact on the delivery start date.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B2E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gridSpan="5"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33274A"/>
                          </a:solidFill>
                          <a:latin typeface="Calibri"/>
                        </a:rPr>
                        <a:t>Dependencies (4)</a:t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D-01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Group Tax capacity for P2P country variants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Marcus Adeyemi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04 Sep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Steering committee decision requested; Group Tax lead has confirmed availability in principle.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D-03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Master data cleansing cut-off gates migration validation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Anneke de Vries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09 Oct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Cut-off protected by the additional steward request; partial-freeze option assessed as fallback.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D-04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Information Security review of the automation platform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Sofia Marchetti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30 Sep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Review slot confirmed for 2026-09-22; evidence pack submitted early.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D-02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Krakow fit-out completion gates wave 1 onboarding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Priya Raghunathan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16 Oct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Weekly contractor review; temporary space secured as a two-week buffer.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B2E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gridSpan="5"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33274A"/>
                          </a:solidFill>
                          <a:latin typeface="Calibri"/>
                        </a:rPr>
                        <a:t>Assumptions (4)</a:t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A-01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Regional finance teams available for UAT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Daniel Okonkwo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25 Sep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UAT scheduled around the close calendar; commitment to be confirmed at the September steering committee.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A-02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Desk ratio of 1.4 holds for both hubs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Priya Raghunathan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20 Nov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Ratio validated against the hybrid working policy; reviewed again at wave 2 planning.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A-04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Benefit baseline holds at the FY26 cost base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Jonas Brenner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18 Dec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Baseline frozen with Group Finance; any restatement to be handled as a change request.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L</a:t>
                      </a:r>
                    </a:p>
                  </a:txBody>
                  <a:tcPr marL="54864" marR="54864" marT="27432" marB="27432" anchor="ctr">
                    <a:solidFill>
                      <a:srgbClr val="1F8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A-03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No statutory reporting changes land in scope during build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Marcus Adeyemi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20 Nov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Group Finance Policy monitors the consultation and reports monthly to the programme board.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5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6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